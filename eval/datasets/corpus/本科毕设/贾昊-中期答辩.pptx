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800" r:id="rId2"/>
    <p:sldId id="3779" r:id="rId3"/>
    <p:sldId id="3801" r:id="rId4"/>
    <p:sldId id="3850" r:id="rId5"/>
    <p:sldId id="3808" r:id="rId6"/>
    <p:sldId id="3810" r:id="rId7"/>
    <p:sldId id="3839" r:id="rId8"/>
    <p:sldId id="3840" r:id="rId9"/>
    <p:sldId id="3818" r:id="rId10"/>
    <p:sldId id="3851" r:id="rId11"/>
    <p:sldId id="3842" r:id="rId12"/>
    <p:sldId id="3847" r:id="rId13"/>
    <p:sldId id="3849" r:id="rId14"/>
    <p:sldId id="3852" r:id="rId15"/>
    <p:sldId id="3825" r:id="rId16"/>
    <p:sldId id="3846" r:id="rId17"/>
    <p:sldId id="3834" r:id="rId18"/>
  </p:sldIdLst>
  <p:sldSz cx="12858750" cy="72326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>
          <p15:clr>
            <a:srgbClr val="A4A3A4"/>
          </p15:clr>
        </p15:guide>
        <p15:guide id="2" pos="4050">
          <p15:clr>
            <a:srgbClr val="A4A3A4"/>
          </p15:clr>
        </p15:guide>
        <p15:guide id="3" pos="557">
          <p15:clr>
            <a:srgbClr val="A4A3A4"/>
          </p15:clr>
        </p15:guide>
        <p15:guide id="4" orient="horz" pos="4183">
          <p15:clr>
            <a:srgbClr val="A4A3A4"/>
          </p15:clr>
        </p15:guide>
        <p15:guide id="5" pos="7497">
          <p15:clr>
            <a:srgbClr val="A4A3A4"/>
          </p15:clr>
        </p15:guide>
        <p15:guide id="6" pos="69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1801"/>
    <a:srgbClr val="682F03"/>
    <a:srgbClr val="F08200"/>
    <a:srgbClr val="E91E21"/>
    <a:srgbClr val="010066"/>
    <a:srgbClr val="DA1F28"/>
    <a:srgbClr val="4BC1DD"/>
    <a:srgbClr val="333F50"/>
    <a:srgbClr val="8A4795"/>
    <a:srgbClr val="82C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9" autoAdjust="0"/>
    <p:restoredTop sz="95042" autoAdjust="0"/>
  </p:normalViewPr>
  <p:slideViewPr>
    <p:cSldViewPr>
      <p:cViewPr varScale="1">
        <p:scale>
          <a:sx n="108" d="100"/>
          <a:sy n="108" d="100"/>
        </p:scale>
        <p:origin x="372" y="114"/>
      </p:cViewPr>
      <p:guideLst>
        <p:guide orient="horz" pos="328"/>
        <p:guide pos="4050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pPr/>
              <a:t>2020/4/16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467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2020/4/16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780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 dirty="0"/>
              <a:t>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69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755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547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314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410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343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170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8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953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842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36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737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808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045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726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7A595F-151A-46E4-9E47-C5DC07DD202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43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12BD4-E37A-481F-A112-C0A86B1F4E6E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68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pPr/>
              <a:t>2020/4/16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 userDrawn="1"/>
        </p:nvSpPr>
        <p:spPr>
          <a:xfrm>
            <a:off x="0" y="1888133"/>
            <a:ext cx="12858750" cy="208823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100783" y="1024037"/>
            <a:ext cx="3852428" cy="3852428"/>
          </a:xfrm>
          <a:prstGeom prst="ellipse">
            <a:avLst/>
          </a:prstGeom>
          <a:ln>
            <a:noFill/>
          </a:ln>
          <a:effectLst>
            <a:outerShdw blurRad="419100" dist="4191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1784859" y="1672109"/>
            <a:ext cx="2520280" cy="25202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19100" dist="4191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1981486" y="2140161"/>
            <a:ext cx="2127025" cy="1584176"/>
          </a:xfrm>
          <a:effectLst>
            <a:outerShdw blurRad="419100" dist="419100" dir="5400000" algn="ctr" rotWithShape="0">
              <a:srgbClr val="000000">
                <a:alpha val="43137"/>
              </a:srgb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sz="13800">
                <a:solidFill>
                  <a:srgbClr val="0070C0"/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5317392" y="2032149"/>
            <a:ext cx="7344188" cy="1584176"/>
          </a:xfrm>
          <a:effectLst>
            <a:outerShdw blurRad="419100" dist="419100" dir="5400000" algn="ctr" rotWithShape="0">
              <a:srgbClr val="000000">
                <a:alpha val="43137"/>
              </a:srgb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zh-CN" altLang="en-US" dirty="0"/>
              <a:t>点击输入章节标题</a:t>
            </a:r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6089998" y="4005810"/>
            <a:ext cx="2664296" cy="702078"/>
          </a:xfrm>
          <a:effectLst/>
        </p:spPr>
        <p:txBody>
          <a:bodyPr anchor="t">
            <a:noAutofit/>
          </a:bodyPr>
          <a:lstStyle>
            <a:lvl1pPr marL="342900" indent="-342900" algn="ctr">
              <a:buFont typeface="Wingdings" panose="05000000000000000000" pitchFamily="2" charset="2"/>
              <a:buChar char="ü"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zh-CN" altLang="en-US" dirty="0"/>
              <a:t>输入副标题</a:t>
            </a:r>
          </a:p>
        </p:txBody>
      </p:sp>
      <p:sp>
        <p:nvSpPr>
          <p:cNvPr id="1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9207005" y="4005810"/>
            <a:ext cx="2664296" cy="702078"/>
          </a:xfrm>
          <a:effectLst/>
        </p:spPr>
        <p:txBody>
          <a:bodyPr anchor="t">
            <a:noAutofit/>
          </a:bodyPr>
          <a:lstStyle>
            <a:lvl1pPr marL="342900" indent="-342900" algn="ctr">
              <a:buFont typeface="Wingdings" panose="05000000000000000000" pitchFamily="2" charset="2"/>
              <a:buChar char="ü"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zh-CN" altLang="en-US" dirty="0"/>
              <a:t>输入副标题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45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build="p">
        <p:tmplLst>
          <p:tmpl lvl="1">
            <p:tnLst>
              <p:par>
                <p:cTn presetID="56" presetClass="entr" presetSubtype="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by="(-#ppt_w*2)" calcmode="lin" valueType="num">
                      <p:cBhvr rctx="PPT">
                        <p:cTn dur="500" autoRev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</p:anim>
                    <p:anim by="(#ppt_w*0.50)" calcmode="lin" valueType="num">
                      <p:cBhvr>
                        <p:cTn dur="500" decel="50000" autoRev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</p:anim>
                    <p:anim from="(-#ppt_h/2)" to="(#ppt_y)" calcmode="lin" valueType="num">
                      <p:cBhvr>
                        <p:cTn dur="1000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</p:anim>
                    <p:animRot by="21600000">
                      <p:cBhvr>
                        <p:cTn dur="1000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r</p:attrName>
                        </p:attrNameLst>
                      </p:cBhvr>
                    </p:animRo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41" presetClass="entr" presetSubtype="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50000">
                          <p:val>
                            <p:strVal val="#ppt_x+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/10"/>
                          </p:val>
                        </p:tav>
                        <p:tav tm="50000">
                          <p:val>
                            <p:strVal val="#ppt_h+.01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/10"/>
                          </p:val>
                        </p:tav>
                        <p:tav tm="50000">
                          <p:val>
                            <p:strVal val="#ppt_w+.01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Effect transition="in" filter="fade">
                      <p:cBhvr>
                        <p:cTn dur="500" tmFilter="0,0; .5, 1; 1, 1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 userDrawn="1"/>
        </p:nvSpPr>
        <p:spPr>
          <a:xfrm>
            <a:off x="0" y="375965"/>
            <a:ext cx="12858750" cy="698195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46156" y="55258"/>
            <a:ext cx="1260000" cy="1260000"/>
          </a:xfrm>
          <a:prstGeom prst="ellipse">
            <a:avLst/>
          </a:prstGeom>
          <a:ln>
            <a:noFill/>
          </a:ln>
          <a:effectLst>
            <a:outerShdw blurRad="419100" dist="4191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326156" y="235258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19100" dist="4191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rgbClr val="0070C0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1768476" y="454672"/>
            <a:ext cx="3168922" cy="50356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  <p:pic>
        <p:nvPicPr>
          <p:cNvPr id="11" name="Picture 2" descr="F:\0PPT素材\北京大学3.pn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53" y="301308"/>
            <a:ext cx="774607" cy="76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6CC13AD-E506-4252-A1B6-CD651EE30F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59" y="153775"/>
            <a:ext cx="1029194" cy="10629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  <a:pPr/>
              <a:t>2020/4/16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tiff"/><Relationship Id="rId4" Type="http://schemas.openxmlformats.org/officeDocument/2006/relationships/image" Target="../media/image15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/>
        </p:nvSpPr>
        <p:spPr bwMode="auto">
          <a:xfrm>
            <a:off x="0" y="1"/>
            <a:ext cx="8805639" cy="7232649"/>
          </a:xfrm>
          <a:custGeom>
            <a:avLst/>
            <a:gdLst>
              <a:gd name="connsiteX0" fmla="*/ 0 w 9922865"/>
              <a:gd name="connsiteY0" fmla="*/ 0 h 7492075"/>
              <a:gd name="connsiteX1" fmla="*/ 9922865 w 9922865"/>
              <a:gd name="connsiteY1" fmla="*/ 0 h 7492075"/>
              <a:gd name="connsiteX2" fmla="*/ 1647718 w 9922865"/>
              <a:gd name="connsiteY2" fmla="*/ 7492075 h 7492075"/>
              <a:gd name="connsiteX3" fmla="*/ 0 w 9922865"/>
              <a:gd name="connsiteY3" fmla="*/ 7492075 h 749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22865" h="7492075">
                <a:moveTo>
                  <a:pt x="0" y="0"/>
                </a:moveTo>
                <a:lnTo>
                  <a:pt x="9922865" y="0"/>
                </a:lnTo>
                <a:lnTo>
                  <a:pt x="1647718" y="7492075"/>
                </a:lnTo>
                <a:lnTo>
                  <a:pt x="0" y="749207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>
            <a:noAutofit/>
          </a:bodyPr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 bwMode="auto">
          <a:xfrm>
            <a:off x="-11013" y="1"/>
            <a:ext cx="8181122" cy="7232650"/>
          </a:xfrm>
          <a:custGeom>
            <a:avLst/>
            <a:gdLst>
              <a:gd name="connsiteX0" fmla="*/ 0 w 9219111"/>
              <a:gd name="connsiteY0" fmla="*/ 0 h 7492076"/>
              <a:gd name="connsiteX1" fmla="*/ 9219111 w 9219111"/>
              <a:gd name="connsiteY1" fmla="*/ 0 h 7492076"/>
              <a:gd name="connsiteX2" fmla="*/ 948639 w 9219111"/>
              <a:gd name="connsiteY2" fmla="*/ 7492076 h 7492076"/>
              <a:gd name="connsiteX3" fmla="*/ 0 w 9219111"/>
              <a:gd name="connsiteY3" fmla="*/ 7492076 h 7492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19111" h="7492076">
                <a:moveTo>
                  <a:pt x="0" y="0"/>
                </a:moveTo>
                <a:lnTo>
                  <a:pt x="9219111" y="0"/>
                </a:lnTo>
                <a:lnTo>
                  <a:pt x="948639" y="7492076"/>
                </a:lnTo>
                <a:lnTo>
                  <a:pt x="0" y="7492076"/>
                </a:lnTo>
                <a:close/>
              </a:path>
            </a:pathLst>
          </a:custGeom>
          <a:solidFill>
            <a:srgbClr val="0070C0"/>
          </a:solidFill>
          <a:ln w="0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8580" tIns="64290" rIns="128580" bIns="64290" numCol="1" anchor="t" anchorCtr="0" compatLnSpc="1">
            <a:noAutofit/>
          </a:bodyPr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Freeform 8"/>
          <p:cNvSpPr/>
          <p:nvPr/>
        </p:nvSpPr>
        <p:spPr bwMode="auto">
          <a:xfrm>
            <a:off x="3438871" y="523245"/>
            <a:ext cx="3787556" cy="3785769"/>
          </a:xfrm>
          <a:custGeom>
            <a:avLst/>
            <a:gdLst>
              <a:gd name="T0" fmla="*/ 1168 w 2120"/>
              <a:gd name="T1" fmla="*/ 5 h 2119"/>
              <a:gd name="T2" fmla="*/ 1374 w 2120"/>
              <a:gd name="T3" fmla="*/ 47 h 2119"/>
              <a:gd name="T4" fmla="*/ 1564 w 2120"/>
              <a:gd name="T5" fmla="*/ 127 h 2119"/>
              <a:gd name="T6" fmla="*/ 1734 w 2120"/>
              <a:gd name="T7" fmla="*/ 243 h 2119"/>
              <a:gd name="T8" fmla="*/ 1877 w 2120"/>
              <a:gd name="T9" fmla="*/ 386 h 2119"/>
              <a:gd name="T10" fmla="*/ 1991 w 2120"/>
              <a:gd name="T11" fmla="*/ 555 h 2119"/>
              <a:gd name="T12" fmla="*/ 2071 w 2120"/>
              <a:gd name="T13" fmla="*/ 743 h 2119"/>
              <a:gd name="T14" fmla="*/ 2114 w 2120"/>
              <a:gd name="T15" fmla="*/ 951 h 2119"/>
              <a:gd name="T16" fmla="*/ 2114 w 2120"/>
              <a:gd name="T17" fmla="*/ 1167 h 2119"/>
              <a:gd name="T18" fmla="*/ 2071 w 2120"/>
              <a:gd name="T19" fmla="*/ 1373 h 2119"/>
              <a:gd name="T20" fmla="*/ 1991 w 2120"/>
              <a:gd name="T21" fmla="*/ 1564 h 2119"/>
              <a:gd name="T22" fmla="*/ 1877 w 2120"/>
              <a:gd name="T23" fmla="*/ 1733 h 2119"/>
              <a:gd name="T24" fmla="*/ 1734 w 2120"/>
              <a:gd name="T25" fmla="*/ 1876 h 2119"/>
              <a:gd name="T26" fmla="*/ 1564 w 2120"/>
              <a:gd name="T27" fmla="*/ 1989 h 2119"/>
              <a:gd name="T28" fmla="*/ 1374 w 2120"/>
              <a:gd name="T29" fmla="*/ 2070 h 2119"/>
              <a:gd name="T30" fmla="*/ 1168 w 2120"/>
              <a:gd name="T31" fmla="*/ 2112 h 2119"/>
              <a:gd name="T32" fmla="*/ 952 w 2120"/>
              <a:gd name="T33" fmla="*/ 2112 h 2119"/>
              <a:gd name="T34" fmla="*/ 744 w 2120"/>
              <a:gd name="T35" fmla="*/ 2070 h 2119"/>
              <a:gd name="T36" fmla="*/ 555 w 2120"/>
              <a:gd name="T37" fmla="*/ 1989 h 2119"/>
              <a:gd name="T38" fmla="*/ 386 w 2120"/>
              <a:gd name="T39" fmla="*/ 1876 h 2119"/>
              <a:gd name="T40" fmla="*/ 243 w 2120"/>
              <a:gd name="T41" fmla="*/ 1733 h 2119"/>
              <a:gd name="T42" fmla="*/ 128 w 2120"/>
              <a:gd name="T43" fmla="*/ 1564 h 2119"/>
              <a:gd name="T44" fmla="*/ 47 w 2120"/>
              <a:gd name="T45" fmla="*/ 1373 h 2119"/>
              <a:gd name="T46" fmla="*/ 5 w 2120"/>
              <a:gd name="T47" fmla="*/ 1167 h 2119"/>
              <a:gd name="T48" fmla="*/ 5 w 2120"/>
              <a:gd name="T49" fmla="*/ 951 h 2119"/>
              <a:gd name="T50" fmla="*/ 47 w 2120"/>
              <a:gd name="T51" fmla="*/ 743 h 2119"/>
              <a:gd name="T52" fmla="*/ 128 w 2120"/>
              <a:gd name="T53" fmla="*/ 555 h 2119"/>
              <a:gd name="T54" fmla="*/ 243 w 2120"/>
              <a:gd name="T55" fmla="*/ 386 h 2119"/>
              <a:gd name="T56" fmla="*/ 386 w 2120"/>
              <a:gd name="T57" fmla="*/ 243 h 2119"/>
              <a:gd name="T58" fmla="*/ 555 w 2120"/>
              <a:gd name="T59" fmla="*/ 127 h 2119"/>
              <a:gd name="T60" fmla="*/ 744 w 2120"/>
              <a:gd name="T61" fmla="*/ 47 h 2119"/>
              <a:gd name="T62" fmla="*/ 952 w 2120"/>
              <a:gd name="T63" fmla="*/ 5 h 2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20" h="2119">
                <a:moveTo>
                  <a:pt x="1060" y="0"/>
                </a:moveTo>
                <a:lnTo>
                  <a:pt x="1168" y="5"/>
                </a:lnTo>
                <a:lnTo>
                  <a:pt x="1273" y="21"/>
                </a:lnTo>
                <a:lnTo>
                  <a:pt x="1374" y="47"/>
                </a:lnTo>
                <a:lnTo>
                  <a:pt x="1472" y="84"/>
                </a:lnTo>
                <a:lnTo>
                  <a:pt x="1564" y="127"/>
                </a:lnTo>
                <a:lnTo>
                  <a:pt x="1652" y="181"/>
                </a:lnTo>
                <a:lnTo>
                  <a:pt x="1734" y="243"/>
                </a:lnTo>
                <a:lnTo>
                  <a:pt x="1809" y="311"/>
                </a:lnTo>
                <a:lnTo>
                  <a:pt x="1877" y="386"/>
                </a:lnTo>
                <a:lnTo>
                  <a:pt x="1938" y="466"/>
                </a:lnTo>
                <a:lnTo>
                  <a:pt x="1991" y="555"/>
                </a:lnTo>
                <a:lnTo>
                  <a:pt x="2036" y="647"/>
                </a:lnTo>
                <a:lnTo>
                  <a:pt x="2071" y="743"/>
                </a:lnTo>
                <a:lnTo>
                  <a:pt x="2097" y="845"/>
                </a:lnTo>
                <a:lnTo>
                  <a:pt x="2114" y="951"/>
                </a:lnTo>
                <a:lnTo>
                  <a:pt x="2120" y="1059"/>
                </a:lnTo>
                <a:lnTo>
                  <a:pt x="2114" y="1167"/>
                </a:lnTo>
                <a:lnTo>
                  <a:pt x="2097" y="1272"/>
                </a:lnTo>
                <a:lnTo>
                  <a:pt x="2071" y="1373"/>
                </a:lnTo>
                <a:lnTo>
                  <a:pt x="2036" y="1471"/>
                </a:lnTo>
                <a:lnTo>
                  <a:pt x="1991" y="1564"/>
                </a:lnTo>
                <a:lnTo>
                  <a:pt x="1938" y="1651"/>
                </a:lnTo>
                <a:lnTo>
                  <a:pt x="1877" y="1733"/>
                </a:lnTo>
                <a:lnTo>
                  <a:pt x="1809" y="1808"/>
                </a:lnTo>
                <a:lnTo>
                  <a:pt x="1734" y="1876"/>
                </a:lnTo>
                <a:lnTo>
                  <a:pt x="1652" y="1937"/>
                </a:lnTo>
                <a:lnTo>
                  <a:pt x="1564" y="1989"/>
                </a:lnTo>
                <a:lnTo>
                  <a:pt x="1472" y="2035"/>
                </a:lnTo>
                <a:lnTo>
                  <a:pt x="1374" y="2070"/>
                </a:lnTo>
                <a:lnTo>
                  <a:pt x="1273" y="2096"/>
                </a:lnTo>
                <a:lnTo>
                  <a:pt x="1168" y="2112"/>
                </a:lnTo>
                <a:lnTo>
                  <a:pt x="1060" y="2119"/>
                </a:lnTo>
                <a:lnTo>
                  <a:pt x="952" y="2112"/>
                </a:lnTo>
                <a:lnTo>
                  <a:pt x="847" y="2096"/>
                </a:lnTo>
                <a:lnTo>
                  <a:pt x="744" y="2070"/>
                </a:lnTo>
                <a:lnTo>
                  <a:pt x="648" y="2035"/>
                </a:lnTo>
                <a:lnTo>
                  <a:pt x="555" y="1989"/>
                </a:lnTo>
                <a:lnTo>
                  <a:pt x="468" y="1937"/>
                </a:lnTo>
                <a:lnTo>
                  <a:pt x="386" y="1876"/>
                </a:lnTo>
                <a:lnTo>
                  <a:pt x="311" y="1808"/>
                </a:lnTo>
                <a:lnTo>
                  <a:pt x="243" y="1733"/>
                </a:lnTo>
                <a:lnTo>
                  <a:pt x="182" y="1651"/>
                </a:lnTo>
                <a:lnTo>
                  <a:pt x="128" y="1564"/>
                </a:lnTo>
                <a:lnTo>
                  <a:pt x="84" y="1471"/>
                </a:lnTo>
                <a:lnTo>
                  <a:pt x="47" y="1373"/>
                </a:lnTo>
                <a:lnTo>
                  <a:pt x="21" y="1272"/>
                </a:lnTo>
                <a:lnTo>
                  <a:pt x="5" y="1167"/>
                </a:lnTo>
                <a:lnTo>
                  <a:pt x="0" y="1059"/>
                </a:lnTo>
                <a:lnTo>
                  <a:pt x="5" y="951"/>
                </a:lnTo>
                <a:lnTo>
                  <a:pt x="21" y="845"/>
                </a:lnTo>
                <a:lnTo>
                  <a:pt x="47" y="743"/>
                </a:lnTo>
                <a:lnTo>
                  <a:pt x="84" y="647"/>
                </a:lnTo>
                <a:lnTo>
                  <a:pt x="128" y="555"/>
                </a:lnTo>
                <a:lnTo>
                  <a:pt x="182" y="466"/>
                </a:lnTo>
                <a:lnTo>
                  <a:pt x="243" y="386"/>
                </a:lnTo>
                <a:lnTo>
                  <a:pt x="311" y="311"/>
                </a:lnTo>
                <a:lnTo>
                  <a:pt x="386" y="243"/>
                </a:lnTo>
                <a:lnTo>
                  <a:pt x="468" y="181"/>
                </a:lnTo>
                <a:lnTo>
                  <a:pt x="555" y="127"/>
                </a:lnTo>
                <a:lnTo>
                  <a:pt x="648" y="84"/>
                </a:lnTo>
                <a:lnTo>
                  <a:pt x="744" y="47"/>
                </a:lnTo>
                <a:lnTo>
                  <a:pt x="847" y="21"/>
                </a:lnTo>
                <a:lnTo>
                  <a:pt x="952" y="5"/>
                </a:lnTo>
                <a:lnTo>
                  <a:pt x="106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  <a:effectLst>
            <a:outerShdw blurRad="444500" dist="1270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Freeform 9"/>
          <p:cNvSpPr/>
          <p:nvPr/>
        </p:nvSpPr>
        <p:spPr bwMode="auto">
          <a:xfrm>
            <a:off x="3694351" y="798856"/>
            <a:ext cx="3276595" cy="3273021"/>
          </a:xfrm>
          <a:custGeom>
            <a:avLst/>
            <a:gdLst>
              <a:gd name="T0" fmla="*/ 917 w 1834"/>
              <a:gd name="T1" fmla="*/ 0 h 1832"/>
              <a:gd name="T2" fmla="*/ 1016 w 1834"/>
              <a:gd name="T3" fmla="*/ 5 h 1832"/>
              <a:gd name="T4" fmla="*/ 1112 w 1834"/>
              <a:gd name="T5" fmla="*/ 21 h 1832"/>
              <a:gd name="T6" fmla="*/ 1207 w 1834"/>
              <a:gd name="T7" fmla="*/ 47 h 1832"/>
              <a:gd name="T8" fmla="*/ 1296 w 1834"/>
              <a:gd name="T9" fmla="*/ 80 h 1832"/>
              <a:gd name="T10" fmla="*/ 1380 w 1834"/>
              <a:gd name="T11" fmla="*/ 124 h 1832"/>
              <a:gd name="T12" fmla="*/ 1458 w 1834"/>
              <a:gd name="T13" fmla="*/ 176 h 1832"/>
              <a:gd name="T14" fmla="*/ 1531 w 1834"/>
              <a:gd name="T15" fmla="*/ 236 h 1832"/>
              <a:gd name="T16" fmla="*/ 1598 w 1834"/>
              <a:gd name="T17" fmla="*/ 302 h 1832"/>
              <a:gd name="T18" fmla="*/ 1657 w 1834"/>
              <a:gd name="T19" fmla="*/ 375 h 1832"/>
              <a:gd name="T20" fmla="*/ 1708 w 1834"/>
              <a:gd name="T21" fmla="*/ 454 h 1832"/>
              <a:gd name="T22" fmla="*/ 1751 w 1834"/>
              <a:gd name="T23" fmla="*/ 538 h 1832"/>
              <a:gd name="T24" fmla="*/ 1786 w 1834"/>
              <a:gd name="T25" fmla="*/ 627 h 1832"/>
              <a:gd name="T26" fmla="*/ 1813 w 1834"/>
              <a:gd name="T27" fmla="*/ 719 h 1832"/>
              <a:gd name="T28" fmla="*/ 1828 w 1834"/>
              <a:gd name="T29" fmla="*/ 817 h 1832"/>
              <a:gd name="T30" fmla="*/ 1834 w 1834"/>
              <a:gd name="T31" fmla="*/ 916 h 1832"/>
              <a:gd name="T32" fmla="*/ 1828 w 1834"/>
              <a:gd name="T33" fmla="*/ 1016 h 1832"/>
              <a:gd name="T34" fmla="*/ 1813 w 1834"/>
              <a:gd name="T35" fmla="*/ 1112 h 1832"/>
              <a:gd name="T36" fmla="*/ 1786 w 1834"/>
              <a:gd name="T37" fmla="*/ 1206 h 1832"/>
              <a:gd name="T38" fmla="*/ 1751 w 1834"/>
              <a:gd name="T39" fmla="*/ 1295 h 1832"/>
              <a:gd name="T40" fmla="*/ 1708 w 1834"/>
              <a:gd name="T41" fmla="*/ 1379 h 1832"/>
              <a:gd name="T42" fmla="*/ 1657 w 1834"/>
              <a:gd name="T43" fmla="*/ 1457 h 1832"/>
              <a:gd name="T44" fmla="*/ 1598 w 1834"/>
              <a:gd name="T45" fmla="*/ 1529 h 1832"/>
              <a:gd name="T46" fmla="*/ 1531 w 1834"/>
              <a:gd name="T47" fmla="*/ 1595 h 1832"/>
              <a:gd name="T48" fmla="*/ 1458 w 1834"/>
              <a:gd name="T49" fmla="*/ 1654 h 1832"/>
              <a:gd name="T50" fmla="*/ 1380 w 1834"/>
              <a:gd name="T51" fmla="*/ 1707 h 1832"/>
              <a:gd name="T52" fmla="*/ 1296 w 1834"/>
              <a:gd name="T53" fmla="*/ 1750 h 1832"/>
              <a:gd name="T54" fmla="*/ 1207 w 1834"/>
              <a:gd name="T55" fmla="*/ 1785 h 1832"/>
              <a:gd name="T56" fmla="*/ 1112 w 1834"/>
              <a:gd name="T57" fmla="*/ 1811 h 1832"/>
              <a:gd name="T58" fmla="*/ 1016 w 1834"/>
              <a:gd name="T59" fmla="*/ 1827 h 1832"/>
              <a:gd name="T60" fmla="*/ 917 w 1834"/>
              <a:gd name="T61" fmla="*/ 1832 h 1832"/>
              <a:gd name="T62" fmla="*/ 817 w 1834"/>
              <a:gd name="T63" fmla="*/ 1827 h 1832"/>
              <a:gd name="T64" fmla="*/ 720 w 1834"/>
              <a:gd name="T65" fmla="*/ 1811 h 1832"/>
              <a:gd name="T66" fmla="*/ 627 w 1834"/>
              <a:gd name="T67" fmla="*/ 1785 h 1832"/>
              <a:gd name="T68" fmla="*/ 538 w 1834"/>
              <a:gd name="T69" fmla="*/ 1750 h 1832"/>
              <a:gd name="T70" fmla="*/ 454 w 1834"/>
              <a:gd name="T71" fmla="*/ 1707 h 1832"/>
              <a:gd name="T72" fmla="*/ 376 w 1834"/>
              <a:gd name="T73" fmla="*/ 1654 h 1832"/>
              <a:gd name="T74" fmla="*/ 302 w 1834"/>
              <a:gd name="T75" fmla="*/ 1595 h 1832"/>
              <a:gd name="T76" fmla="*/ 236 w 1834"/>
              <a:gd name="T77" fmla="*/ 1529 h 1832"/>
              <a:gd name="T78" fmla="*/ 177 w 1834"/>
              <a:gd name="T79" fmla="*/ 1457 h 1832"/>
              <a:gd name="T80" fmla="*/ 126 w 1834"/>
              <a:gd name="T81" fmla="*/ 1379 h 1832"/>
              <a:gd name="T82" fmla="*/ 82 w 1834"/>
              <a:gd name="T83" fmla="*/ 1295 h 1832"/>
              <a:gd name="T84" fmla="*/ 47 w 1834"/>
              <a:gd name="T85" fmla="*/ 1206 h 1832"/>
              <a:gd name="T86" fmla="*/ 21 w 1834"/>
              <a:gd name="T87" fmla="*/ 1112 h 1832"/>
              <a:gd name="T88" fmla="*/ 6 w 1834"/>
              <a:gd name="T89" fmla="*/ 1016 h 1832"/>
              <a:gd name="T90" fmla="*/ 0 w 1834"/>
              <a:gd name="T91" fmla="*/ 916 h 1832"/>
              <a:gd name="T92" fmla="*/ 6 w 1834"/>
              <a:gd name="T93" fmla="*/ 817 h 1832"/>
              <a:gd name="T94" fmla="*/ 21 w 1834"/>
              <a:gd name="T95" fmla="*/ 719 h 1832"/>
              <a:gd name="T96" fmla="*/ 47 w 1834"/>
              <a:gd name="T97" fmla="*/ 627 h 1832"/>
              <a:gd name="T98" fmla="*/ 82 w 1834"/>
              <a:gd name="T99" fmla="*/ 538 h 1832"/>
              <a:gd name="T100" fmla="*/ 126 w 1834"/>
              <a:gd name="T101" fmla="*/ 454 h 1832"/>
              <a:gd name="T102" fmla="*/ 177 w 1834"/>
              <a:gd name="T103" fmla="*/ 375 h 1832"/>
              <a:gd name="T104" fmla="*/ 236 w 1834"/>
              <a:gd name="T105" fmla="*/ 302 h 1832"/>
              <a:gd name="T106" fmla="*/ 302 w 1834"/>
              <a:gd name="T107" fmla="*/ 236 h 1832"/>
              <a:gd name="T108" fmla="*/ 376 w 1834"/>
              <a:gd name="T109" fmla="*/ 176 h 1832"/>
              <a:gd name="T110" fmla="*/ 454 w 1834"/>
              <a:gd name="T111" fmla="*/ 124 h 1832"/>
              <a:gd name="T112" fmla="*/ 538 w 1834"/>
              <a:gd name="T113" fmla="*/ 80 h 1832"/>
              <a:gd name="T114" fmla="*/ 627 w 1834"/>
              <a:gd name="T115" fmla="*/ 47 h 1832"/>
              <a:gd name="T116" fmla="*/ 720 w 1834"/>
              <a:gd name="T117" fmla="*/ 21 h 1832"/>
              <a:gd name="T118" fmla="*/ 817 w 1834"/>
              <a:gd name="T119" fmla="*/ 5 h 1832"/>
              <a:gd name="T120" fmla="*/ 917 w 1834"/>
              <a:gd name="T121" fmla="*/ 0 h 18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834" h="1832">
                <a:moveTo>
                  <a:pt x="917" y="0"/>
                </a:moveTo>
                <a:lnTo>
                  <a:pt x="1016" y="5"/>
                </a:lnTo>
                <a:lnTo>
                  <a:pt x="1112" y="21"/>
                </a:lnTo>
                <a:lnTo>
                  <a:pt x="1207" y="47"/>
                </a:lnTo>
                <a:lnTo>
                  <a:pt x="1296" y="80"/>
                </a:lnTo>
                <a:lnTo>
                  <a:pt x="1380" y="124"/>
                </a:lnTo>
                <a:lnTo>
                  <a:pt x="1458" y="176"/>
                </a:lnTo>
                <a:lnTo>
                  <a:pt x="1531" y="236"/>
                </a:lnTo>
                <a:lnTo>
                  <a:pt x="1598" y="302"/>
                </a:lnTo>
                <a:lnTo>
                  <a:pt x="1657" y="375"/>
                </a:lnTo>
                <a:lnTo>
                  <a:pt x="1708" y="454"/>
                </a:lnTo>
                <a:lnTo>
                  <a:pt x="1751" y="538"/>
                </a:lnTo>
                <a:lnTo>
                  <a:pt x="1786" y="627"/>
                </a:lnTo>
                <a:lnTo>
                  <a:pt x="1813" y="719"/>
                </a:lnTo>
                <a:lnTo>
                  <a:pt x="1828" y="817"/>
                </a:lnTo>
                <a:lnTo>
                  <a:pt x="1834" y="916"/>
                </a:lnTo>
                <a:lnTo>
                  <a:pt x="1828" y="1016"/>
                </a:lnTo>
                <a:lnTo>
                  <a:pt x="1813" y="1112"/>
                </a:lnTo>
                <a:lnTo>
                  <a:pt x="1786" y="1206"/>
                </a:lnTo>
                <a:lnTo>
                  <a:pt x="1751" y="1295"/>
                </a:lnTo>
                <a:lnTo>
                  <a:pt x="1708" y="1379"/>
                </a:lnTo>
                <a:lnTo>
                  <a:pt x="1657" y="1457"/>
                </a:lnTo>
                <a:lnTo>
                  <a:pt x="1598" y="1529"/>
                </a:lnTo>
                <a:lnTo>
                  <a:pt x="1531" y="1595"/>
                </a:lnTo>
                <a:lnTo>
                  <a:pt x="1458" y="1654"/>
                </a:lnTo>
                <a:lnTo>
                  <a:pt x="1380" y="1707"/>
                </a:lnTo>
                <a:lnTo>
                  <a:pt x="1296" y="1750"/>
                </a:lnTo>
                <a:lnTo>
                  <a:pt x="1207" y="1785"/>
                </a:lnTo>
                <a:lnTo>
                  <a:pt x="1112" y="1811"/>
                </a:lnTo>
                <a:lnTo>
                  <a:pt x="1016" y="1827"/>
                </a:lnTo>
                <a:lnTo>
                  <a:pt x="917" y="1832"/>
                </a:lnTo>
                <a:lnTo>
                  <a:pt x="817" y="1827"/>
                </a:lnTo>
                <a:lnTo>
                  <a:pt x="720" y="1811"/>
                </a:lnTo>
                <a:lnTo>
                  <a:pt x="627" y="1785"/>
                </a:lnTo>
                <a:lnTo>
                  <a:pt x="538" y="1750"/>
                </a:lnTo>
                <a:lnTo>
                  <a:pt x="454" y="1707"/>
                </a:lnTo>
                <a:lnTo>
                  <a:pt x="376" y="1654"/>
                </a:lnTo>
                <a:lnTo>
                  <a:pt x="302" y="1595"/>
                </a:lnTo>
                <a:lnTo>
                  <a:pt x="236" y="1529"/>
                </a:lnTo>
                <a:lnTo>
                  <a:pt x="177" y="1457"/>
                </a:lnTo>
                <a:lnTo>
                  <a:pt x="126" y="1379"/>
                </a:lnTo>
                <a:lnTo>
                  <a:pt x="82" y="1295"/>
                </a:lnTo>
                <a:lnTo>
                  <a:pt x="47" y="1206"/>
                </a:lnTo>
                <a:lnTo>
                  <a:pt x="21" y="1112"/>
                </a:lnTo>
                <a:lnTo>
                  <a:pt x="6" y="1016"/>
                </a:lnTo>
                <a:lnTo>
                  <a:pt x="0" y="916"/>
                </a:lnTo>
                <a:lnTo>
                  <a:pt x="6" y="817"/>
                </a:lnTo>
                <a:lnTo>
                  <a:pt x="21" y="719"/>
                </a:lnTo>
                <a:lnTo>
                  <a:pt x="47" y="627"/>
                </a:lnTo>
                <a:lnTo>
                  <a:pt x="82" y="538"/>
                </a:lnTo>
                <a:lnTo>
                  <a:pt x="126" y="454"/>
                </a:lnTo>
                <a:lnTo>
                  <a:pt x="177" y="375"/>
                </a:lnTo>
                <a:lnTo>
                  <a:pt x="236" y="302"/>
                </a:lnTo>
                <a:lnTo>
                  <a:pt x="302" y="236"/>
                </a:lnTo>
                <a:lnTo>
                  <a:pt x="376" y="176"/>
                </a:lnTo>
                <a:lnTo>
                  <a:pt x="454" y="124"/>
                </a:lnTo>
                <a:lnTo>
                  <a:pt x="538" y="80"/>
                </a:lnTo>
                <a:lnTo>
                  <a:pt x="627" y="47"/>
                </a:lnTo>
                <a:lnTo>
                  <a:pt x="720" y="21"/>
                </a:lnTo>
                <a:lnTo>
                  <a:pt x="817" y="5"/>
                </a:lnTo>
                <a:lnTo>
                  <a:pt x="917" y="0"/>
                </a:lnTo>
                <a:close/>
              </a:path>
            </a:pathLst>
          </a:custGeom>
          <a:solidFill>
            <a:srgbClr val="0070C0"/>
          </a:solidFill>
          <a:ln w="0">
            <a:noFill/>
            <a:prstDash val="solid"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259"/>
          <p:cNvSpPr>
            <a:spLocks noChangeArrowheads="1"/>
          </p:cNvSpPr>
          <p:nvPr/>
        </p:nvSpPr>
        <p:spPr bwMode="auto">
          <a:xfrm>
            <a:off x="5929980" y="4275599"/>
            <a:ext cx="6958869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4400" cap="all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ea"/>
              </a:rPr>
              <a:t>基于稳健主成分分析的地震数据噪音压制</a:t>
            </a:r>
            <a:endParaRPr lang="zh-CN" altLang="en-US" sz="4400" cap="all" dirty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6790833" y="5866953"/>
            <a:ext cx="52371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dist">
              <a:buNone/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答辩人：贾昊   指导老师：高建军</a:t>
            </a:r>
          </a:p>
        </p:txBody>
      </p:sp>
      <p:pic>
        <p:nvPicPr>
          <p:cNvPr id="2" name="Could This Be Love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6124575" y="-1722423"/>
            <a:ext cx="609600" cy="609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462" y="930554"/>
            <a:ext cx="2916371" cy="3012064"/>
          </a:xfrm>
          <a:prstGeom prst="rect">
            <a:avLst/>
          </a:prstGeom>
        </p:spPr>
      </p:pic>
    </p:spTree>
  </p:cSld>
  <p:clrMapOvr>
    <a:masterClrMapping/>
  </p:clrMapOvr>
  <p:transition spd="slow" advTm="11172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50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3" grpId="0" animBg="1"/>
      <p:bldP spid="25" grpId="0" animBg="1"/>
      <p:bldP spid="12" grpId="0" animBg="1"/>
      <p:bldP spid="13" grpId="0" animBg="1"/>
      <p:bldP spid="14" grpId="0"/>
      <p:bldP spid="14" grpId="1"/>
      <p:bldP spid="11" grpId="0"/>
      <p:bldP spid="1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429375" y="1220420"/>
            <a:ext cx="4854342" cy="755777"/>
            <a:chOff x="5844664" y="1806352"/>
            <a:chExt cx="4854342" cy="755777"/>
          </a:xfrm>
        </p:grpSpPr>
        <p:sp>
          <p:nvSpPr>
            <p:cNvPr id="4" name="圆角矩形 3"/>
            <p:cNvSpPr/>
            <p:nvPr/>
          </p:nvSpPr>
          <p:spPr>
            <a:xfrm>
              <a:off x="5844664" y="1806352"/>
              <a:ext cx="4854342" cy="75577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419100" dist="4191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endParaRPr lang="zh-CN" altLang="en-US" sz="1510"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79977" y="1902970"/>
              <a:ext cx="562540" cy="5625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419100" dist="4191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r>
                <a:rPr lang="en-US" altLang="zh-CN" sz="1510" dirty="0">
                  <a:cs typeface="+mn-ea"/>
                  <a:sym typeface="+mn-lt"/>
                </a:rPr>
                <a:t>01</a:t>
              </a:r>
              <a:endParaRPr lang="zh-CN" altLang="en-US" sz="1510" dirty="0">
                <a:cs typeface="+mn-ea"/>
                <a:sym typeface="+mn-lt"/>
              </a:endParaRPr>
            </a:p>
          </p:txBody>
        </p:sp>
        <p:sp>
          <p:nvSpPr>
            <p:cNvPr id="40" name="MH_Entry_1"/>
            <p:cNvSpPr/>
            <p:nvPr>
              <p:custDataLst>
                <p:tags r:id="rId4"/>
              </p:custDataLst>
            </p:nvPr>
          </p:nvSpPr>
          <p:spPr>
            <a:xfrm>
              <a:off x="7036905" y="1968468"/>
              <a:ext cx="3167713" cy="430887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研究目的及意义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29375" y="2277695"/>
            <a:ext cx="4854342" cy="755777"/>
            <a:chOff x="5844664" y="2863627"/>
            <a:chExt cx="4854342" cy="755777"/>
          </a:xfrm>
        </p:grpSpPr>
        <p:sp>
          <p:nvSpPr>
            <p:cNvPr id="28" name="圆角矩形 27"/>
            <p:cNvSpPr/>
            <p:nvPr/>
          </p:nvSpPr>
          <p:spPr>
            <a:xfrm>
              <a:off x="5844664" y="2863627"/>
              <a:ext cx="4854342" cy="75577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endParaRPr lang="zh-CN" altLang="en-US" sz="1510">
                <a:cs typeface="+mn-ea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979977" y="2936432"/>
              <a:ext cx="562540" cy="56254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419100" dist="4191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r>
                <a:rPr lang="en-US" altLang="zh-CN" sz="1510" dirty="0">
                  <a:cs typeface="+mn-ea"/>
                  <a:sym typeface="+mn-lt"/>
                </a:rPr>
                <a:t>02</a:t>
              </a:r>
              <a:endParaRPr lang="zh-CN" altLang="en-US" sz="1510" dirty="0">
                <a:cs typeface="+mn-ea"/>
                <a:sym typeface="+mn-lt"/>
              </a:endParaRPr>
            </a:p>
          </p:txBody>
        </p:sp>
        <p:sp>
          <p:nvSpPr>
            <p:cNvPr id="41" name="MH_Entry_2"/>
            <p:cNvSpPr/>
            <p:nvPr>
              <p:custDataLst>
                <p:tags r:id="rId3"/>
              </p:custDataLst>
            </p:nvPr>
          </p:nvSpPr>
          <p:spPr>
            <a:xfrm>
              <a:off x="6928892" y="3002258"/>
              <a:ext cx="3383737" cy="430887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lvl="0" algn="ctr"/>
              <a:r>
                <a:rPr lang="zh-CN" altLang="en-US" sz="28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论文的方法原理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29375" y="3299251"/>
            <a:ext cx="4854342" cy="755777"/>
            <a:chOff x="5844664" y="3885183"/>
            <a:chExt cx="4854342" cy="755777"/>
          </a:xfrm>
        </p:grpSpPr>
        <p:sp>
          <p:nvSpPr>
            <p:cNvPr id="31" name="圆角矩形 30"/>
            <p:cNvSpPr/>
            <p:nvPr/>
          </p:nvSpPr>
          <p:spPr>
            <a:xfrm>
              <a:off x="5844664" y="3885183"/>
              <a:ext cx="4854342" cy="75577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419100" dist="4191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endParaRPr lang="zh-CN" altLang="en-US" sz="1510">
                <a:cs typeface="+mn-ea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979977" y="3981801"/>
              <a:ext cx="562540" cy="5625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419100" dist="4191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r>
                <a:rPr lang="en-US" altLang="zh-CN" sz="1510" dirty="0">
                  <a:cs typeface="+mn-ea"/>
                  <a:sym typeface="+mn-lt"/>
                </a:rPr>
                <a:t>03</a:t>
              </a:r>
              <a:endParaRPr lang="zh-CN" altLang="en-US" sz="1510" dirty="0">
                <a:cs typeface="+mn-ea"/>
                <a:sym typeface="+mn-lt"/>
              </a:endParaRPr>
            </a:p>
          </p:txBody>
        </p:sp>
        <p:sp>
          <p:nvSpPr>
            <p:cNvPr id="42" name="MH_Entry_3"/>
            <p:cNvSpPr/>
            <p:nvPr>
              <p:custDataLst>
                <p:tags r:id="rId2"/>
              </p:custDataLst>
            </p:nvPr>
          </p:nvSpPr>
          <p:spPr>
            <a:xfrm>
              <a:off x="7125180" y="4047627"/>
              <a:ext cx="2991163" cy="430887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lvl="0" algn="ctr"/>
              <a:r>
                <a:rPr lang="zh-CN" altLang="en-US" sz="28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目前取得的结果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429375" y="4320807"/>
            <a:ext cx="4854342" cy="755777"/>
            <a:chOff x="5844664" y="4906739"/>
            <a:chExt cx="4854342" cy="755777"/>
          </a:xfrm>
        </p:grpSpPr>
        <p:sp>
          <p:nvSpPr>
            <p:cNvPr id="34" name="圆角矩形 33"/>
            <p:cNvSpPr/>
            <p:nvPr/>
          </p:nvSpPr>
          <p:spPr>
            <a:xfrm>
              <a:off x="5844664" y="4906739"/>
              <a:ext cx="4854342" cy="75577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endParaRPr lang="zh-CN" altLang="en-US" sz="1510">
                <a:cs typeface="+mn-ea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5979977" y="5003357"/>
              <a:ext cx="562540" cy="56254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outerShdw blurRad="419100" dist="4191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r>
                <a:rPr lang="en-US" altLang="zh-CN" sz="1510" dirty="0">
                  <a:cs typeface="+mn-ea"/>
                  <a:sym typeface="+mn-lt"/>
                </a:rPr>
                <a:t>04</a:t>
              </a:r>
              <a:endParaRPr lang="zh-CN" altLang="en-US" sz="1510" dirty="0">
                <a:cs typeface="+mn-ea"/>
                <a:sym typeface="+mn-lt"/>
              </a:endParaRPr>
            </a:p>
          </p:txBody>
        </p:sp>
        <p:sp>
          <p:nvSpPr>
            <p:cNvPr id="43" name="MH_Entry_4"/>
            <p:cNvSpPr/>
            <p:nvPr>
              <p:custDataLst>
                <p:tags r:id="rId1"/>
              </p:custDataLst>
            </p:nvPr>
          </p:nvSpPr>
          <p:spPr>
            <a:xfrm>
              <a:off x="7339946" y="5003357"/>
              <a:ext cx="2561630" cy="430887"/>
            </a:xfrm>
            <a:custGeom>
              <a:avLst/>
              <a:gdLst>
                <a:gd name="connsiteX0" fmla="*/ 0 w 2520280"/>
                <a:gd name="connsiteY0" fmla="*/ 1584176 h 1872208"/>
                <a:gd name="connsiteX1" fmla="*/ 2520280 w 2520280"/>
                <a:gd name="connsiteY1" fmla="*/ 1584176 h 1872208"/>
                <a:gd name="connsiteX2" fmla="*/ 2520280 w 2520280"/>
                <a:gd name="connsiteY2" fmla="*/ 1872208 h 1872208"/>
                <a:gd name="connsiteX3" fmla="*/ 0 w 2520280"/>
                <a:gd name="connsiteY3" fmla="*/ 1872208 h 1872208"/>
                <a:gd name="connsiteX4" fmla="*/ 0 w 2520280"/>
                <a:gd name="connsiteY4" fmla="*/ 1584176 h 1872208"/>
                <a:gd name="connsiteX5" fmla="*/ 0 w 2520280"/>
                <a:gd name="connsiteY5" fmla="*/ 0 h 1872208"/>
                <a:gd name="connsiteX6" fmla="*/ 2520280 w 2520280"/>
                <a:gd name="connsiteY6" fmla="*/ 0 h 1872208"/>
                <a:gd name="connsiteX7" fmla="*/ 2520280 w 2520280"/>
                <a:gd name="connsiteY7" fmla="*/ 288032 h 1872208"/>
                <a:gd name="connsiteX8" fmla="*/ 0 w 2520280"/>
                <a:gd name="connsiteY8" fmla="*/ 0 h 1872208"/>
                <a:gd name="connsiteX0-1" fmla="*/ 0 w 2520280"/>
                <a:gd name="connsiteY0-2" fmla="*/ 1584176 h 1872208"/>
                <a:gd name="connsiteX1-3" fmla="*/ 2520280 w 2520280"/>
                <a:gd name="connsiteY1-4" fmla="*/ 1584176 h 1872208"/>
                <a:gd name="connsiteX2-5" fmla="*/ 2520280 w 2520280"/>
                <a:gd name="connsiteY2-6" fmla="*/ 1872208 h 1872208"/>
                <a:gd name="connsiteX3-7" fmla="*/ 0 w 2520280"/>
                <a:gd name="connsiteY3-8" fmla="*/ 1872208 h 1872208"/>
                <a:gd name="connsiteX4-9" fmla="*/ 0 w 2520280"/>
                <a:gd name="connsiteY4-10" fmla="*/ 1584176 h 1872208"/>
                <a:gd name="connsiteX5-11" fmla="*/ 0 w 2520280"/>
                <a:gd name="connsiteY5-12" fmla="*/ 0 h 1872208"/>
                <a:gd name="connsiteX6-13" fmla="*/ 2520280 w 2520280"/>
                <a:gd name="connsiteY6-14" fmla="*/ 0 h 1872208"/>
                <a:gd name="connsiteX7-15" fmla="*/ 0 w 2520280"/>
                <a:gd name="connsiteY7-16" fmla="*/ 0 h 1872208"/>
                <a:gd name="connsiteX0-17" fmla="*/ 0 w 2520280"/>
                <a:gd name="connsiteY0-18" fmla="*/ 1872208 h 1872208"/>
                <a:gd name="connsiteX1-19" fmla="*/ 2520280 w 2520280"/>
                <a:gd name="connsiteY1-20" fmla="*/ 1584176 h 1872208"/>
                <a:gd name="connsiteX2-21" fmla="*/ 2520280 w 2520280"/>
                <a:gd name="connsiteY2-22" fmla="*/ 1872208 h 1872208"/>
                <a:gd name="connsiteX3-23" fmla="*/ 0 w 2520280"/>
                <a:gd name="connsiteY3-24" fmla="*/ 1872208 h 1872208"/>
                <a:gd name="connsiteX4-25" fmla="*/ 0 w 2520280"/>
                <a:gd name="connsiteY4-26" fmla="*/ 0 h 1872208"/>
                <a:gd name="connsiteX5-27" fmla="*/ 2520280 w 2520280"/>
                <a:gd name="connsiteY5-28" fmla="*/ 0 h 1872208"/>
                <a:gd name="connsiteX6-29" fmla="*/ 0 w 2520280"/>
                <a:gd name="connsiteY6-30" fmla="*/ 0 h 1872208"/>
                <a:gd name="connsiteX0-31" fmla="*/ 0 w 2520280"/>
                <a:gd name="connsiteY0-32" fmla="*/ 1872208 h 1872208"/>
                <a:gd name="connsiteX1-33" fmla="*/ 2520280 w 2520280"/>
                <a:gd name="connsiteY1-34" fmla="*/ 1872208 h 1872208"/>
                <a:gd name="connsiteX2-35" fmla="*/ 0 w 2520280"/>
                <a:gd name="connsiteY2-36" fmla="*/ 1872208 h 1872208"/>
                <a:gd name="connsiteX3-37" fmla="*/ 0 w 2520280"/>
                <a:gd name="connsiteY3-38" fmla="*/ 0 h 1872208"/>
                <a:gd name="connsiteX4-39" fmla="*/ 2520280 w 2520280"/>
                <a:gd name="connsiteY4-40" fmla="*/ 0 h 1872208"/>
                <a:gd name="connsiteX5-41" fmla="*/ 0 w 2520280"/>
                <a:gd name="connsiteY5-42" fmla="*/ 0 h 1872208"/>
                <a:gd name="connsiteX0-43" fmla="*/ 0 w 2520280"/>
                <a:gd name="connsiteY0-44" fmla="*/ 1872208 h 1872208"/>
                <a:gd name="connsiteX1-45" fmla="*/ 2520280 w 2520280"/>
                <a:gd name="connsiteY1-46" fmla="*/ 1872208 h 1872208"/>
                <a:gd name="connsiteX2-47" fmla="*/ 0 w 2520280"/>
                <a:gd name="connsiteY2-48" fmla="*/ 1872208 h 1872208"/>
                <a:gd name="connsiteX3-49" fmla="*/ 0 w 2520280"/>
                <a:gd name="connsiteY3-50" fmla="*/ 0 h 1872208"/>
                <a:gd name="connsiteX4-51" fmla="*/ 34255 w 2520280"/>
                <a:gd name="connsiteY4-52" fmla="*/ 0 h 1872208"/>
                <a:gd name="connsiteX5-53" fmla="*/ 0 w 2520280"/>
                <a:gd name="connsiteY5-54" fmla="*/ 0 h 1872208"/>
                <a:gd name="connsiteX0-55" fmla="*/ 0 w 2520280"/>
                <a:gd name="connsiteY0-56" fmla="*/ 1872208 h 1872208"/>
                <a:gd name="connsiteX1-57" fmla="*/ 2520280 w 2520280"/>
                <a:gd name="connsiteY1-58" fmla="*/ 1872208 h 1872208"/>
                <a:gd name="connsiteX2-59" fmla="*/ 0 w 2520280"/>
                <a:gd name="connsiteY2-60" fmla="*/ 1872208 h 1872208"/>
                <a:gd name="connsiteX3-61" fmla="*/ 0 w 2520280"/>
                <a:gd name="connsiteY3-62" fmla="*/ 0 h 1872208"/>
                <a:gd name="connsiteX4-63" fmla="*/ 917 w 2520280"/>
                <a:gd name="connsiteY4-64" fmla="*/ 6036 h 1872208"/>
                <a:gd name="connsiteX5-65" fmla="*/ 0 w 2520280"/>
                <a:gd name="connsiteY5-66" fmla="*/ 0 h 1872208"/>
                <a:gd name="connsiteX0-67" fmla="*/ 0 w 2520280"/>
                <a:gd name="connsiteY0-68" fmla="*/ 1890314 h 1890314"/>
                <a:gd name="connsiteX1-69" fmla="*/ 2520280 w 2520280"/>
                <a:gd name="connsiteY1-70" fmla="*/ 1890314 h 1890314"/>
                <a:gd name="connsiteX2-71" fmla="*/ 0 w 2520280"/>
                <a:gd name="connsiteY2-72" fmla="*/ 1890314 h 1890314"/>
                <a:gd name="connsiteX3-73" fmla="*/ 0 w 2520280"/>
                <a:gd name="connsiteY3-74" fmla="*/ 18106 h 1890314"/>
                <a:gd name="connsiteX4-75" fmla="*/ 53304 w 2520280"/>
                <a:gd name="connsiteY4-76" fmla="*/ 0 h 1890314"/>
                <a:gd name="connsiteX5-77" fmla="*/ 0 w 2520280"/>
                <a:gd name="connsiteY5-78" fmla="*/ 18106 h 1890314"/>
                <a:gd name="connsiteX0-79" fmla="*/ 0 w 2520280"/>
                <a:gd name="connsiteY0-80" fmla="*/ 1872208 h 1872208"/>
                <a:gd name="connsiteX1-81" fmla="*/ 2520280 w 2520280"/>
                <a:gd name="connsiteY1-82" fmla="*/ 1872208 h 1872208"/>
                <a:gd name="connsiteX2-83" fmla="*/ 0 w 2520280"/>
                <a:gd name="connsiteY2-84" fmla="*/ 1872208 h 1872208"/>
                <a:gd name="connsiteX3-85" fmla="*/ 0 w 2520280"/>
                <a:gd name="connsiteY3-86" fmla="*/ 0 h 1872208"/>
                <a:gd name="connsiteX4-87" fmla="*/ 916 w 2520280"/>
                <a:gd name="connsiteY4-88" fmla="*/ 0 h 1872208"/>
                <a:gd name="connsiteX5-89" fmla="*/ 0 w 2520280"/>
                <a:gd name="connsiteY5-90" fmla="*/ 0 h 187220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2520280" h="1872208">
                  <a:moveTo>
                    <a:pt x="0" y="1872208"/>
                  </a:moveTo>
                  <a:lnTo>
                    <a:pt x="2520280" y="1872208"/>
                  </a:lnTo>
                  <a:lnTo>
                    <a:pt x="0" y="1872208"/>
                  </a:lnTo>
                  <a:close/>
                  <a:moveTo>
                    <a:pt x="0" y="0"/>
                  </a:moveTo>
                  <a:lnTo>
                    <a:pt x="91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175" cap="sq">
              <a:noFill/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spAutoFit/>
            </a:bodyPr>
            <a:lstStyle/>
            <a:p>
              <a:pPr lvl="0" algn="ctr"/>
              <a:r>
                <a:rPr lang="zh-CN" altLang="en-US" sz="28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下一步研究计划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94372" y="-19571"/>
            <a:ext cx="5564065" cy="7232650"/>
            <a:chOff x="0" y="-14713"/>
            <a:chExt cx="5564065" cy="723265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3" name="等腰三角形 32"/>
            <p:cNvSpPr/>
            <p:nvPr/>
          </p:nvSpPr>
          <p:spPr>
            <a:xfrm rot="5400000">
              <a:off x="5171328" y="1205572"/>
              <a:ext cx="421829" cy="36364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endParaRPr lang="zh-CN" altLang="en-US" sz="1510">
                <a:cs typeface="+mn-ea"/>
                <a:sym typeface="+mn-lt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0" y="-14713"/>
              <a:ext cx="5200420" cy="72326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endParaRPr lang="zh-CN" altLang="en-US" sz="1510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-14713"/>
            <a:ext cx="5564065" cy="7232650"/>
            <a:chOff x="0" y="-14713"/>
            <a:chExt cx="5564065" cy="7232650"/>
          </a:xfrm>
          <a:effectLst>
            <a:outerShdw blurRad="419100" dist="419100" dir="5400000" algn="ctr" rotWithShape="0">
              <a:srgbClr val="000000">
                <a:alpha val="43137"/>
              </a:srgbClr>
            </a:outerShdw>
          </a:effectLst>
        </p:grpSpPr>
        <p:sp>
          <p:nvSpPr>
            <p:cNvPr id="13" name="等腰三角形 12"/>
            <p:cNvSpPr/>
            <p:nvPr/>
          </p:nvSpPr>
          <p:spPr>
            <a:xfrm rot="5400000">
              <a:off x="5171328" y="1205572"/>
              <a:ext cx="421829" cy="363645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endParaRPr lang="zh-CN" altLang="en-US" sz="1510">
                <a:effectLst>
                  <a:outerShdw blurRad="419100" dist="419100" dir="5400000" algn="ctr" rotWithShape="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0" y="-14713"/>
              <a:ext cx="5200420" cy="72326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728" tIns="36364" rIns="72728" bIns="36364" rtlCol="0" anchor="ctr"/>
            <a:lstStyle/>
            <a:p>
              <a:pPr algn="ctr"/>
              <a:endParaRPr lang="zh-CN" altLang="en-US" sz="1510">
                <a:effectLst>
                  <a:outerShdw blurRad="419100" dist="419100" dir="5400000" algn="ctr" rotWithShape="0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25" name="椭圆 24"/>
          <p:cNvSpPr/>
          <p:nvPr/>
        </p:nvSpPr>
        <p:spPr>
          <a:xfrm>
            <a:off x="1612653" y="2523796"/>
            <a:ext cx="1588559" cy="15885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419100" dist="4191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28" tIns="36364" rIns="72728" bIns="36364" rtlCol="0" anchor="ctr"/>
          <a:lstStyle/>
          <a:p>
            <a:pPr algn="ctr"/>
            <a:r>
              <a:rPr lang="zh-CN" altLang="en-US" sz="3600" b="1" dirty="0">
                <a:solidFill>
                  <a:srgbClr val="0070C0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22" name="同心圆 21"/>
          <p:cNvSpPr/>
          <p:nvPr/>
        </p:nvSpPr>
        <p:spPr>
          <a:xfrm>
            <a:off x="755437" y="1673859"/>
            <a:ext cx="3302992" cy="3302992"/>
          </a:xfrm>
          <a:prstGeom prst="donut">
            <a:avLst>
              <a:gd name="adj" fmla="val 15195"/>
            </a:avLst>
          </a:prstGeom>
          <a:solidFill>
            <a:schemeClr val="bg1"/>
          </a:solidFill>
          <a:ln>
            <a:noFill/>
          </a:ln>
          <a:effectLst>
            <a:outerShdw blurRad="419100" dist="419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28" tIns="36364" rIns="72728" bIns="36364" rtlCol="0" anchor="ctr"/>
          <a:lstStyle/>
          <a:p>
            <a:pPr algn="ctr"/>
            <a:endParaRPr lang="zh-CN" altLang="en-US" sz="3600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1643">
        <p15:prstTrans prst="pageCurlDouble"/>
      </p:transition>
    </mc:Choice>
    <mc:Fallback>
      <p:transition spd="slow" advTm="11643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9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5" presetID="2" presetClass="entr" presetSubtype="8" accel="40000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0" presetID="2" presetClass="entr" presetSubtype="8" accel="40000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2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3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35" presetID="2" presetClass="entr" presetSubtype="8" accel="40000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40" presetID="2" presetClass="entr" presetSubtype="8" accel="40000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2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3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9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5" presetID="2" presetClass="entr" presetSubtype="8" accel="4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0" presetID="2" presetClass="entr" presetSubtype="8" accel="4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35" presetID="2" presetClass="entr" presetSubtype="8" accel="4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40" presetID="2" presetClass="entr" presetSubtype="8" accel="4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9000"/>
                                </p:stCondLst>
                                <p:childTnLst>
                                  <p:par>
                                    <p:cTn id="45" presetID="2" presetClass="entr" presetSubtype="8" accel="4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1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1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5" grpId="0" animBg="1"/>
          <p:bldP spid="22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01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研究目的及意义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2179">
        <p15:prstTrans prst="pageCurlDouble"/>
      </p:transition>
    </mc:Choice>
    <mc:Fallback>
      <p:transition spd="slow" advTm="2179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876491" y="77161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A4A4A"/>
                </a:solidFill>
                <a:latin typeface="+mn-lt"/>
                <a:ea typeface="+mn-ea"/>
                <a:cs typeface="+mn-ea"/>
                <a:sym typeface="+mn-lt"/>
              </a:rPr>
              <a:t>延时符</a:t>
            </a:r>
            <a:endParaRPr lang="en-US" altLang="zh-CN" dirty="0">
              <a:solidFill>
                <a:srgbClr val="4A4A4A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研究目的及意义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2230100" y="266700"/>
            <a:ext cx="628650" cy="385763"/>
          </a:xfrm>
        </p:spPr>
        <p:txBody>
          <a:bodyPr/>
          <a:lstStyle/>
          <a:p>
            <a:fld id="{EB730883-2733-4EB0-9793-894FF9D50112}" type="slidenum">
              <a:rPr lang="zh-CN" altLang="en-US" smtClean="0">
                <a:latin typeface="+mn-lt"/>
                <a:ea typeface="+mn-ea"/>
                <a:cs typeface="+mn-ea"/>
                <a:sym typeface="+mn-lt"/>
              </a:rPr>
              <a:pPr/>
              <a:t>4</a:t>
            </a:fld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64FC3B-AD9E-4930-B6BA-A5EFFCF2B528}"/>
              </a:ext>
            </a:extLst>
          </p:cNvPr>
          <p:cNvSpPr txBox="1"/>
          <p:nvPr/>
        </p:nvSpPr>
        <p:spPr>
          <a:xfrm>
            <a:off x="884759" y="2032149"/>
            <a:ext cx="9001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地震勘探数据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伴有噪声，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会对地震数据的处理和成像带来严重的干扰，用传统的去噪方法处理不符合高斯分布的异常值（野值，离群值）效果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不佳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稳健主成分分析（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RPCA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）可以更加有效的去压制实际地震数据中的异常值噪声，从而进一步达到提高信噪比的目的。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稳健主成分分析可能用于同步源地震数据去噪和重建，有效减少由于噪声带来的不利影响，得到更精确的地质信息。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从一定程度上提高解释能力，为生产和开发提供技术支持，从而降低储层勘探和开发的风险。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98332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8812">
        <p15:prstTrans prst="pageCurlDouble"/>
      </p:transition>
    </mc:Choice>
    <mc:Fallback>
      <p:transition spd="slow" advClick="0" advTm="881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02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论文的方法原理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3147">
        <p15:prstTrans prst="pageCurlDouble"/>
      </p:transition>
    </mc:Choice>
    <mc:Fallback>
      <p:transition spd="slow" advTm="3147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论文的方法原理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899B68B9-F8A5-4E0A-A5E3-1BCE7EE7DD57}"/>
              </a:ext>
            </a:extLst>
          </p:cNvPr>
          <p:cNvSpPr txBox="1"/>
          <p:nvPr/>
        </p:nvSpPr>
        <p:spPr>
          <a:xfrm>
            <a:off x="1768476" y="1888133"/>
            <a:ext cx="7859950" cy="1581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3895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800" b="1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RPCA</a:t>
            </a:r>
          </a:p>
          <a:p>
            <a:pPr marR="0" defTabSz="683895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en-US" altLang="zh-CN" sz="1800" b="1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R="0" defTabSz="683895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我们假定异常值噪声可以用一个稀疏矩阵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表示。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R="0" defTabSz="683895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R="0" algn="ctr" defTabSz="683895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b="1" kern="1200" cap="none" spc="0" normalizeH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***</a:t>
            </a:r>
            <a:r>
              <a:rPr kumimoji="0" lang="en-US" altLang="zh-CN" sz="1600" b="1" kern="1200" cap="none" spc="0" normalizeH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NP-hard</a:t>
            </a:r>
            <a:endParaRPr kumimoji="0" lang="zh-CN" altLang="en-US" sz="1600" b="1" kern="1200" cap="none" spc="0" normalizeH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BB36A3-28B9-4C03-95C5-DD3BEBC2F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477" y="3505386"/>
            <a:ext cx="3543795" cy="94310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2DA83A1-C4CA-43C5-A515-EA92702E5972}"/>
              </a:ext>
            </a:extLst>
          </p:cNvPr>
          <p:cNvSpPr txBox="1"/>
          <p:nvPr/>
        </p:nvSpPr>
        <p:spPr>
          <a:xfrm>
            <a:off x="3765079" y="5056485"/>
            <a:ext cx="6336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</a:t>
            </a:r>
            <a:r>
              <a:rPr lang="zh-CN" altLang="en-US" dirty="0"/>
              <a:t>为观测数据，</a:t>
            </a:r>
            <a:r>
              <a:rPr lang="en-US" altLang="zh-CN" b="1" dirty="0"/>
              <a:t>L</a:t>
            </a:r>
            <a:r>
              <a:rPr lang="zh-CN" altLang="en-US" dirty="0"/>
              <a:t>为理想三维地震数据，</a:t>
            </a:r>
            <a:r>
              <a:rPr lang="en-US" altLang="zh-CN" b="1" dirty="0"/>
              <a:t>S</a:t>
            </a:r>
            <a:r>
              <a:rPr lang="zh-CN" altLang="en-US" dirty="0"/>
              <a:t>为异常值数据；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设</a:t>
            </a:r>
            <a:r>
              <a:rPr lang="en-US" altLang="zh-CN" b="1" dirty="0"/>
              <a:t>L</a:t>
            </a:r>
            <a:r>
              <a:rPr lang="zh-CN" altLang="en-US" dirty="0"/>
              <a:t>为一低秩矩阵，求</a:t>
            </a:r>
            <a:r>
              <a:rPr lang="en-US" altLang="zh-CN" b="1" dirty="0"/>
              <a:t>S</a:t>
            </a:r>
            <a:r>
              <a:rPr lang="zh-CN" altLang="en-US" dirty="0"/>
              <a:t>的最小零范数（非零元素个数）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82023">
        <p15:prstTrans prst="pageCurlDouble"/>
      </p:transition>
    </mc:Choice>
    <mc:Fallback>
      <p:transition spd="slow" advClick="0" advTm="82023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论文的方法原理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C1EE25-F6A9-498F-A377-4B51DDC9C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489" y="1384077"/>
            <a:ext cx="3947772" cy="55741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561B5C9-0085-4AE4-BE5B-3D0040C872EC}"/>
              </a:ext>
            </a:extLst>
          </p:cNvPr>
          <p:cNvSpPr txBox="1"/>
          <p:nvPr/>
        </p:nvSpPr>
        <p:spPr>
          <a:xfrm>
            <a:off x="1244799" y="2104157"/>
            <a:ext cx="23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PRCA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180482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40715">
        <p15:prstTrans prst="pageCurlDouble"/>
      </p:transition>
    </mc:Choice>
    <mc:Fallback>
      <p:transition spd="slow" advClick="0" advTm="40715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论文的方法原理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38ED2D-2465-4ABA-A9F5-33F225422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213" y="1816125"/>
            <a:ext cx="4820323" cy="47631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8D9D1EB-9BE8-4DB4-85E0-C36D45B5CF89}"/>
              </a:ext>
            </a:extLst>
          </p:cNvPr>
          <p:cNvSpPr txBox="1"/>
          <p:nvPr/>
        </p:nvSpPr>
        <p:spPr>
          <a:xfrm>
            <a:off x="1028775" y="2176165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RPCA</a:t>
            </a:r>
            <a:r>
              <a:rPr lang="zh-CN" altLang="en-US" sz="3200" b="1" dirty="0"/>
              <a:t>去噪</a:t>
            </a:r>
          </a:p>
        </p:txBody>
      </p:sp>
    </p:spTree>
    <p:extLst>
      <p:ext uri="{BB962C8B-B14F-4D97-AF65-F5344CB8AC3E}">
        <p14:creationId xmlns:p14="http://schemas.microsoft.com/office/powerpoint/2010/main" val="32429432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60938">
        <p15:prstTrans prst="pageCurlDouble"/>
      </p:transition>
    </mc:Choice>
    <mc:Fallback>
      <p:transition spd="slow" advClick="0" advTm="60938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cs typeface="+mn-ea"/>
                <a:sym typeface="+mn-lt"/>
              </a:rPr>
              <a:t>03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cs typeface="+mn-ea"/>
                <a:sym typeface="+mn-lt"/>
              </a:rPr>
              <a:t>目前取得的结果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659">
        <p15:prstTrans prst="pageCurlDouble"/>
      </p:transition>
    </mc:Choice>
    <mc:Fallback>
      <p:transition spd="slow" advTm="1659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目前取得的结果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882E67-2037-4CB2-BB4B-71CDAFF377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65" y="2104157"/>
            <a:ext cx="5334610" cy="40014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9EBE11-8AF9-49F7-A9B7-FFB1B4275D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5" y="2104157"/>
            <a:ext cx="5334610" cy="400141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EDB12C-B87A-4CCF-B478-4DD4203FE311}"/>
              </a:ext>
            </a:extLst>
          </p:cNvPr>
          <p:cNvSpPr txBox="1"/>
          <p:nvPr/>
        </p:nvSpPr>
        <p:spPr>
          <a:xfrm>
            <a:off x="3693071" y="620861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三维地震数据</a:t>
            </a:r>
          </a:p>
        </p:txBody>
      </p:sp>
    </p:spTree>
    <p:extLst>
      <p:ext uri="{BB962C8B-B14F-4D97-AF65-F5344CB8AC3E}">
        <p14:creationId xmlns:p14="http://schemas.microsoft.com/office/powerpoint/2010/main" val="31655074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13222">
        <p15:prstTrans prst="pageCurlDouble"/>
      </p:transition>
    </mc:Choice>
    <mc:Fallback>
      <p:transition spd="slow" advClick="0" advTm="13222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目前取得的结果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BFDA52-F6F5-4D0D-A117-45934950D2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65" y="2176165"/>
            <a:ext cx="5334610" cy="40014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28F87B6-721C-42F4-9C8A-236905F3D7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5" y="2176165"/>
            <a:ext cx="5334610" cy="40014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60854AA-0706-4E71-933C-180398350284}"/>
              </a:ext>
            </a:extLst>
          </p:cNvPr>
          <p:cNvSpPr txBox="1"/>
          <p:nvPr/>
        </p:nvSpPr>
        <p:spPr>
          <a:xfrm>
            <a:off x="5169235" y="628062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异常值数据</a:t>
            </a:r>
          </a:p>
        </p:txBody>
      </p:sp>
    </p:spTree>
    <p:extLst>
      <p:ext uri="{BB962C8B-B14F-4D97-AF65-F5344CB8AC3E}">
        <p14:creationId xmlns:p14="http://schemas.microsoft.com/office/powerpoint/2010/main" val="34991174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14722">
        <p15:prstTrans prst="pageCurlDouble"/>
      </p:transition>
    </mc:Choice>
    <mc:Fallback>
      <p:transition spd="slow" advClick="0" advTm="14722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目前取得的结果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392458-E837-4DBC-BDBD-9B09715375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65" y="2177307"/>
            <a:ext cx="5334610" cy="40014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0A2E4DE-E497-4030-AF9E-4F91484F41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5" y="2177307"/>
            <a:ext cx="5334610" cy="40014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5851058-3432-4467-B9C8-BDC5017AE779}"/>
              </a:ext>
            </a:extLst>
          </p:cNvPr>
          <p:cNvSpPr txBox="1"/>
          <p:nvPr/>
        </p:nvSpPr>
        <p:spPr>
          <a:xfrm>
            <a:off x="5071318" y="6280621"/>
            <a:ext cx="271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含异常值的三维地震数据</a:t>
            </a:r>
          </a:p>
        </p:txBody>
      </p:sp>
    </p:spTree>
    <p:extLst>
      <p:ext uri="{BB962C8B-B14F-4D97-AF65-F5344CB8AC3E}">
        <p14:creationId xmlns:p14="http://schemas.microsoft.com/office/powerpoint/2010/main" val="42509084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19988">
        <p15:prstTrans prst="pageCurlDouble"/>
      </p:transition>
    </mc:Choice>
    <mc:Fallback>
      <p:transition spd="slow" advClick="0" advTm="19988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目前取得的结果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7DDE65-704F-45C8-8BDA-4E9E0E9D0686}"/>
              </a:ext>
            </a:extLst>
          </p:cNvPr>
          <p:cNvSpPr txBox="1"/>
          <p:nvPr/>
        </p:nvSpPr>
        <p:spPr>
          <a:xfrm>
            <a:off x="5097227" y="6136605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经</a:t>
            </a:r>
            <a:r>
              <a:rPr lang="en-US" altLang="zh-CN" dirty="0"/>
              <a:t>RPCA</a:t>
            </a:r>
            <a:r>
              <a:rPr lang="zh-CN" altLang="en-US" dirty="0"/>
              <a:t>处理后的地震道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A8E81E2-733E-41BC-A8A4-2931CD607E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" y="2712467"/>
            <a:ext cx="3838466" cy="287917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7C47616-3A64-49AB-A9E7-DFECBD554C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594" y="2711645"/>
            <a:ext cx="3839562" cy="288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33DC7F5-8DC1-4B32-BA88-802F8F5008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501" y="2712467"/>
            <a:ext cx="3839562" cy="28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9602264-819C-4453-AED9-788D44CF2A82}"/>
                  </a:ext>
                </a:extLst>
              </p:cNvPr>
              <p:cNvSpPr txBox="1"/>
              <p:nvPr/>
            </p:nvSpPr>
            <p:spPr>
              <a:xfrm>
                <a:off x="776747" y="5494793"/>
                <a:ext cx="11305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=10^-4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      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=10^-5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=10^-6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9602264-819C-4453-AED9-788D44CF2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7" y="5494793"/>
                <a:ext cx="11305256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5750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42997">
        <p15:prstTrans prst="pageCurlDouble"/>
      </p:transition>
    </mc:Choice>
    <mc:Fallback>
      <p:transition spd="slow" advClick="0" advTm="42997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目前取得的结果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15DA86-6B66-454F-BC6D-D0EF0A68C2AD}"/>
              </a:ext>
            </a:extLst>
          </p:cNvPr>
          <p:cNvSpPr txBox="1"/>
          <p:nvPr/>
        </p:nvSpPr>
        <p:spPr>
          <a:xfrm>
            <a:off x="5107322" y="6280621"/>
            <a:ext cx="2644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经</a:t>
            </a:r>
            <a:r>
              <a:rPr lang="en-US" altLang="zh-CN" dirty="0"/>
              <a:t>RPCA</a:t>
            </a:r>
            <a:r>
              <a:rPr lang="zh-CN" altLang="en-US" dirty="0"/>
              <a:t>处理后的频谱图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B55CA5-F700-47C1-ACC5-774C46D80E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78" y="2270897"/>
            <a:ext cx="3839562" cy="288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04DF72-8378-4CDD-ACAA-E164015F66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883" y="2268426"/>
            <a:ext cx="3839562" cy="288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1563F4-0AF0-4113-BEC8-D4D908A5B11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188" y="2268426"/>
            <a:ext cx="3839562" cy="28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13D0276-677A-4A27-A45C-FEC7537CDA0C}"/>
                  </a:ext>
                </a:extLst>
              </p:cNvPr>
              <p:cNvSpPr txBox="1"/>
              <p:nvPr/>
            </p:nvSpPr>
            <p:spPr>
              <a:xfrm>
                <a:off x="884759" y="5272509"/>
                <a:ext cx="11305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=10^-4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      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=10^-5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=10^-6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13D0276-677A-4A27-A45C-FEC7537CD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759" y="5272509"/>
                <a:ext cx="11305256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56125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5551">
        <p15:prstTrans prst="pageCurlDouble"/>
      </p:transition>
    </mc:Choice>
    <mc:Fallback>
      <p:transition spd="slow" advClick="0" advTm="3555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下一步研究计划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4284">
        <p15:prstTrans prst="pageCurlDouble"/>
      </p:transition>
    </mc:Choice>
    <mc:Fallback>
      <p:transition spd="slow" advTm="428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下一步研究计划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414B0F7E-F346-4533-87EB-C25683272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799" y="2104157"/>
            <a:ext cx="10513168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1C1C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rgbClr val="1C1C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将该方法用于更多实际数据中，分析比较稳健主成分分析算法的优势。</a:t>
            </a:r>
            <a:endParaRPr lang="en-US" altLang="zh-CN" dirty="0">
              <a:solidFill>
                <a:srgbClr val="1C1C1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dirty="0">
              <a:solidFill>
                <a:srgbClr val="1C1C1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1C1C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rgbClr val="1C1C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阅读文献，综合整理稳健主成分分析在地震领域中的应用。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1C1C1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1C1C1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撰写毕业论文，为最终答辩做准备。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1C1C1C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1C1C1C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1C1C1C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1C1C1C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dirty="0">
              <a:solidFill>
                <a:srgbClr val="1C1C1C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1C1C1C"/>
                </a:solidFill>
              </a:rPr>
              <a:t>   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58603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800">
        <p15:prstTrans prst="pageCurlDouble"/>
      </p:transition>
    </mc:Choice>
    <mc:Fallback>
      <p:transition spd="slow" advClick="0" advTm="308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点击输入标题内容</a:t>
            </a:r>
          </a:p>
        </p:txBody>
      </p:sp>
      <p:sp>
        <p:nvSpPr>
          <p:cNvPr id="33" name="Text Box 3">
            <a:extLst>
              <a:ext uri="{FF2B5EF4-FFF2-40B4-BE49-F238E27FC236}">
                <a16:creationId xmlns:a16="http://schemas.microsoft.com/office/drawing/2014/main" id="{8A14D6FA-E2D0-40BC-A922-D7B84988F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7047" y="2968253"/>
            <a:ext cx="579437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5400" dirty="0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报告完毕</a:t>
            </a:r>
          </a:p>
          <a:p>
            <a:pPr algn="ctr" defTabSz="914400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5400" dirty="0">
                <a:solidFill>
                  <a:srgbClr val="FF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请各位老师指正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7503">
        <p15:prstTrans prst="pageCurlDouble"/>
      </p:transition>
    </mc:Choice>
    <mc:Fallback>
      <p:transition spd="slow" advClick="0" advTm="7503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heme/theme1.xml><?xml version="1.0" encoding="utf-8"?>
<a:theme xmlns:a="http://schemas.openxmlformats.org/drawingml/2006/main" name="自定义设计方案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0070C0"/>
      </a:accent5>
      <a:accent6>
        <a:srgbClr val="00B0F0"/>
      </a:accent6>
      <a:hlink>
        <a:srgbClr val="0070C0"/>
      </a:hlink>
      <a:folHlink>
        <a:srgbClr val="00B0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Impac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自定义</PresentationFormat>
  <Paragraphs>89</Paragraphs>
  <Slides>17</Slides>
  <Notes>17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黑体</vt:lpstr>
      <vt:lpstr>微软雅黑</vt:lpstr>
      <vt:lpstr>Arial</vt:lpstr>
      <vt:lpstr>Calibri</vt:lpstr>
      <vt:lpstr>Cambria Math</vt:lpstr>
      <vt:lpstr>Impact</vt:lpstr>
      <vt:lpstr>Verdana</vt:lpstr>
      <vt:lpstr>Wingdings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bt097</dc:title>
  <dc:creator/>
  <cp:lastModifiedBy/>
  <cp:revision>3</cp:revision>
  <dcterms:created xsi:type="dcterms:W3CDTF">2016-11-12T16:40:00Z</dcterms:created>
  <dcterms:modified xsi:type="dcterms:W3CDTF">2020-04-16T03:34:39Z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