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342" r:id="rId2"/>
    <p:sldId id="365" r:id="rId3"/>
    <p:sldId id="326" r:id="rId4"/>
    <p:sldId id="321" r:id="rId5"/>
    <p:sldId id="367" r:id="rId6"/>
    <p:sldId id="376" r:id="rId7"/>
    <p:sldId id="387" r:id="rId8"/>
    <p:sldId id="359" r:id="rId9"/>
    <p:sldId id="377" r:id="rId10"/>
    <p:sldId id="385" r:id="rId11"/>
    <p:sldId id="386" r:id="rId12"/>
    <p:sldId id="328" r:id="rId13"/>
    <p:sldId id="383" r:id="rId14"/>
    <p:sldId id="380" r:id="rId15"/>
    <p:sldId id="382" r:id="rId16"/>
    <p:sldId id="368" r:id="rId17"/>
    <p:sldId id="332" r:id="rId18"/>
    <p:sldId id="372" r:id="rId19"/>
    <p:sldId id="338" r:id="rId20"/>
  </p:sldIdLst>
  <p:sldSz cx="9144000" cy="5143500" type="screen16x9"/>
  <p:notesSz cx="6858000" cy="9144000"/>
  <p:defaultTextStyle>
    <a:defPPr>
      <a:defRPr lang="zh-CN"/>
    </a:defPPr>
    <a:lvl1pPr marL="0" lvl="0" indent="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1pPr>
    <a:lvl2pPr marL="342900" lvl="1" indent="11430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2pPr>
    <a:lvl3pPr marL="685800" lvl="2" indent="22860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3pPr>
    <a:lvl4pPr marL="1028700" lvl="3" indent="34290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4pPr>
    <a:lvl5pPr marL="1371600" lvl="4"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5pPr>
    <a:lvl6pPr marL="2286000" lvl="5"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6pPr>
    <a:lvl7pPr marL="2743200" lvl="6"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7pPr>
    <a:lvl8pPr marL="3200400" lvl="7"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8pPr>
    <a:lvl9pPr marL="3657600" lvl="8" indent="457200" algn="l" defTabSz="685800" eaLnBrk="1" fontAlgn="base" latinLnBrk="0" hangingPunct="1">
      <a:lnSpc>
        <a:spcPct val="100000"/>
      </a:lnSpc>
      <a:spcBef>
        <a:spcPct val="0"/>
      </a:spcBef>
      <a:spcAft>
        <a:spcPct val="0"/>
      </a:spcAft>
      <a:buNone/>
      <a:defRPr sz="1300" b="0" i="0" u="none" kern="1200" baseline="0">
        <a:solidFill>
          <a:schemeClr val="tx1"/>
        </a:solidFill>
        <a:latin typeface="方正正黑简体" panose="02000000000000000000" pitchFamily="2" charset="-122"/>
        <a:ea typeface="方正正黑简体" panose="02000000000000000000" pitchFamily="2" charset="-122"/>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p:restoredTop sz="95046" autoAdjust="0"/>
  </p:normalViewPr>
  <p:slideViewPr>
    <p:cSldViewPr snapToGrid="0" showGuides="1">
      <p:cViewPr varScale="1">
        <p:scale>
          <a:sx n="152" d="100"/>
          <a:sy n="152" d="100"/>
        </p:scale>
        <p:origin x="426" y="108"/>
      </p:cViewPr>
      <p:guideLst>
        <p:guide orient="horz" pos="1620"/>
        <p:guide pos="2880"/>
      </p:guideLst>
    </p:cSldViewPr>
  </p:slideViewPr>
  <p:notesTextViewPr>
    <p:cViewPr>
      <p:scale>
        <a:sx n="1" d="1"/>
        <a:sy n="1" d="1"/>
      </p:scale>
      <p:origin x="0" y="0"/>
    </p:cViewPr>
  </p:notesTextViewPr>
  <p:sorterViewPr showFormatting="0">
    <p:cViewPr>
      <p:scale>
        <a:sx n="126" d="100"/>
        <a:sy n="12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2020/1/6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fontAlgn="base" hangingPunct="1"/>
            <a:fld id="{9A0DB2DC-4C9A-4742-B13C-FB6460FD3503}" type="slidenum">
              <a:rPr lang="zh-CN" altLang="en-US" sz="1200" strike="noStrike" noProof="1" dirty="0">
                <a:latin typeface="Calibri" panose="020F0502020204030204" pitchFamily="34" charset="0"/>
                <a:ea typeface="宋体" panose="02010600030101010101" pitchFamily="2" charset="-122"/>
                <a:cs typeface="+mn-ea"/>
              </a:rPr>
              <a:t>‹#›</a:t>
            </a:fld>
            <a:endParaRPr lang="zh-CN" altLang="en-US" sz="1200" strike="noStrike" noProof="1">
              <a:latin typeface="Calibri" panose="020F050202020403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13314"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r>
              <a:rPr lang="zh-CN" altLang="en-US" dirty="0"/>
              <a:t> 猪七爷旗舰店</a:t>
            </a:r>
            <a:r>
              <a:rPr lang="en-US" altLang="zh-CN" dirty="0"/>
              <a:t>猪七爷</a:t>
            </a:r>
          </a:p>
        </p:txBody>
      </p:sp>
      <p:sp>
        <p:nvSpPr>
          <p:cNvPr id="13315"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15362"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15363"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2</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318532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1741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17411"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3</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19458"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19459"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4</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789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37891"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5</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906845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60418"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60419"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6</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962275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60418"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60419"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7</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4133462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789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37891"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8</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695014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60418"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60419"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9</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106369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60418"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60419"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10</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937671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60418"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60419"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11</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430401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7890"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37891"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12</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TextEdit="1"/>
          </p:cNvSpPr>
          <p:nvPr>
            <p:ph type="sldImg"/>
          </p:nvPr>
        </p:nvSpPr>
        <p:spPr>
          <a:ln>
            <a:solidFill>
              <a:srgbClr val="000000"/>
            </a:solidFill>
            <a:miter/>
          </a:ln>
        </p:spPr>
      </p:sp>
      <p:sp>
        <p:nvSpPr>
          <p:cNvPr id="44034"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r>
              <a:rPr lang="zh-CN" altLang="en-US" dirty="0"/>
              <a:t>定性：</a:t>
            </a:r>
            <a:r>
              <a:rPr lang="en-US" altLang="zh-CN" dirty="0"/>
              <a:t>β</a:t>
            </a:r>
            <a:r>
              <a:rPr lang="zh-CN" altLang="en-US" dirty="0"/>
              <a:t>，分布密度函数，训练集使用不够充分</a:t>
            </a:r>
          </a:p>
        </p:txBody>
      </p:sp>
      <p:sp>
        <p:nvSpPr>
          <p:cNvPr id="44035"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13</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891794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TextEdit="1"/>
          </p:cNvSpPr>
          <p:nvPr>
            <p:ph type="sldImg"/>
          </p:nvPr>
        </p:nvSpPr>
        <p:spPr>
          <a:ln>
            <a:solidFill>
              <a:srgbClr val="000000"/>
            </a:solidFill>
            <a:miter/>
          </a:ln>
        </p:spPr>
      </p:sp>
      <p:sp>
        <p:nvSpPr>
          <p:cNvPr id="44034"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r>
              <a:rPr lang="zh-CN" altLang="en-US" dirty="0"/>
              <a:t>定性：</a:t>
            </a:r>
            <a:r>
              <a:rPr lang="en-US" altLang="zh-CN" dirty="0"/>
              <a:t>β</a:t>
            </a:r>
            <a:r>
              <a:rPr lang="zh-CN" altLang="en-US" dirty="0"/>
              <a:t>，分布密度函数，训练集使用不够充分</a:t>
            </a:r>
          </a:p>
        </p:txBody>
      </p:sp>
      <p:sp>
        <p:nvSpPr>
          <p:cNvPr id="44035"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14</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396874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TextEdit="1"/>
          </p:cNvSpPr>
          <p:nvPr>
            <p:ph type="sldImg"/>
          </p:nvPr>
        </p:nvSpPr>
        <p:spPr>
          <a:ln>
            <a:solidFill>
              <a:srgbClr val="000000"/>
            </a:solidFill>
            <a:miter/>
          </a:ln>
        </p:spPr>
      </p:sp>
      <p:sp>
        <p:nvSpPr>
          <p:cNvPr id="44034"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r>
              <a:rPr lang="zh-CN" altLang="en-US" dirty="0"/>
              <a:t>定性：</a:t>
            </a:r>
            <a:r>
              <a:rPr lang="en-US" altLang="zh-CN" dirty="0"/>
              <a:t>β</a:t>
            </a:r>
            <a:r>
              <a:rPr lang="zh-CN" altLang="en-US" dirty="0"/>
              <a:t>，分布密度函数，训练集使用不够充分</a:t>
            </a:r>
          </a:p>
        </p:txBody>
      </p:sp>
      <p:sp>
        <p:nvSpPr>
          <p:cNvPr id="44035"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15</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385305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noTextEdit="1"/>
          </p:cNvSpPr>
          <p:nvPr>
            <p:ph type="sldImg"/>
          </p:nvPr>
        </p:nvSpPr>
        <p:spPr>
          <a:ln>
            <a:solidFill>
              <a:srgbClr val="000000"/>
            </a:solidFill>
            <a:miter/>
          </a:ln>
        </p:spPr>
      </p:sp>
      <p:sp>
        <p:nvSpPr>
          <p:cNvPr id="44034"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r>
              <a:rPr lang="zh-CN" altLang="en-US" dirty="0"/>
              <a:t>定性：</a:t>
            </a:r>
            <a:r>
              <a:rPr lang="en-US" altLang="zh-CN" dirty="0"/>
              <a:t>β</a:t>
            </a:r>
            <a:r>
              <a:rPr lang="zh-CN" altLang="en-US" dirty="0"/>
              <a:t>，分布密度函数，训练集使用不够充分</a:t>
            </a:r>
          </a:p>
        </p:txBody>
      </p:sp>
      <p:sp>
        <p:nvSpPr>
          <p:cNvPr id="44035"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16</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921945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46082"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46083"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17</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56322"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56323"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18</a:t>
            </a:fld>
            <a:endParaRPr lang="zh-CN" altLang="en-US" sz="1200" dirty="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203818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66562"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66563" name="灯片编号占位符 3"/>
          <p:cNvSpPr txBox="1">
            <a:spLocks noGrp="1"/>
          </p:cNvSpPr>
          <p:nvPr>
            <p:ph type="sldNum" sz="quarter"/>
          </p:nvPr>
        </p:nvSpPr>
        <p:spPr>
          <a:xfrm>
            <a:off x="3884613" y="8685213"/>
            <a:ext cx="2971800" cy="458787"/>
          </a:xfrm>
          <a:prstGeom prst="rect">
            <a:avLst/>
          </a:prstGeom>
          <a:noFill/>
          <a:ln w="9525">
            <a:noFill/>
          </a:ln>
        </p:spPr>
        <p:txBody>
          <a:bodyPr wrap="square" lIns="91440" tIns="45720" rIns="91440" bIns="45720" anchor="b"/>
          <a:lstStyle/>
          <a:p>
            <a:pPr lvl="0" indent="0" algn="r"/>
            <a:fld id="{9A0DB2DC-4C9A-4742-B13C-FB6460FD3503}" type="slidenum">
              <a:rPr lang="zh-CN" altLang="en-US" sz="1200" dirty="0">
                <a:latin typeface="Calibri" panose="020F0502020204030204" pitchFamily="34" charset="0"/>
                <a:ea typeface="宋体" panose="02010600030101010101" pitchFamily="2" charset="-122"/>
              </a:rPr>
              <a:t>19</a:t>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050" name="图片 1"/>
          <p:cNvPicPr>
            <a:picLocks noChangeAspect="1"/>
          </p:cNvPicPr>
          <p:nvPr userDrawn="1"/>
        </p:nvPicPr>
        <p:blipFill>
          <a:blip r:embed="rId2" cstate="print"/>
          <a:stretch>
            <a:fillRect/>
          </a:stretch>
        </p:blipFill>
        <p:spPr>
          <a:xfrm>
            <a:off x="0" y="0"/>
            <a:ext cx="9145588" cy="5143500"/>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lvl1pPr>
              <a:defRPr>
                <a:ea typeface="微软雅黑" panose="020B0503020204020204" pitchFamily="34" charset="-122"/>
              </a:defRPr>
            </a:lvl1p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50" y="1369219"/>
            <a:ext cx="3886200" cy="3263504"/>
          </a:xfrm>
          <a:prstGeom prst="rect">
            <a:avLst/>
          </a:prstGeo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Content Placeholder 3"/>
          <p:cNvSpPr>
            <a:spLocks noGrp="1"/>
          </p:cNvSpPr>
          <p:nvPr>
            <p:ph sz="half" idx="2"/>
          </p:nvPr>
        </p:nvSpPr>
        <p:spPr>
          <a:xfrm>
            <a:off x="4629150" y="1369219"/>
            <a:ext cx="3886200" cy="3263504"/>
          </a:xfrm>
          <a:prstGeom prst="rect">
            <a:avLst/>
          </a:prstGeo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Date Placeholder 4"/>
          <p:cNvSpPr>
            <a:spLocks noGrp="1"/>
          </p:cNvSpPr>
          <p:nvPr>
            <p:ph type="dt" sz="half" idx="12"/>
          </p:nvPr>
        </p:nvSpPr>
        <p:spPr>
          <a:xfrm>
            <a:off x="628650" y="4767263"/>
            <a:ext cx="20574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6" name="Footer Placeholder 5"/>
          <p:cNvSpPr>
            <a:spLocks noGrp="1"/>
          </p:cNvSpPr>
          <p:nvPr>
            <p:ph type="ftr" sz="quarter" idx="3"/>
          </p:nvPr>
        </p:nvSpPr>
        <p:spPr>
          <a:xfrm>
            <a:off x="3028950" y="4767263"/>
            <a:ext cx="30861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7" name="Slide Number Placeholder 6"/>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t" anchorCtr="0" compatLnSpc="1"/>
          <a:lstStyle/>
          <a:p>
            <a:pPr lvl="0" eaLnBrk="1" fontAlgn="base" hangingPunct="1"/>
            <a:fld id="{9A0DB2DC-4C9A-4742-B13C-FB6460FD3503}" type="slidenum">
              <a:rPr lang="zh-CN" altLang="en-US" strike="noStrike" noProof="1" dirty="0">
                <a:latin typeface="方正正黑简体" panose="02000000000000000000" pitchFamily="2" charset="-122"/>
                <a:ea typeface="微软雅黑" panose="020B0503020204020204" pitchFamily="34" charset="-122"/>
                <a:cs typeface="+mn-ea"/>
              </a:rPr>
              <a:t>‹#›</a:t>
            </a:fld>
            <a:endParaRPr lang="zh-CN" altLang="en-US" strike="noStrike" noProof="1">
              <a:ea typeface="微软雅黑" panose="020B0503020204020204"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a:prstGeom prst="rect">
            <a:avLst/>
          </a:prstGeom>
        </p:spPr>
        <p:txBody>
          <a:bodyPr/>
          <a:lstStyle>
            <a:lvl1pPr>
              <a:defRPr>
                <a:ea typeface="微软雅黑" panose="020B0503020204020204" pitchFamily="34" charset="-122"/>
              </a:defRPr>
            </a:lvl1p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42" y="1260872"/>
            <a:ext cx="3868340" cy="617934"/>
          </a:xfrm>
          <a:prstGeom prst="rect">
            <a:avLst/>
          </a:prstGeom>
        </p:spPr>
        <p:txBody>
          <a:bodyPr anchor="b"/>
          <a:lstStyle>
            <a:lvl1pPr marL="0" indent="0">
              <a:buNone/>
              <a:defRPr sz="1800" b="1">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p>
        </p:txBody>
      </p:sp>
      <p:sp>
        <p:nvSpPr>
          <p:cNvPr id="4" name="Content Placeholder 3"/>
          <p:cNvSpPr>
            <a:spLocks noGrp="1"/>
          </p:cNvSpPr>
          <p:nvPr>
            <p:ph sz="half" idx="2"/>
          </p:nvPr>
        </p:nvSpPr>
        <p:spPr>
          <a:xfrm>
            <a:off x="629842" y="1878806"/>
            <a:ext cx="3868340" cy="2763441"/>
          </a:xfrm>
          <a:prstGeom prst="rect">
            <a:avLst/>
          </a:prstGeo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Text Placeholder 4"/>
          <p:cNvSpPr>
            <a:spLocks noGrp="1"/>
          </p:cNvSpPr>
          <p:nvPr>
            <p:ph type="body" sz="quarter" idx="3"/>
          </p:nvPr>
        </p:nvSpPr>
        <p:spPr>
          <a:xfrm>
            <a:off x="4629150" y="1260872"/>
            <a:ext cx="3887391" cy="617934"/>
          </a:xfrm>
          <a:prstGeom prst="rect">
            <a:avLst/>
          </a:prstGeom>
        </p:spPr>
        <p:txBody>
          <a:bodyPr anchor="b"/>
          <a:lstStyle>
            <a:lvl1pPr marL="0" indent="0">
              <a:buNone/>
              <a:defRPr sz="1800" b="1">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a:t>单击此处编辑母版文本样式</a:t>
            </a:r>
          </a:p>
        </p:txBody>
      </p:sp>
      <p:sp>
        <p:nvSpPr>
          <p:cNvPr id="6" name="Content Placeholder 5"/>
          <p:cNvSpPr>
            <a:spLocks noGrp="1"/>
          </p:cNvSpPr>
          <p:nvPr>
            <p:ph sz="quarter" idx="4"/>
          </p:nvPr>
        </p:nvSpPr>
        <p:spPr>
          <a:xfrm>
            <a:off x="4629150" y="1878806"/>
            <a:ext cx="3887391" cy="2763441"/>
          </a:xfrm>
          <a:prstGeom prst="rect">
            <a:avLst/>
          </a:prstGeom>
        </p:spPr>
        <p:txBody>
          <a:bodyPr/>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7" name="Date Placeholder 6"/>
          <p:cNvSpPr>
            <a:spLocks noGrp="1"/>
          </p:cNvSpPr>
          <p:nvPr>
            <p:ph type="dt" sz="half" idx="12"/>
          </p:nvPr>
        </p:nvSpPr>
        <p:spPr>
          <a:xfrm>
            <a:off x="628650" y="4767263"/>
            <a:ext cx="20574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8" name="Footer Placeholder 7"/>
          <p:cNvSpPr>
            <a:spLocks noGrp="1"/>
          </p:cNvSpPr>
          <p:nvPr>
            <p:ph type="ftr" sz="quarter" idx="13"/>
          </p:nvPr>
        </p:nvSpPr>
        <p:spPr>
          <a:xfrm>
            <a:off x="3028950" y="4767263"/>
            <a:ext cx="30861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9" name="Slide Number Placeholder 8"/>
          <p:cNvSpPr>
            <a:spLocks noGrp="1"/>
          </p:cNvSpPr>
          <p:nvPr>
            <p:ph type="sldNum" sz="quarter" idx="14"/>
          </p:nvPr>
        </p:nvSpPr>
        <p:spPr>
          <a:xfrm>
            <a:off x="6457950" y="4767263"/>
            <a:ext cx="2057400" cy="274638"/>
          </a:xfrm>
          <a:prstGeom prst="rect">
            <a:avLst/>
          </a:prstGeom>
        </p:spPr>
        <p:txBody>
          <a:bodyPr vert="horz" wrap="square" lIns="91440" tIns="45720" rIns="91440" bIns="45720" numCol="1" anchor="t" anchorCtr="0" compatLnSpc="1"/>
          <a:lstStyle/>
          <a:p>
            <a:pPr lvl="0" eaLnBrk="1" fontAlgn="base" hangingPunct="1"/>
            <a:fld id="{9A0DB2DC-4C9A-4742-B13C-FB6460FD3503}" type="slidenum">
              <a:rPr lang="zh-CN" altLang="en-US" strike="noStrike" noProof="1" dirty="0">
                <a:latin typeface="方正正黑简体" panose="02000000000000000000" pitchFamily="2" charset="-122"/>
                <a:ea typeface="微软雅黑" panose="020B0503020204020204" pitchFamily="34" charset="-122"/>
                <a:cs typeface="+mn-ea"/>
              </a:rPr>
              <a:t>‹#›</a:t>
            </a:fld>
            <a:endParaRPr lang="zh-CN" altLang="en-US" strike="noStrike" noProof="1">
              <a:ea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lvl1pPr>
              <a:defRPr>
                <a:ea typeface="微软雅黑" panose="020B0503020204020204" pitchFamily="34" charset="-122"/>
              </a:defRPr>
            </a:lvl1pPr>
          </a:lstStyle>
          <a:p>
            <a:pPr fontAlgn="base"/>
            <a:r>
              <a:rPr lang="zh-CN" altLang="en-US" strike="noStrike" noProof="1"/>
              <a:t>单击此处编辑母版标题样式</a:t>
            </a:r>
            <a:endParaRPr lang="en-US" strike="noStrike" noProof="1"/>
          </a:p>
        </p:txBody>
      </p:sp>
      <p:sp>
        <p:nvSpPr>
          <p:cNvPr id="3" name="Date Placeholder 2"/>
          <p:cNvSpPr>
            <a:spLocks noGrp="1"/>
          </p:cNvSpPr>
          <p:nvPr>
            <p:ph type="dt" sz="half" idx="2"/>
          </p:nvPr>
        </p:nvSpPr>
        <p:spPr>
          <a:xfrm>
            <a:off x="628650" y="4767263"/>
            <a:ext cx="20574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4" name="Footer Placeholder 3"/>
          <p:cNvSpPr>
            <a:spLocks noGrp="1"/>
          </p:cNvSpPr>
          <p:nvPr>
            <p:ph type="ftr" sz="quarter" idx="3"/>
          </p:nvPr>
        </p:nvSpPr>
        <p:spPr>
          <a:xfrm>
            <a:off x="3028950" y="4767263"/>
            <a:ext cx="30861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5" name="Slide Number Placeholder 4"/>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t" anchorCtr="0" compatLnSpc="1"/>
          <a:lstStyle/>
          <a:p>
            <a:pPr lvl="0" eaLnBrk="1" fontAlgn="base" hangingPunct="1"/>
            <a:fld id="{9A0DB2DC-4C9A-4742-B13C-FB6460FD3503}" type="slidenum">
              <a:rPr lang="zh-CN" altLang="en-US" strike="noStrike" noProof="1" dirty="0">
                <a:latin typeface="方正正黑简体" panose="02000000000000000000" pitchFamily="2" charset="-122"/>
                <a:ea typeface="微软雅黑" panose="020B0503020204020204" pitchFamily="34" charset="-122"/>
                <a:cs typeface="+mn-ea"/>
              </a:rPr>
              <a:t>‹#›</a:t>
            </a:fld>
            <a:endParaRPr lang="zh-CN" altLang="en-US" strike="noStrike" noProof="1">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2"/>
          </p:nvPr>
        </p:nvSpPr>
        <p:spPr>
          <a:xfrm>
            <a:off x="628650" y="4767263"/>
            <a:ext cx="20574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3" name="Footer Placeholder 2"/>
          <p:cNvSpPr>
            <a:spLocks noGrp="1"/>
          </p:cNvSpPr>
          <p:nvPr>
            <p:ph type="ftr" sz="quarter" idx="3"/>
          </p:nvPr>
        </p:nvSpPr>
        <p:spPr>
          <a:xfrm>
            <a:off x="3028950" y="4767263"/>
            <a:ext cx="30861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4" name="Slide Number Placeholder 3"/>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t" anchorCtr="0" compatLnSpc="1"/>
          <a:lstStyle/>
          <a:p>
            <a:pPr lvl="0" eaLnBrk="1" fontAlgn="base" hangingPunct="1"/>
            <a:fld id="{9A0DB2DC-4C9A-4742-B13C-FB6460FD3503}" type="slidenum">
              <a:rPr lang="zh-CN" altLang="en-US" strike="noStrike" noProof="1" dirty="0">
                <a:latin typeface="方正正黑简体" panose="02000000000000000000" pitchFamily="2" charset="-122"/>
                <a:ea typeface="微软雅黑" panose="020B0503020204020204" pitchFamily="34" charset="-122"/>
                <a:cs typeface="+mn-ea"/>
              </a:rPr>
              <a:t>‹#›</a:t>
            </a:fld>
            <a:endParaRPr lang="zh-CN" altLang="en-US" strike="noStrike" noProof="1">
              <a:ea typeface="微软雅黑" panose="020B0503020204020204"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ea typeface="微软雅黑" panose="020B0503020204020204" pitchFamily="34" charset="-122"/>
              </a:defRPr>
            </a:lvl1p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p:nvPr>
        </p:nvSpPr>
        <p:spPr>
          <a:xfrm>
            <a:off x="3887391" y="740569"/>
            <a:ext cx="4629150" cy="3655219"/>
          </a:xfrm>
          <a:prstGeom prst="rect">
            <a:avLst/>
          </a:prstGeom>
        </p:spPr>
        <p:txBody>
          <a:bodyPr/>
          <a:lstStyle>
            <a:lvl1pPr>
              <a:defRPr sz="2400">
                <a:ea typeface="微软雅黑" panose="020B0503020204020204" pitchFamily="34" charset="-122"/>
              </a:defRPr>
            </a:lvl1pPr>
            <a:lvl2pPr>
              <a:defRPr sz="2100">
                <a:ea typeface="微软雅黑" panose="020B0503020204020204" pitchFamily="34" charset="-122"/>
              </a:defRPr>
            </a:lvl2pPr>
            <a:lvl3pPr>
              <a:defRPr sz="1800">
                <a:ea typeface="微软雅黑" panose="020B0503020204020204" pitchFamily="34" charset="-122"/>
              </a:defRPr>
            </a:lvl3pPr>
            <a:lvl4pPr>
              <a:defRPr sz="1500">
                <a:ea typeface="微软雅黑" panose="020B0503020204020204" pitchFamily="34" charset="-122"/>
              </a:defRPr>
            </a:lvl4pPr>
            <a:lvl5pPr>
              <a:defRPr sz="1500">
                <a:ea typeface="微软雅黑" panose="020B0503020204020204" pitchFamily="34" charset="-122"/>
              </a:defRPr>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ea typeface="微软雅黑" panose="020B0503020204020204" pitchFamily="34"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Date Placeholder 4"/>
          <p:cNvSpPr>
            <a:spLocks noGrp="1"/>
          </p:cNvSpPr>
          <p:nvPr>
            <p:ph type="dt" sz="half" idx="12"/>
          </p:nvPr>
        </p:nvSpPr>
        <p:spPr>
          <a:xfrm>
            <a:off x="628650" y="4767263"/>
            <a:ext cx="20574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6" name="Footer Placeholder 5"/>
          <p:cNvSpPr>
            <a:spLocks noGrp="1"/>
          </p:cNvSpPr>
          <p:nvPr>
            <p:ph type="ftr" sz="quarter" idx="3"/>
          </p:nvPr>
        </p:nvSpPr>
        <p:spPr>
          <a:xfrm>
            <a:off x="3028950" y="4767263"/>
            <a:ext cx="30861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7" name="Slide Number Placeholder 6"/>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t" anchorCtr="0" compatLnSpc="1"/>
          <a:lstStyle/>
          <a:p>
            <a:pPr lvl="0" eaLnBrk="1" fontAlgn="base" hangingPunct="1"/>
            <a:fld id="{9A0DB2DC-4C9A-4742-B13C-FB6460FD3503}" type="slidenum">
              <a:rPr lang="zh-CN" altLang="en-US" strike="noStrike" noProof="1" dirty="0">
                <a:latin typeface="方正正黑简体" panose="02000000000000000000" pitchFamily="2" charset="-122"/>
                <a:ea typeface="微软雅黑" panose="020B0503020204020204" pitchFamily="34" charset="-122"/>
                <a:cs typeface="+mn-ea"/>
              </a:rPr>
              <a:t>‹#›</a:t>
            </a:fld>
            <a:endParaRPr lang="zh-CN" altLang="en-US" strike="noStrike" noProof="1">
              <a:ea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ea typeface="微软雅黑" panose="020B0503020204020204" pitchFamily="34" charset="-122"/>
              </a:defRPr>
            </a:lvl1pPr>
          </a:lstStyle>
          <a:p>
            <a:pPr fontAlgn="base"/>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391" y="740569"/>
            <a:ext cx="4629150" cy="3655219"/>
          </a:xfrm>
          <a:prstGeom prst="rect">
            <a:avLst/>
          </a:prstGeom>
        </p:spPr>
        <p:txBody>
          <a:bodyPr anchor="t"/>
          <a:lstStyle>
            <a:lvl1pPr marL="0" indent="0">
              <a:buNone/>
              <a:defRPr sz="2400">
                <a:ea typeface="微软雅黑" panose="020B0503020204020204" pitchFamily="34" charset="-122"/>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单击图标添加图片</a:t>
            </a:r>
            <a:endParaRPr kumimoji="0" lang="en-US" sz="24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ea typeface="微软雅黑" panose="020B0503020204020204" pitchFamily="34"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Date Placeholder 4"/>
          <p:cNvSpPr>
            <a:spLocks noGrp="1"/>
          </p:cNvSpPr>
          <p:nvPr>
            <p:ph type="dt" sz="half" idx="12"/>
          </p:nvPr>
        </p:nvSpPr>
        <p:spPr>
          <a:xfrm>
            <a:off x="628650" y="4767263"/>
            <a:ext cx="20574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6" name="Footer Placeholder 5"/>
          <p:cNvSpPr>
            <a:spLocks noGrp="1"/>
          </p:cNvSpPr>
          <p:nvPr>
            <p:ph type="ftr" sz="quarter" idx="3"/>
          </p:nvPr>
        </p:nvSpPr>
        <p:spPr>
          <a:xfrm>
            <a:off x="3028950" y="4767263"/>
            <a:ext cx="30861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7" name="Slide Number Placeholder 6"/>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t" anchorCtr="0" compatLnSpc="1"/>
          <a:lstStyle/>
          <a:p>
            <a:pPr lvl="0" eaLnBrk="1" fontAlgn="base" hangingPunct="1"/>
            <a:fld id="{9A0DB2DC-4C9A-4742-B13C-FB6460FD3503}" type="slidenum">
              <a:rPr lang="zh-CN" altLang="en-US" strike="noStrike" noProof="1" dirty="0">
                <a:latin typeface="方正正黑简体" panose="02000000000000000000" pitchFamily="2" charset="-122"/>
                <a:ea typeface="微软雅黑" panose="020B0503020204020204" pitchFamily="34" charset="-122"/>
                <a:cs typeface="+mn-ea"/>
              </a:rPr>
              <a:t>‹#›</a:t>
            </a:fld>
            <a:endParaRPr lang="zh-CN" altLang="en-US" strike="noStrike" noProof="1">
              <a:ea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lvl1pPr>
              <a:defRPr>
                <a:ea typeface="微软雅黑" panose="020B0503020204020204" pitchFamily="34" charset="-122"/>
              </a:defRPr>
            </a:lvl1pPr>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50" y="1369219"/>
            <a:ext cx="7886700" cy="3263504"/>
          </a:xfrm>
          <a:prstGeom prst="rect">
            <a:avLst/>
          </a:prstGeom>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Date Placeholder 3"/>
          <p:cNvSpPr>
            <a:spLocks noGrp="1"/>
          </p:cNvSpPr>
          <p:nvPr>
            <p:ph type="dt" sz="half" idx="2"/>
          </p:nvPr>
        </p:nvSpPr>
        <p:spPr>
          <a:xfrm>
            <a:off x="628650" y="4767263"/>
            <a:ext cx="20574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5" name="Footer Placeholder 4"/>
          <p:cNvSpPr>
            <a:spLocks noGrp="1"/>
          </p:cNvSpPr>
          <p:nvPr>
            <p:ph type="ftr" sz="quarter" idx="3"/>
          </p:nvPr>
        </p:nvSpPr>
        <p:spPr>
          <a:xfrm>
            <a:off x="3028950" y="4767263"/>
            <a:ext cx="30861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6" name="Slide Number Placeholder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t" anchorCtr="0" compatLnSpc="1"/>
          <a:lstStyle/>
          <a:p>
            <a:pPr lvl="0" eaLnBrk="1" fontAlgn="base" hangingPunct="1"/>
            <a:fld id="{9A0DB2DC-4C9A-4742-B13C-FB6460FD3503}" type="slidenum">
              <a:rPr lang="zh-CN" altLang="en-US" strike="noStrike" noProof="1" dirty="0">
                <a:latin typeface="方正正黑简体" panose="02000000000000000000" pitchFamily="2" charset="-122"/>
                <a:ea typeface="微软雅黑" panose="020B0503020204020204" pitchFamily="34" charset="-122"/>
                <a:cs typeface="+mn-ea"/>
              </a:rPr>
              <a:t>‹#›</a:t>
            </a:fld>
            <a:endParaRPr lang="zh-CN" altLang="en-US" strike="noStrike" noProof="1">
              <a:ea typeface="微软雅黑" panose="020B0503020204020204"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a:prstGeom prst="rect">
            <a:avLst/>
          </a:prstGeom>
        </p:spPr>
        <p:txBody>
          <a:bodyPr vert="eaVert"/>
          <a:lstStyle>
            <a:lvl1pPr>
              <a:defRPr>
                <a:ea typeface="微软雅黑" panose="020B0503020204020204" pitchFamily="34" charset="-122"/>
              </a:defRPr>
            </a:lvl1pPr>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50" y="273844"/>
            <a:ext cx="5800725" cy="4358879"/>
          </a:xfrm>
          <a:prstGeom prst="rect">
            <a:avLst/>
          </a:prstGeom>
        </p:spPr>
        <p:txBody>
          <a:bodyPr vert="eaVert"/>
          <a:lstStyle>
            <a:lvl1pPr>
              <a:defRPr>
                <a:ea typeface="微软雅黑" panose="020B0503020204020204" pitchFamily="34" charset="-122"/>
              </a:defRPr>
            </a:lvl1pPr>
            <a:lvl2pPr>
              <a:defRPr>
                <a:ea typeface="微软雅黑" panose="020B0503020204020204" pitchFamily="34" charset="-122"/>
              </a:defRPr>
            </a:lvl2pPr>
            <a:lvl3pPr>
              <a:defRPr>
                <a:ea typeface="微软雅黑" panose="020B0503020204020204" pitchFamily="34" charset="-122"/>
              </a:defRPr>
            </a:lvl3pPr>
            <a:lvl4pPr>
              <a:defRPr>
                <a:ea typeface="微软雅黑" panose="020B0503020204020204" pitchFamily="34" charset="-122"/>
              </a:defRPr>
            </a:lvl4pPr>
            <a:lvl5pPr>
              <a:defRPr>
                <a:ea typeface="微软雅黑" panose="020B0503020204020204" pitchFamily="34" charset="-122"/>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Date Placeholder 3"/>
          <p:cNvSpPr>
            <a:spLocks noGrp="1"/>
          </p:cNvSpPr>
          <p:nvPr>
            <p:ph type="dt" sz="half" idx="2"/>
          </p:nvPr>
        </p:nvSpPr>
        <p:spPr>
          <a:xfrm>
            <a:off x="628650" y="4767263"/>
            <a:ext cx="20574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5" name="Footer Placeholder 4"/>
          <p:cNvSpPr>
            <a:spLocks noGrp="1"/>
          </p:cNvSpPr>
          <p:nvPr>
            <p:ph type="ftr" sz="quarter" idx="3"/>
          </p:nvPr>
        </p:nvSpPr>
        <p:spPr>
          <a:xfrm>
            <a:off x="3028950" y="4767263"/>
            <a:ext cx="3086100" cy="274638"/>
          </a:xfrm>
          <a:prstGeom prst="rect">
            <a:avLst/>
          </a:prstGeom>
        </p:spPr>
        <p:txBody>
          <a:bodyPr/>
          <a:lstStyle>
            <a:lvl1pPr eaLnBrk="1" fontAlgn="auto" hangingPunct="1">
              <a:spcBef>
                <a:spcPts val="0"/>
              </a:spcBef>
              <a:spcAft>
                <a:spcPts val="0"/>
              </a:spcAft>
              <a:defRPr sz="1350">
                <a:latin typeface="+mn-lt"/>
                <a:ea typeface="微软雅黑" panose="020B0503020204020204" pitchFamily="34" charset="-122"/>
              </a:defRPr>
            </a:lvl1p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endParaRPr>
          </a:p>
        </p:txBody>
      </p:sp>
      <p:sp>
        <p:nvSpPr>
          <p:cNvPr id="6" name="Slide Number Placeholder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t" anchorCtr="0" compatLnSpc="1"/>
          <a:lstStyle/>
          <a:p>
            <a:pPr lvl="0" eaLnBrk="1" fontAlgn="base" hangingPunct="1"/>
            <a:fld id="{9A0DB2DC-4C9A-4742-B13C-FB6460FD3503}" type="slidenum">
              <a:rPr lang="zh-CN" altLang="en-US" strike="noStrike" noProof="1" dirty="0">
                <a:latin typeface="方正正黑简体" panose="02000000000000000000" pitchFamily="2" charset="-122"/>
                <a:ea typeface="微软雅黑" panose="020B0503020204020204" pitchFamily="34" charset="-122"/>
                <a:cs typeface="+mn-ea"/>
              </a:rPr>
              <a:t>‹#›</a:t>
            </a:fld>
            <a:endParaRPr lang="zh-CN" altLang="en-US" strike="noStrike" noProof="1">
              <a:ea typeface="微软雅黑" panose="020B0503020204020204" pitchFamily="3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方正正黑简体" panose="02000000000000000000" pitchFamily="2" charset="-122"/>
          <a:ea typeface="方正正黑简体" panose="02000000000000000000" pitchFamily="2" charset="-122"/>
        </a:defRPr>
      </a:lvl2pPr>
      <a:lvl3pPr algn="l" defTabSz="685800" rtl="0" eaLnBrk="0" fontAlgn="base" hangingPunct="0">
        <a:lnSpc>
          <a:spcPct val="90000"/>
        </a:lnSpc>
        <a:spcBef>
          <a:spcPct val="0"/>
        </a:spcBef>
        <a:spcAft>
          <a:spcPct val="0"/>
        </a:spcAft>
        <a:defRPr sz="3300">
          <a:solidFill>
            <a:schemeClr val="tx1"/>
          </a:solidFill>
          <a:latin typeface="方正正黑简体" panose="02000000000000000000" pitchFamily="2" charset="-122"/>
          <a:ea typeface="方正正黑简体" panose="02000000000000000000" pitchFamily="2" charset="-122"/>
        </a:defRPr>
      </a:lvl3pPr>
      <a:lvl4pPr algn="l" defTabSz="685800" rtl="0" eaLnBrk="0" fontAlgn="base" hangingPunct="0">
        <a:lnSpc>
          <a:spcPct val="90000"/>
        </a:lnSpc>
        <a:spcBef>
          <a:spcPct val="0"/>
        </a:spcBef>
        <a:spcAft>
          <a:spcPct val="0"/>
        </a:spcAft>
        <a:defRPr sz="3300">
          <a:solidFill>
            <a:schemeClr val="tx1"/>
          </a:solidFill>
          <a:latin typeface="方正正黑简体" panose="02000000000000000000" pitchFamily="2" charset="-122"/>
          <a:ea typeface="方正正黑简体" panose="02000000000000000000" pitchFamily="2" charset="-122"/>
        </a:defRPr>
      </a:lvl4pPr>
      <a:lvl5pPr algn="l" defTabSz="685800" rtl="0" eaLnBrk="0" fontAlgn="base" hangingPunct="0">
        <a:lnSpc>
          <a:spcPct val="90000"/>
        </a:lnSpc>
        <a:spcBef>
          <a:spcPct val="0"/>
        </a:spcBef>
        <a:spcAft>
          <a:spcPct val="0"/>
        </a:spcAft>
        <a:defRPr sz="3300">
          <a:solidFill>
            <a:schemeClr val="tx1"/>
          </a:solidFill>
          <a:latin typeface="方正正黑简体" panose="02000000000000000000" pitchFamily="2" charset="-122"/>
          <a:ea typeface="方正正黑简体" panose="02000000000000000000" pitchFamily="2" charset="-122"/>
        </a:defRPr>
      </a:lvl5pPr>
      <a:lvl6pPr marL="457200" algn="l" defTabSz="685800" rtl="0" fontAlgn="base">
        <a:lnSpc>
          <a:spcPct val="90000"/>
        </a:lnSpc>
        <a:spcBef>
          <a:spcPct val="0"/>
        </a:spcBef>
        <a:spcAft>
          <a:spcPct val="0"/>
        </a:spcAft>
        <a:defRPr sz="3300">
          <a:solidFill>
            <a:schemeClr val="tx1"/>
          </a:solidFill>
          <a:latin typeface="方正正黑简体" panose="02000000000000000000" pitchFamily="2" charset="-122"/>
          <a:ea typeface="方正正黑简体" panose="02000000000000000000" pitchFamily="2" charset="-122"/>
        </a:defRPr>
      </a:lvl6pPr>
      <a:lvl7pPr marL="914400" algn="l" defTabSz="685800" rtl="0" fontAlgn="base">
        <a:lnSpc>
          <a:spcPct val="90000"/>
        </a:lnSpc>
        <a:spcBef>
          <a:spcPct val="0"/>
        </a:spcBef>
        <a:spcAft>
          <a:spcPct val="0"/>
        </a:spcAft>
        <a:defRPr sz="3300">
          <a:solidFill>
            <a:schemeClr val="tx1"/>
          </a:solidFill>
          <a:latin typeface="方正正黑简体" panose="02000000000000000000" pitchFamily="2" charset="-122"/>
          <a:ea typeface="方正正黑简体" panose="02000000000000000000" pitchFamily="2" charset="-122"/>
        </a:defRPr>
      </a:lvl7pPr>
      <a:lvl8pPr marL="1371600" algn="l" defTabSz="685800" rtl="0" fontAlgn="base">
        <a:lnSpc>
          <a:spcPct val="90000"/>
        </a:lnSpc>
        <a:spcBef>
          <a:spcPct val="0"/>
        </a:spcBef>
        <a:spcAft>
          <a:spcPct val="0"/>
        </a:spcAft>
        <a:defRPr sz="3300">
          <a:solidFill>
            <a:schemeClr val="tx1"/>
          </a:solidFill>
          <a:latin typeface="方正正黑简体" panose="02000000000000000000" pitchFamily="2" charset="-122"/>
          <a:ea typeface="方正正黑简体" panose="02000000000000000000" pitchFamily="2" charset="-122"/>
        </a:defRPr>
      </a:lvl8pPr>
      <a:lvl9pPr marL="1828800" algn="l" defTabSz="685800" rtl="0" fontAlgn="base">
        <a:lnSpc>
          <a:spcPct val="90000"/>
        </a:lnSpc>
        <a:spcBef>
          <a:spcPct val="0"/>
        </a:spcBef>
        <a:spcAft>
          <a:spcPct val="0"/>
        </a:spcAft>
        <a:defRPr sz="3300">
          <a:solidFill>
            <a:schemeClr val="tx1"/>
          </a:solidFill>
          <a:latin typeface="方正正黑简体" panose="02000000000000000000" pitchFamily="2" charset="-122"/>
          <a:ea typeface="方正正黑简体" panose="02000000000000000000"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文本框 213"/>
          <p:cNvSpPr txBox="1"/>
          <p:nvPr/>
        </p:nvSpPr>
        <p:spPr>
          <a:xfrm>
            <a:off x="0" y="1968500"/>
            <a:ext cx="9144000" cy="646331"/>
          </a:xfrm>
          <a:prstGeom prst="rect">
            <a:avLst/>
          </a:prstGeom>
          <a:noFill/>
          <a:ln w="9525">
            <a:noFill/>
          </a:ln>
        </p:spPr>
        <p:txBody>
          <a:bodyPr wrap="square" anchor="t">
            <a:spAutoFit/>
          </a:bodyPr>
          <a:lstStyle/>
          <a:p>
            <a:pPr algn="ctr"/>
            <a:r>
              <a:rPr lang="zh-CN" altLang="en-US" sz="3600" b="1" dirty="0">
                <a:solidFill>
                  <a:schemeClr val="bg1"/>
                </a:solidFill>
                <a:latin typeface="方正正纤黑简体" panose="02000000000000000000" pitchFamily="2" charset="-122"/>
                <a:ea typeface="方正正纤黑简体" panose="02000000000000000000" pitchFamily="2" charset="-122"/>
              </a:rPr>
              <a:t>基于稳健主成分分析的地震数据噪音压制</a:t>
            </a:r>
            <a:endParaRPr lang="zh-CN" altLang="en-US" sz="3600" b="1" dirty="0">
              <a:solidFill>
                <a:schemeClr val="bg1"/>
              </a:solidFill>
              <a:latin typeface="方正正纤黑简体" panose="02000000000000000000" pitchFamily="2" charset="-122"/>
              <a:ea typeface="方正正纤黑简体" panose="02000000000000000000" pitchFamily="2" charset="-122"/>
              <a:sym typeface="+mn-lt"/>
            </a:endParaRPr>
          </a:p>
        </p:txBody>
      </p:sp>
      <p:sp>
        <p:nvSpPr>
          <p:cNvPr id="215" name="文本框 214"/>
          <p:cNvSpPr txBox="1"/>
          <p:nvPr/>
        </p:nvSpPr>
        <p:spPr>
          <a:xfrm>
            <a:off x="-1" y="2944813"/>
            <a:ext cx="9144000" cy="307777"/>
          </a:xfrm>
          <a:prstGeom prst="rect">
            <a:avLst/>
          </a:prstGeom>
          <a:noFill/>
        </p:spPr>
        <p:txBody>
          <a:bodyPr wrap="square">
            <a:spAutoFit/>
          </a:bodyPr>
          <a:lstStyle/>
          <a:p>
            <a:pPr marR="0" algn="ctr" defTabSz="685800" rtl="0" fontAlgn="auto">
              <a:spcBef>
                <a:spcPts val="0"/>
              </a:spcBef>
              <a:spcAft>
                <a:spcPts val="0"/>
              </a:spcAft>
              <a:buClrTx/>
              <a:buSzTx/>
              <a:buFontTx/>
              <a:defRPr/>
            </a:pPr>
            <a:r>
              <a:rPr lang="en" altLang="zh-CN" sz="1400" b="1" dirty="0">
                <a:solidFill>
                  <a:schemeClr val="bg1"/>
                </a:solidFill>
                <a:latin typeface="SimSun" panose="02010600030101010101" pitchFamily="2" charset="-122"/>
                <a:ea typeface="SimSun" panose="02010600030101010101" pitchFamily="2" charset="-122"/>
                <a:cs typeface="+mn-cs"/>
              </a:rPr>
              <a:t>Suppression of</a:t>
            </a:r>
            <a:r>
              <a:rPr lang="zh-CN" altLang="en-US" sz="1400" b="1" dirty="0">
                <a:solidFill>
                  <a:schemeClr val="bg1"/>
                </a:solidFill>
                <a:latin typeface="SimSun" panose="02010600030101010101" pitchFamily="2" charset="-122"/>
                <a:ea typeface="SimSun" panose="02010600030101010101" pitchFamily="2" charset="-122"/>
                <a:cs typeface="+mn-cs"/>
              </a:rPr>
              <a:t> </a:t>
            </a:r>
            <a:r>
              <a:rPr lang="en" altLang="zh-CN" sz="1400" b="1" dirty="0">
                <a:solidFill>
                  <a:schemeClr val="bg1"/>
                </a:solidFill>
                <a:latin typeface="SimSun" panose="02010600030101010101" pitchFamily="2" charset="-122"/>
                <a:ea typeface="SimSun" panose="02010600030101010101" pitchFamily="2" charset="-122"/>
                <a:cs typeface="+mn-cs"/>
              </a:rPr>
              <a:t>Erratic noise in seismic records based on Robust Principal Component Analysis (RPCA)</a:t>
            </a:r>
            <a:endParaRPr lang="zh-CN" altLang="en-US" sz="1400" b="1" dirty="0">
              <a:solidFill>
                <a:schemeClr val="bg1"/>
              </a:solidFill>
              <a:latin typeface="SimSun" panose="02010600030101010101" pitchFamily="2" charset="-122"/>
              <a:ea typeface="SimSun" panose="02010600030101010101" pitchFamily="2" charset="-122"/>
              <a:cs typeface="+mn-cs"/>
            </a:endParaRPr>
          </a:p>
        </p:txBody>
      </p:sp>
      <p:sp>
        <p:nvSpPr>
          <p:cNvPr id="216" name="文本框 215"/>
          <p:cNvSpPr txBox="1"/>
          <p:nvPr/>
        </p:nvSpPr>
        <p:spPr>
          <a:xfrm>
            <a:off x="3334544" y="3915773"/>
            <a:ext cx="2370138" cy="307777"/>
          </a:xfrm>
          <a:prstGeom prst="rect">
            <a:avLst/>
          </a:prstGeom>
          <a:noFill/>
        </p:spPr>
        <p:txBody>
          <a:bodyPr>
            <a:spAutoFit/>
          </a:bodyPr>
          <a:lstStyle/>
          <a:p>
            <a:pPr algn="ctr" rtl="0" fontAlgn="auto">
              <a:spcBef>
                <a:spcPts val="0"/>
              </a:spcBef>
              <a:spcAft>
                <a:spcPts val="0"/>
              </a:spcAft>
              <a:defRPr/>
            </a:pPr>
            <a:r>
              <a:rPr lang="zh-CN" altLang="en-US" sz="1400" dirty="0">
                <a:solidFill>
                  <a:schemeClr val="bg1"/>
                </a:solidFill>
                <a:latin typeface="微软雅黑" panose="020B0503020204020204" pitchFamily="34" charset="-122"/>
                <a:ea typeface="微软雅黑" panose="020B0503020204020204" pitchFamily="34" charset="-122"/>
                <a:cs typeface="+mn-cs"/>
              </a:rPr>
              <a:t>汇报人：</a:t>
            </a:r>
            <a:r>
              <a:rPr lang="zh-CN" altLang="en-US" sz="1400" dirty="0">
                <a:solidFill>
                  <a:schemeClr val="bg1"/>
                </a:solidFill>
                <a:latin typeface="微软雅黑" panose="020B0503020204020204" pitchFamily="34" charset="-122"/>
                <a:ea typeface="微软雅黑" panose="020B0503020204020204" pitchFamily="34" charset="-122"/>
              </a:rPr>
              <a:t> 贾昊</a:t>
            </a:r>
          </a:p>
        </p:txBody>
      </p:sp>
      <p:sp>
        <p:nvSpPr>
          <p:cNvPr id="217" name="文本框 216"/>
          <p:cNvSpPr txBox="1"/>
          <p:nvPr/>
        </p:nvSpPr>
        <p:spPr>
          <a:xfrm>
            <a:off x="3332957" y="3517356"/>
            <a:ext cx="2371725" cy="307777"/>
          </a:xfrm>
          <a:prstGeom prst="rect">
            <a:avLst/>
          </a:prstGeom>
          <a:noFill/>
        </p:spPr>
        <p:txBody>
          <a:bodyPr>
            <a:spAutoFit/>
          </a:bodyPr>
          <a:lstStyle/>
          <a:p>
            <a:pPr marR="0" algn="ctr" defTabSz="685800" rtl="0" fontAlgn="auto">
              <a:spcBef>
                <a:spcPts val="0"/>
              </a:spcBef>
              <a:spcAft>
                <a:spcPts val="0"/>
              </a:spcAft>
              <a:buClrTx/>
              <a:buSzTx/>
              <a:buFontTx/>
              <a:defRPr/>
            </a:pPr>
            <a:r>
              <a:rPr kumimoji="0" lang="zh-CN" altLang="en-US" sz="1400" kern="1200" cap="none" spc="0" normalizeH="0" baseline="0" noProof="0" dirty="0">
                <a:solidFill>
                  <a:schemeClr val="bg1"/>
                </a:solidFill>
                <a:latin typeface="微软雅黑" panose="020B0503020204020204" pitchFamily="34" charset="-122"/>
                <a:ea typeface="微软雅黑" panose="020B0503020204020204" pitchFamily="34" charset="-122"/>
                <a:cs typeface="+mn-cs"/>
              </a:rPr>
              <a:t>指导</a:t>
            </a:r>
            <a:r>
              <a:rPr lang="zh-CN" altLang="en-US" sz="1400" dirty="0">
                <a:solidFill>
                  <a:schemeClr val="bg1"/>
                </a:solidFill>
                <a:latin typeface="微软雅黑" panose="020B0503020204020204" pitchFamily="34" charset="-122"/>
                <a:ea typeface="微软雅黑" panose="020B0503020204020204" pitchFamily="34" charset="-122"/>
                <a:cs typeface="+mn-cs"/>
              </a:rPr>
              <a:t>老师：高建军</a:t>
            </a:r>
          </a:p>
        </p:txBody>
      </p:sp>
      <p:sp>
        <p:nvSpPr>
          <p:cNvPr id="218" name="矩形 217"/>
          <p:cNvSpPr/>
          <p:nvPr/>
        </p:nvSpPr>
        <p:spPr>
          <a:xfrm>
            <a:off x="2727325" y="2787650"/>
            <a:ext cx="896938" cy="8255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mn-lt"/>
              <a:ea typeface="+mn-ea"/>
              <a:cs typeface="+mn-cs"/>
            </a:endParaRPr>
          </a:p>
        </p:txBody>
      </p:sp>
      <p:sp>
        <p:nvSpPr>
          <p:cNvPr id="219" name="矩形 218"/>
          <p:cNvSpPr/>
          <p:nvPr/>
        </p:nvSpPr>
        <p:spPr>
          <a:xfrm>
            <a:off x="3624263" y="2787650"/>
            <a:ext cx="896938" cy="8255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mn-lt"/>
              <a:ea typeface="+mn-ea"/>
              <a:cs typeface="+mn-cs"/>
            </a:endParaRPr>
          </a:p>
        </p:txBody>
      </p:sp>
      <p:sp>
        <p:nvSpPr>
          <p:cNvPr id="220" name="矩形 219"/>
          <p:cNvSpPr/>
          <p:nvPr/>
        </p:nvSpPr>
        <p:spPr>
          <a:xfrm>
            <a:off x="4521200" y="2782888"/>
            <a:ext cx="896938" cy="8255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mn-lt"/>
              <a:ea typeface="+mn-ea"/>
              <a:cs typeface="+mn-cs"/>
            </a:endParaRPr>
          </a:p>
        </p:txBody>
      </p:sp>
      <p:sp>
        <p:nvSpPr>
          <p:cNvPr id="221" name="矩形 220"/>
          <p:cNvSpPr/>
          <p:nvPr/>
        </p:nvSpPr>
        <p:spPr>
          <a:xfrm>
            <a:off x="5418138" y="2787650"/>
            <a:ext cx="896938" cy="84138"/>
          </a:xfrm>
          <a:prstGeom prst="rect">
            <a:avLst/>
          </a:prstGeom>
          <a:solidFill>
            <a:schemeClr val="bg1">
              <a:lumMod val="9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mn-lt"/>
              <a:ea typeface="+mn-ea"/>
              <a:cs typeface="+mn-cs"/>
            </a:endParaRPr>
          </a:p>
        </p:txBody>
      </p:sp>
      <p:grpSp>
        <p:nvGrpSpPr>
          <p:cNvPr id="222" name="组合 221"/>
          <p:cNvGrpSpPr/>
          <p:nvPr/>
        </p:nvGrpSpPr>
        <p:grpSpPr>
          <a:xfrm>
            <a:off x="3954463" y="708025"/>
            <a:ext cx="1128712" cy="1130300"/>
            <a:chOff x="1928879" y="1944350"/>
            <a:chExt cx="1129689" cy="1129689"/>
          </a:xfrm>
        </p:grpSpPr>
        <p:sp>
          <p:nvSpPr>
            <p:cNvPr id="223" name="椭圆 222"/>
            <p:cNvSpPr/>
            <p:nvPr/>
          </p:nvSpPr>
          <p:spPr>
            <a:xfrm>
              <a:off x="1928879" y="1944350"/>
              <a:ext cx="1129689" cy="1129689"/>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bg1"/>
                </a:solidFill>
                <a:effectLst/>
                <a:uLnTx/>
                <a:uFillTx/>
                <a:latin typeface="+mn-lt"/>
                <a:ea typeface="+mn-ea"/>
                <a:cs typeface="+mn-cs"/>
              </a:endParaRPr>
            </a:p>
          </p:txBody>
        </p:sp>
        <p:sp>
          <p:nvSpPr>
            <p:cNvPr id="224" name="Freeform 7"/>
            <p:cNvSpPr>
              <a:spLocks noEditPoints="1"/>
            </p:cNvSpPr>
            <p:nvPr/>
          </p:nvSpPr>
          <p:spPr bwMode="auto">
            <a:xfrm>
              <a:off x="2108421" y="2226772"/>
              <a:ext cx="751538" cy="615617"/>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bg1"/>
                </a:solidFill>
                <a:effectLst/>
                <a:uLnTx/>
                <a:uFillTx/>
                <a:latin typeface="+mn-lt"/>
                <a:ea typeface="+mn-ea"/>
                <a:cs typeface="+mn-cs"/>
              </a:endParaRPr>
            </a:p>
          </p:txBody>
        </p:sp>
      </p:gr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22"/>
                                        </p:tgtEl>
                                        <p:attrNameLst>
                                          <p:attrName>style.visibility</p:attrName>
                                        </p:attrNameLst>
                                      </p:cBhvr>
                                      <p:to>
                                        <p:strVal val="visible"/>
                                      </p:to>
                                    </p:set>
                                    <p:anim calcmode="lin" valueType="num">
                                      <p:cBhvr>
                                        <p:cTn id="7" dur="250" fill="hold"/>
                                        <p:tgtEl>
                                          <p:spTgt spid="222"/>
                                        </p:tgtEl>
                                        <p:attrNameLst>
                                          <p:attrName>ppt_w</p:attrName>
                                        </p:attrNameLst>
                                      </p:cBhvr>
                                      <p:tavLst>
                                        <p:tav tm="0">
                                          <p:val>
                                            <p:fltVal val="0"/>
                                          </p:val>
                                        </p:tav>
                                        <p:tav tm="100000">
                                          <p:val>
                                            <p:strVal val="#ppt_w"/>
                                          </p:val>
                                        </p:tav>
                                      </p:tavLst>
                                    </p:anim>
                                    <p:anim calcmode="lin" valueType="num">
                                      <p:cBhvr>
                                        <p:cTn id="8" dur="250" fill="hold"/>
                                        <p:tgtEl>
                                          <p:spTgt spid="222"/>
                                        </p:tgtEl>
                                        <p:attrNameLst>
                                          <p:attrName>ppt_h</p:attrName>
                                        </p:attrNameLst>
                                      </p:cBhvr>
                                      <p:tavLst>
                                        <p:tav tm="0">
                                          <p:val>
                                            <p:fltVal val="0"/>
                                          </p:val>
                                        </p:tav>
                                        <p:tav tm="100000">
                                          <p:val>
                                            <p:strVal val="#ppt_h"/>
                                          </p:val>
                                        </p:tav>
                                      </p:tavLst>
                                    </p:anim>
                                    <p:animEffect transition="in" filter="fade">
                                      <p:cBhvr>
                                        <p:cTn id="9" dur="250"/>
                                        <p:tgtEl>
                                          <p:spTgt spid="222"/>
                                        </p:tgtEl>
                                      </p:cBhvr>
                                    </p:animEffect>
                                  </p:childTnLst>
                                </p:cTn>
                              </p:par>
                              <p:par>
                                <p:cTn id="10" presetID="6" presetClass="emph" presetSubtype="0" decel="100000" fill="hold" nodeType="withEffect">
                                  <p:stCondLst>
                                    <p:cond delay="200"/>
                                  </p:stCondLst>
                                  <p:childTnLst>
                                    <p:animScale>
                                      <p:cBhvr>
                                        <p:cTn id="11" dur="250" fill="hold"/>
                                        <p:tgtEl>
                                          <p:spTgt spid="222"/>
                                        </p:tgtEl>
                                      </p:cBhvr>
                                      <p:by x="110000" y="110000"/>
                                    </p:animScale>
                                  </p:childTnLst>
                                </p:cTn>
                              </p:par>
                              <p:par>
                                <p:cTn id="12" presetID="6" presetClass="emph" presetSubtype="0" decel="100000" fill="hold" nodeType="withEffect">
                                  <p:stCondLst>
                                    <p:cond delay="400"/>
                                  </p:stCondLst>
                                  <p:childTnLst>
                                    <p:animScale>
                                      <p:cBhvr>
                                        <p:cTn id="13" dur="250" fill="hold"/>
                                        <p:tgtEl>
                                          <p:spTgt spid="222"/>
                                        </p:tgtEl>
                                      </p:cBhvr>
                                      <p:by x="91000" y="91000"/>
                                    </p:animScale>
                                  </p:childTnLst>
                                </p:cTn>
                              </p:par>
                            </p:childTnLst>
                          </p:cTn>
                        </p:par>
                        <p:par>
                          <p:cTn id="14" fill="hold">
                            <p:stCondLst>
                              <p:cond delay="650"/>
                            </p:stCondLst>
                            <p:childTnLst>
                              <p:par>
                                <p:cTn id="15" presetID="17" presetClass="entr" presetSubtype="1" fill="hold" grpId="0" nodeType="afterEffect">
                                  <p:stCondLst>
                                    <p:cond delay="0"/>
                                  </p:stCondLst>
                                  <p:iterate type="lt">
                                    <p:tmPct val="40000"/>
                                  </p:iterate>
                                  <p:childTnLst>
                                    <p:set>
                                      <p:cBhvr>
                                        <p:cTn id="16" dur="1" fill="hold">
                                          <p:stCondLst>
                                            <p:cond delay="0"/>
                                          </p:stCondLst>
                                        </p:cTn>
                                        <p:tgtEl>
                                          <p:spTgt spid="214"/>
                                        </p:tgtEl>
                                        <p:attrNameLst>
                                          <p:attrName>style.visibility</p:attrName>
                                        </p:attrNameLst>
                                      </p:cBhvr>
                                      <p:to>
                                        <p:strVal val="visible"/>
                                      </p:to>
                                    </p:set>
                                    <p:anim calcmode="lin" valueType="num">
                                      <p:cBhvr>
                                        <p:cTn id="17" dur="250" fill="hold"/>
                                        <p:tgtEl>
                                          <p:spTgt spid="214"/>
                                        </p:tgtEl>
                                        <p:attrNameLst>
                                          <p:attrName>ppt_x</p:attrName>
                                        </p:attrNameLst>
                                      </p:cBhvr>
                                      <p:tavLst>
                                        <p:tav tm="0">
                                          <p:val>
                                            <p:strVal val="#ppt_x"/>
                                          </p:val>
                                        </p:tav>
                                        <p:tav tm="100000">
                                          <p:val>
                                            <p:strVal val="#ppt_x"/>
                                          </p:val>
                                        </p:tav>
                                      </p:tavLst>
                                    </p:anim>
                                    <p:anim calcmode="lin" valueType="num">
                                      <p:cBhvr>
                                        <p:cTn id="18" dur="250" fill="hold"/>
                                        <p:tgtEl>
                                          <p:spTgt spid="214"/>
                                        </p:tgtEl>
                                        <p:attrNameLst>
                                          <p:attrName>ppt_y</p:attrName>
                                        </p:attrNameLst>
                                      </p:cBhvr>
                                      <p:tavLst>
                                        <p:tav tm="0">
                                          <p:val>
                                            <p:strVal val="#ppt_y-#ppt_h/2"/>
                                          </p:val>
                                        </p:tav>
                                        <p:tav tm="100000">
                                          <p:val>
                                            <p:strVal val="#ppt_y"/>
                                          </p:val>
                                        </p:tav>
                                      </p:tavLst>
                                    </p:anim>
                                    <p:anim calcmode="lin" valueType="num">
                                      <p:cBhvr>
                                        <p:cTn id="19" dur="250" fill="hold"/>
                                        <p:tgtEl>
                                          <p:spTgt spid="214"/>
                                        </p:tgtEl>
                                        <p:attrNameLst>
                                          <p:attrName>ppt_w</p:attrName>
                                        </p:attrNameLst>
                                      </p:cBhvr>
                                      <p:tavLst>
                                        <p:tav tm="0">
                                          <p:val>
                                            <p:strVal val="#ppt_w"/>
                                          </p:val>
                                        </p:tav>
                                        <p:tav tm="100000">
                                          <p:val>
                                            <p:strVal val="#ppt_w"/>
                                          </p:val>
                                        </p:tav>
                                      </p:tavLst>
                                    </p:anim>
                                    <p:anim calcmode="lin" valueType="num">
                                      <p:cBhvr>
                                        <p:cTn id="20" dur="250" fill="hold"/>
                                        <p:tgtEl>
                                          <p:spTgt spid="214"/>
                                        </p:tgtEl>
                                        <p:attrNameLst>
                                          <p:attrName>ppt_h</p:attrName>
                                        </p:attrNameLst>
                                      </p:cBhvr>
                                      <p:tavLst>
                                        <p:tav tm="0">
                                          <p:val>
                                            <p:fltVal val="0"/>
                                          </p:val>
                                        </p:tav>
                                        <p:tav tm="100000">
                                          <p:val>
                                            <p:strVal val="#ppt_h"/>
                                          </p:val>
                                        </p:tav>
                                      </p:tavLst>
                                    </p:anim>
                                  </p:childTnLst>
                                </p:cTn>
                              </p:par>
                              <p:par>
                                <p:cTn id="21" presetID="2" presetClass="entr" presetSubtype="2" decel="66700" fill="hold" grpId="0" nodeType="withEffect">
                                  <p:stCondLst>
                                    <p:cond delay="500"/>
                                  </p:stCondLst>
                                  <p:childTnLst>
                                    <p:set>
                                      <p:cBhvr>
                                        <p:cTn id="22" dur="1" fill="hold">
                                          <p:stCondLst>
                                            <p:cond delay="0"/>
                                          </p:stCondLst>
                                        </p:cTn>
                                        <p:tgtEl>
                                          <p:spTgt spid="219"/>
                                        </p:tgtEl>
                                        <p:attrNameLst>
                                          <p:attrName>style.visibility</p:attrName>
                                        </p:attrNameLst>
                                      </p:cBhvr>
                                      <p:to>
                                        <p:strVal val="visible"/>
                                      </p:to>
                                    </p:set>
                                    <p:anim calcmode="lin" valueType="num">
                                      <p:cBhvr additive="base">
                                        <p:cTn id="23" dur="400" fill="hold"/>
                                        <p:tgtEl>
                                          <p:spTgt spid="219"/>
                                        </p:tgtEl>
                                        <p:attrNameLst>
                                          <p:attrName>ppt_x</p:attrName>
                                        </p:attrNameLst>
                                      </p:cBhvr>
                                      <p:tavLst>
                                        <p:tav tm="0">
                                          <p:val>
                                            <p:strVal val="1+#ppt_w/2"/>
                                          </p:val>
                                        </p:tav>
                                        <p:tav tm="100000">
                                          <p:val>
                                            <p:strVal val="#ppt_x"/>
                                          </p:val>
                                        </p:tav>
                                      </p:tavLst>
                                    </p:anim>
                                    <p:anim calcmode="lin" valueType="num">
                                      <p:cBhvr additive="base">
                                        <p:cTn id="24" dur="400" fill="hold"/>
                                        <p:tgtEl>
                                          <p:spTgt spid="219"/>
                                        </p:tgtEl>
                                        <p:attrNameLst>
                                          <p:attrName>ppt_y</p:attrName>
                                        </p:attrNameLst>
                                      </p:cBhvr>
                                      <p:tavLst>
                                        <p:tav tm="0">
                                          <p:val>
                                            <p:strVal val="#ppt_y"/>
                                          </p:val>
                                        </p:tav>
                                        <p:tav tm="100000">
                                          <p:val>
                                            <p:strVal val="#ppt_y"/>
                                          </p:val>
                                        </p:tav>
                                      </p:tavLst>
                                    </p:anim>
                                  </p:childTnLst>
                                </p:cTn>
                              </p:par>
                              <p:par>
                                <p:cTn id="25" presetID="2" presetClass="entr" presetSubtype="8" decel="66700" fill="hold" grpId="0" nodeType="withEffect">
                                  <p:stCondLst>
                                    <p:cond delay="500"/>
                                  </p:stCondLst>
                                  <p:childTnLst>
                                    <p:set>
                                      <p:cBhvr>
                                        <p:cTn id="26" dur="1" fill="hold">
                                          <p:stCondLst>
                                            <p:cond delay="0"/>
                                          </p:stCondLst>
                                        </p:cTn>
                                        <p:tgtEl>
                                          <p:spTgt spid="220"/>
                                        </p:tgtEl>
                                        <p:attrNameLst>
                                          <p:attrName>style.visibility</p:attrName>
                                        </p:attrNameLst>
                                      </p:cBhvr>
                                      <p:to>
                                        <p:strVal val="visible"/>
                                      </p:to>
                                    </p:set>
                                    <p:anim calcmode="lin" valueType="num">
                                      <p:cBhvr additive="base">
                                        <p:cTn id="27" dur="400" fill="hold"/>
                                        <p:tgtEl>
                                          <p:spTgt spid="220"/>
                                        </p:tgtEl>
                                        <p:attrNameLst>
                                          <p:attrName>ppt_x</p:attrName>
                                        </p:attrNameLst>
                                      </p:cBhvr>
                                      <p:tavLst>
                                        <p:tav tm="0">
                                          <p:val>
                                            <p:strVal val="0-#ppt_w/2"/>
                                          </p:val>
                                        </p:tav>
                                        <p:tav tm="100000">
                                          <p:val>
                                            <p:strVal val="#ppt_x"/>
                                          </p:val>
                                        </p:tav>
                                      </p:tavLst>
                                    </p:anim>
                                    <p:anim calcmode="lin" valueType="num">
                                      <p:cBhvr additive="base">
                                        <p:cTn id="28" dur="400" fill="hold"/>
                                        <p:tgtEl>
                                          <p:spTgt spid="220"/>
                                        </p:tgtEl>
                                        <p:attrNameLst>
                                          <p:attrName>ppt_y</p:attrName>
                                        </p:attrNameLst>
                                      </p:cBhvr>
                                      <p:tavLst>
                                        <p:tav tm="0">
                                          <p:val>
                                            <p:strVal val="#ppt_y"/>
                                          </p:val>
                                        </p:tav>
                                        <p:tav tm="100000">
                                          <p:val>
                                            <p:strVal val="#ppt_y"/>
                                          </p:val>
                                        </p:tav>
                                      </p:tavLst>
                                    </p:anim>
                                  </p:childTnLst>
                                </p:cTn>
                              </p:par>
                              <p:par>
                                <p:cTn id="29" presetID="2" presetClass="entr" presetSubtype="8" decel="66700" fill="hold" grpId="0" nodeType="withEffect">
                                  <p:stCondLst>
                                    <p:cond delay="900"/>
                                  </p:stCondLst>
                                  <p:childTnLst>
                                    <p:set>
                                      <p:cBhvr>
                                        <p:cTn id="30" dur="1" fill="hold">
                                          <p:stCondLst>
                                            <p:cond delay="0"/>
                                          </p:stCondLst>
                                        </p:cTn>
                                        <p:tgtEl>
                                          <p:spTgt spid="221"/>
                                        </p:tgtEl>
                                        <p:attrNameLst>
                                          <p:attrName>style.visibility</p:attrName>
                                        </p:attrNameLst>
                                      </p:cBhvr>
                                      <p:to>
                                        <p:strVal val="visible"/>
                                      </p:to>
                                    </p:set>
                                    <p:anim calcmode="lin" valueType="num">
                                      <p:cBhvr additive="base">
                                        <p:cTn id="31" dur="400" fill="hold"/>
                                        <p:tgtEl>
                                          <p:spTgt spid="221"/>
                                        </p:tgtEl>
                                        <p:attrNameLst>
                                          <p:attrName>ppt_x</p:attrName>
                                        </p:attrNameLst>
                                      </p:cBhvr>
                                      <p:tavLst>
                                        <p:tav tm="0">
                                          <p:val>
                                            <p:strVal val="0-#ppt_w/2"/>
                                          </p:val>
                                        </p:tav>
                                        <p:tav tm="100000">
                                          <p:val>
                                            <p:strVal val="#ppt_x"/>
                                          </p:val>
                                        </p:tav>
                                      </p:tavLst>
                                    </p:anim>
                                    <p:anim calcmode="lin" valueType="num">
                                      <p:cBhvr additive="base">
                                        <p:cTn id="32" dur="400" fill="hold"/>
                                        <p:tgtEl>
                                          <p:spTgt spid="221"/>
                                        </p:tgtEl>
                                        <p:attrNameLst>
                                          <p:attrName>ppt_y</p:attrName>
                                        </p:attrNameLst>
                                      </p:cBhvr>
                                      <p:tavLst>
                                        <p:tav tm="0">
                                          <p:val>
                                            <p:strVal val="#ppt_y"/>
                                          </p:val>
                                        </p:tav>
                                        <p:tav tm="100000">
                                          <p:val>
                                            <p:strVal val="#ppt_y"/>
                                          </p:val>
                                        </p:tav>
                                      </p:tavLst>
                                    </p:anim>
                                  </p:childTnLst>
                                </p:cTn>
                              </p:par>
                              <p:par>
                                <p:cTn id="33" presetID="2" presetClass="entr" presetSubtype="2" decel="66700" fill="hold" grpId="0" nodeType="withEffect">
                                  <p:stCondLst>
                                    <p:cond delay="900"/>
                                  </p:stCondLst>
                                  <p:childTnLst>
                                    <p:set>
                                      <p:cBhvr>
                                        <p:cTn id="34" dur="1" fill="hold">
                                          <p:stCondLst>
                                            <p:cond delay="0"/>
                                          </p:stCondLst>
                                        </p:cTn>
                                        <p:tgtEl>
                                          <p:spTgt spid="218"/>
                                        </p:tgtEl>
                                        <p:attrNameLst>
                                          <p:attrName>style.visibility</p:attrName>
                                        </p:attrNameLst>
                                      </p:cBhvr>
                                      <p:to>
                                        <p:strVal val="visible"/>
                                      </p:to>
                                    </p:set>
                                    <p:anim calcmode="lin" valueType="num">
                                      <p:cBhvr additive="base">
                                        <p:cTn id="35" dur="400" fill="hold"/>
                                        <p:tgtEl>
                                          <p:spTgt spid="218"/>
                                        </p:tgtEl>
                                        <p:attrNameLst>
                                          <p:attrName>ppt_x</p:attrName>
                                        </p:attrNameLst>
                                      </p:cBhvr>
                                      <p:tavLst>
                                        <p:tav tm="0">
                                          <p:val>
                                            <p:strVal val="1+#ppt_w/2"/>
                                          </p:val>
                                        </p:tav>
                                        <p:tav tm="100000">
                                          <p:val>
                                            <p:strVal val="#ppt_x"/>
                                          </p:val>
                                        </p:tav>
                                      </p:tavLst>
                                    </p:anim>
                                    <p:anim calcmode="lin" valueType="num">
                                      <p:cBhvr additive="base">
                                        <p:cTn id="36" dur="400" fill="hold"/>
                                        <p:tgtEl>
                                          <p:spTgt spid="218"/>
                                        </p:tgtEl>
                                        <p:attrNameLst>
                                          <p:attrName>ppt_y</p:attrName>
                                        </p:attrNameLst>
                                      </p:cBhvr>
                                      <p:tavLst>
                                        <p:tav tm="0">
                                          <p:val>
                                            <p:strVal val="#ppt_y"/>
                                          </p:val>
                                        </p:tav>
                                        <p:tav tm="100000">
                                          <p:val>
                                            <p:strVal val="#ppt_y"/>
                                          </p:val>
                                        </p:tav>
                                      </p:tavLst>
                                    </p:anim>
                                  </p:childTnLst>
                                </p:cTn>
                              </p:par>
                            </p:childTnLst>
                          </p:cTn>
                        </p:par>
                        <p:par>
                          <p:cTn id="37" fill="hold">
                            <p:stCondLst>
                              <p:cond delay="2600"/>
                            </p:stCondLst>
                            <p:childTnLst>
                              <p:par>
                                <p:cTn id="38" presetID="22" presetClass="entr" presetSubtype="8" fill="hold" grpId="0" nodeType="afterEffect">
                                  <p:stCondLst>
                                    <p:cond delay="0"/>
                                  </p:stCondLst>
                                  <p:childTnLst>
                                    <p:set>
                                      <p:cBhvr>
                                        <p:cTn id="39" dur="1" fill="hold">
                                          <p:stCondLst>
                                            <p:cond delay="0"/>
                                          </p:stCondLst>
                                        </p:cTn>
                                        <p:tgtEl>
                                          <p:spTgt spid="215"/>
                                        </p:tgtEl>
                                        <p:attrNameLst>
                                          <p:attrName>style.visibility</p:attrName>
                                        </p:attrNameLst>
                                      </p:cBhvr>
                                      <p:to>
                                        <p:strVal val="visible"/>
                                      </p:to>
                                    </p:set>
                                    <p:animEffect transition="in" filter="wipe(left)">
                                      <p:cBhvr>
                                        <p:cTn id="40" dur="500"/>
                                        <p:tgtEl>
                                          <p:spTgt spid="215"/>
                                        </p:tgtEl>
                                      </p:cBhvr>
                                    </p:animEffect>
                                  </p:childTnLst>
                                </p:cTn>
                              </p:par>
                            </p:childTnLst>
                          </p:cTn>
                        </p:par>
                        <p:par>
                          <p:cTn id="41" fill="hold">
                            <p:stCondLst>
                              <p:cond delay="3100"/>
                            </p:stCondLst>
                            <p:childTnLst>
                              <p:par>
                                <p:cTn id="42" presetID="2" presetClass="entr" presetSubtype="4" decel="100000" fill="hold" grpId="0" nodeType="afterEffect">
                                  <p:stCondLst>
                                    <p:cond delay="0"/>
                                  </p:stCondLst>
                                  <p:childTnLst>
                                    <p:set>
                                      <p:cBhvr>
                                        <p:cTn id="43" dur="1" fill="hold">
                                          <p:stCondLst>
                                            <p:cond delay="0"/>
                                          </p:stCondLst>
                                        </p:cTn>
                                        <p:tgtEl>
                                          <p:spTgt spid="217"/>
                                        </p:tgtEl>
                                        <p:attrNameLst>
                                          <p:attrName>style.visibility</p:attrName>
                                        </p:attrNameLst>
                                      </p:cBhvr>
                                      <p:to>
                                        <p:strVal val="visible"/>
                                      </p:to>
                                    </p:set>
                                    <p:anim calcmode="lin" valueType="num">
                                      <p:cBhvr additive="base">
                                        <p:cTn id="44" dur="500" fill="hold"/>
                                        <p:tgtEl>
                                          <p:spTgt spid="217"/>
                                        </p:tgtEl>
                                        <p:attrNameLst>
                                          <p:attrName>ppt_x</p:attrName>
                                        </p:attrNameLst>
                                      </p:cBhvr>
                                      <p:tavLst>
                                        <p:tav tm="0">
                                          <p:val>
                                            <p:strVal val="#ppt_x"/>
                                          </p:val>
                                        </p:tav>
                                        <p:tav tm="100000">
                                          <p:val>
                                            <p:strVal val="#ppt_x"/>
                                          </p:val>
                                        </p:tav>
                                      </p:tavLst>
                                    </p:anim>
                                    <p:anim calcmode="lin" valueType="num">
                                      <p:cBhvr additive="base">
                                        <p:cTn id="45" dur="500" fill="hold"/>
                                        <p:tgtEl>
                                          <p:spTgt spid="217"/>
                                        </p:tgtEl>
                                        <p:attrNameLst>
                                          <p:attrName>ppt_y</p:attrName>
                                        </p:attrNameLst>
                                      </p:cBhvr>
                                      <p:tavLst>
                                        <p:tav tm="0">
                                          <p:val>
                                            <p:strVal val="1+#ppt_h/2"/>
                                          </p:val>
                                        </p:tav>
                                        <p:tav tm="100000">
                                          <p:val>
                                            <p:strVal val="#ppt_y"/>
                                          </p:val>
                                        </p:tav>
                                      </p:tavLst>
                                    </p:anim>
                                  </p:childTnLst>
                                </p:cTn>
                              </p:par>
                            </p:childTnLst>
                          </p:cTn>
                        </p:par>
                        <p:par>
                          <p:cTn id="46" fill="hold">
                            <p:stCondLst>
                              <p:cond delay="3600"/>
                            </p:stCondLst>
                            <p:childTnLst>
                              <p:par>
                                <p:cTn id="47" presetID="2" presetClass="entr" presetSubtype="4" decel="100000" fill="hold" grpId="0" nodeType="afterEffect">
                                  <p:stCondLst>
                                    <p:cond delay="0"/>
                                  </p:stCondLst>
                                  <p:childTnLst>
                                    <p:set>
                                      <p:cBhvr>
                                        <p:cTn id="48" dur="1" fill="hold">
                                          <p:stCondLst>
                                            <p:cond delay="0"/>
                                          </p:stCondLst>
                                        </p:cTn>
                                        <p:tgtEl>
                                          <p:spTgt spid="216"/>
                                        </p:tgtEl>
                                        <p:attrNameLst>
                                          <p:attrName>style.visibility</p:attrName>
                                        </p:attrNameLst>
                                      </p:cBhvr>
                                      <p:to>
                                        <p:strVal val="visible"/>
                                      </p:to>
                                    </p:set>
                                    <p:anim calcmode="lin" valueType="num">
                                      <p:cBhvr additive="base">
                                        <p:cTn id="49" dur="500" fill="hold"/>
                                        <p:tgtEl>
                                          <p:spTgt spid="216"/>
                                        </p:tgtEl>
                                        <p:attrNameLst>
                                          <p:attrName>ppt_x</p:attrName>
                                        </p:attrNameLst>
                                      </p:cBhvr>
                                      <p:tavLst>
                                        <p:tav tm="0">
                                          <p:val>
                                            <p:strVal val="#ppt_x"/>
                                          </p:val>
                                        </p:tav>
                                        <p:tav tm="100000">
                                          <p:val>
                                            <p:strVal val="#ppt_x"/>
                                          </p:val>
                                        </p:tav>
                                      </p:tavLst>
                                    </p:anim>
                                    <p:anim calcmode="lin" valueType="num">
                                      <p:cBhvr additive="base">
                                        <p:cTn id="50" dur="500" fill="hold"/>
                                        <p:tgtEl>
                                          <p:spTgt spid="2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p:bldP spid="215" grpId="0"/>
      <p:bldP spid="216" grpId="0"/>
      <p:bldP spid="217" grpId="0"/>
      <p:bldP spid="218" grpId="0" animBg="1"/>
      <p:bldP spid="219" grpId="0" animBg="1"/>
      <p:bldP spid="220" grpId="0" animBg="1"/>
      <p:bldP spid="2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282575" y="2171144"/>
            <a:ext cx="2765425" cy="963613"/>
            <a:chOff x="219753" y="1976522"/>
            <a:chExt cx="2765362" cy="964005"/>
          </a:xfrm>
        </p:grpSpPr>
        <p:sp>
          <p:nvSpPr>
            <p:cNvPr id="14338" name="文本框 38"/>
            <p:cNvSpPr txBox="1"/>
            <p:nvPr/>
          </p:nvSpPr>
          <p:spPr>
            <a:xfrm>
              <a:off x="219753" y="2417307"/>
              <a:ext cx="2741158" cy="523220"/>
            </a:xfrm>
            <a:prstGeom prst="rect">
              <a:avLst/>
            </a:prstGeom>
            <a:noFill/>
            <a:ln w="9525">
              <a:noFill/>
            </a:ln>
          </p:spPr>
          <p:txBody>
            <a:bodyPr anchor="t">
              <a:spAutoFit/>
            </a:bodyPr>
            <a:lstStyle/>
            <a:p>
              <a:pPr algn="r"/>
              <a:r>
                <a:rPr lang="en-US" altLang="zh-CN" sz="2800" dirty="0">
                  <a:solidFill>
                    <a:schemeClr val="bg1"/>
                  </a:solidFill>
                  <a:latin typeface="微软雅黑" panose="020B0503020204020204" pitchFamily="34" charset="-122"/>
                  <a:ea typeface="微软雅黑" panose="020B0503020204020204" pitchFamily="34" charset="-122"/>
                </a:rPr>
                <a:t>CONTENTS</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14339" name="文本框 11"/>
            <p:cNvSpPr txBox="1"/>
            <p:nvPr/>
          </p:nvSpPr>
          <p:spPr>
            <a:xfrm>
              <a:off x="1979712" y="1976522"/>
              <a:ext cx="1005403" cy="584775"/>
            </a:xfrm>
            <a:prstGeom prst="rect">
              <a:avLst/>
            </a:prstGeom>
            <a:noFill/>
            <a:ln w="9525">
              <a:noFill/>
            </a:ln>
          </p:spPr>
          <p:txBody>
            <a:bodyPr wrap="none" anchor="t">
              <a:spAutoFit/>
            </a:bodyPr>
            <a:lstStyle/>
            <a:p>
              <a:r>
                <a:rPr lang="zh-CN" altLang="en-US" sz="3200" dirty="0">
                  <a:solidFill>
                    <a:schemeClr val="bg1"/>
                  </a:solidFill>
                  <a:latin typeface="微软雅黑" panose="020B0503020204020204" pitchFamily="34" charset="-122"/>
                  <a:ea typeface="微软雅黑" panose="020B0503020204020204" pitchFamily="34" charset="-122"/>
                </a:rPr>
                <a:t>目录</a:t>
              </a:r>
            </a:p>
          </p:txBody>
        </p:sp>
      </p:grpSp>
      <p:sp>
        <p:nvSpPr>
          <p:cNvPr id="83" name="文本框 27"/>
          <p:cNvSpPr txBox="1"/>
          <p:nvPr/>
        </p:nvSpPr>
        <p:spPr>
          <a:xfrm>
            <a:off x="3781286" y="680302"/>
            <a:ext cx="3320140" cy="3782895"/>
          </a:xfrm>
          <a:prstGeom prst="rect">
            <a:avLst/>
          </a:prstGeom>
          <a:noFill/>
          <a:ln w="9525">
            <a:noFill/>
          </a:ln>
        </p:spPr>
        <p:txBody>
          <a:bodyPr wrap="none" anchor="t">
            <a:spAutoFit/>
          </a:bodyPr>
          <a:lstStyle/>
          <a:p>
            <a:pPr>
              <a:lnSpc>
                <a:spcPct val="150000"/>
              </a:lnSpc>
            </a:pPr>
            <a:r>
              <a:rPr lang="en-US" altLang="zh-CN" sz="1800" dirty="0">
                <a:solidFill>
                  <a:schemeClr val="bg1"/>
                </a:solidFill>
                <a:latin typeface="微软雅黑" panose="020B0503020204020204" pitchFamily="34" charset="-122"/>
                <a:ea typeface="微软雅黑" panose="020B0503020204020204" pitchFamily="34" charset="-122"/>
              </a:rPr>
              <a:t>1</a:t>
            </a:r>
            <a:r>
              <a:rPr lang="zh-CN" altLang="en-US" sz="1800" dirty="0">
                <a:solidFill>
                  <a:schemeClr val="bg1"/>
                </a:solidFill>
                <a:latin typeface="微软雅黑" panose="020B0503020204020204" pitchFamily="34" charset="-122"/>
                <a:ea typeface="微软雅黑" panose="020B0503020204020204" pitchFamily="34" charset="-122"/>
              </a:rPr>
              <a:t>、本科毕设任务安排</a:t>
            </a:r>
          </a:p>
          <a:p>
            <a:pPr>
              <a:lnSpc>
                <a:spcPct val="150000"/>
              </a:lnSpc>
            </a:pPr>
            <a:endParaRPr lang="en-US" altLang="zh-CN" sz="1800" dirty="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chemeClr val="bg1"/>
                </a:solidFill>
                <a:latin typeface="微软雅黑" panose="020B0503020204020204" pitchFamily="34" charset="-122"/>
                <a:ea typeface="微软雅黑" panose="020B0503020204020204" pitchFamily="34" charset="-122"/>
              </a:rPr>
              <a:t>2</a:t>
            </a:r>
            <a:r>
              <a:rPr lang="zh-CN" altLang="en-US" sz="1800" dirty="0">
                <a:solidFill>
                  <a:schemeClr val="bg1"/>
                </a:solidFill>
                <a:latin typeface="微软雅黑" panose="020B0503020204020204" pitchFamily="34" charset="-122"/>
                <a:ea typeface="微软雅黑" panose="020B0503020204020204" pitchFamily="34" charset="-122"/>
              </a:rPr>
              <a:t>、研究目的和意义</a:t>
            </a:r>
          </a:p>
          <a:p>
            <a:pPr>
              <a:lnSpc>
                <a:spcPct val="150000"/>
              </a:lnSpc>
            </a:pPr>
            <a:endParaRPr lang="en-US" altLang="zh-CN" sz="1800" dirty="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chemeClr val="bg1"/>
                </a:solidFill>
                <a:latin typeface="微软雅黑" panose="020B0503020204020204" pitchFamily="34" charset="-122"/>
                <a:ea typeface="微软雅黑" panose="020B0503020204020204" pitchFamily="34" charset="-122"/>
              </a:rPr>
              <a:t>3</a:t>
            </a:r>
            <a:r>
              <a:rPr lang="zh-CN" altLang="en-US" sz="1800" dirty="0">
                <a:solidFill>
                  <a:schemeClr val="bg1"/>
                </a:solidFill>
                <a:latin typeface="微软雅黑" panose="020B0503020204020204" pitchFamily="34" charset="-122"/>
                <a:ea typeface="微软雅黑" panose="020B0503020204020204" pitchFamily="34" charset="-122"/>
              </a:rPr>
              <a:t>、国内外研究进展</a:t>
            </a:r>
          </a:p>
          <a:p>
            <a:pPr>
              <a:lnSpc>
                <a:spcPct val="150000"/>
              </a:lnSpc>
            </a:pPr>
            <a:endParaRPr lang="en-US" altLang="zh-CN" sz="1800" dirty="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chemeClr val="bg1"/>
                </a:solidFill>
                <a:latin typeface="微软雅黑" panose="020B0503020204020204" pitchFamily="34" charset="-122"/>
                <a:ea typeface="微软雅黑" panose="020B0503020204020204" pitchFamily="34" charset="-122"/>
              </a:rPr>
              <a:t>4</a:t>
            </a:r>
            <a:r>
              <a:rPr lang="zh-CN" altLang="en-US" sz="1800" dirty="0">
                <a:solidFill>
                  <a:schemeClr val="bg1"/>
                </a:solidFill>
                <a:latin typeface="微软雅黑" panose="020B0503020204020204" pitchFamily="34" charset="-122"/>
                <a:ea typeface="微软雅黑" panose="020B0503020204020204" pitchFamily="34" charset="-122"/>
              </a:rPr>
              <a:t>、论文的方法原理及实现流程</a:t>
            </a:r>
          </a:p>
          <a:p>
            <a:pPr>
              <a:lnSpc>
                <a:spcPct val="150000"/>
              </a:lnSpc>
            </a:pPr>
            <a:endParaRPr lang="en-US" altLang="zh-CN" sz="1800" dirty="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chemeClr val="bg1"/>
                </a:solidFill>
                <a:latin typeface="微软雅黑" panose="020B0503020204020204" pitchFamily="34" charset="-122"/>
                <a:ea typeface="微软雅黑" panose="020B0503020204020204" pitchFamily="34" charset="-122"/>
              </a:rPr>
              <a:t>5</a:t>
            </a:r>
            <a:r>
              <a:rPr lang="zh-CN" altLang="en-US" sz="1800" dirty="0">
                <a:solidFill>
                  <a:schemeClr val="bg1"/>
                </a:solidFill>
                <a:latin typeface="微软雅黑" panose="020B0503020204020204" pitchFamily="34" charset="-122"/>
                <a:ea typeface="微软雅黑" panose="020B0503020204020204" pitchFamily="34" charset="-122"/>
              </a:rPr>
              <a:t>、论文研究计划及时间安排</a:t>
            </a:r>
            <a:endParaRPr lang="en-US" altLang="zh-CN" sz="1800" dirty="0">
              <a:solidFill>
                <a:schemeClr val="bg1"/>
              </a:solidFill>
              <a:latin typeface="微软雅黑" panose="020B0503020204020204" pitchFamily="34" charset="-122"/>
              <a:ea typeface="微软雅黑" panose="020B0503020204020204" pitchFamily="34" charset="-122"/>
            </a:endParaRPr>
          </a:p>
        </p:txBody>
      </p:sp>
      <p:cxnSp>
        <p:nvCxnSpPr>
          <p:cNvPr id="95" name="直接连接符 94"/>
          <p:cNvCxnSpPr>
            <a:cxnSpLocks/>
          </p:cNvCxnSpPr>
          <p:nvPr/>
        </p:nvCxnSpPr>
        <p:spPr>
          <a:xfrm>
            <a:off x="3340100" y="194553"/>
            <a:ext cx="0" cy="478600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5432319"/>
      </p:ext>
    </p:extLst>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6700" fill="hold" nodeType="after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500" fill="hold"/>
                                        <p:tgtEl>
                                          <p:spTgt spid="68"/>
                                        </p:tgtEl>
                                        <p:attrNameLst>
                                          <p:attrName>ppt_x</p:attrName>
                                        </p:attrNameLst>
                                      </p:cBhvr>
                                      <p:tavLst>
                                        <p:tav tm="0">
                                          <p:val>
                                            <p:strVal val="0-#ppt_w/2"/>
                                          </p:val>
                                        </p:tav>
                                        <p:tav tm="100000">
                                          <p:val>
                                            <p:strVal val="#ppt_x"/>
                                          </p:val>
                                        </p:tav>
                                      </p:tavLst>
                                    </p:anim>
                                    <p:anim calcmode="lin" valueType="num">
                                      <p:cBhvr additive="base">
                                        <p:cTn id="8" dur="500" fill="hold"/>
                                        <p:tgtEl>
                                          <p:spTgt spid="6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95"/>
                                        </p:tgtEl>
                                        <p:attrNameLst>
                                          <p:attrName>style.visibility</p:attrName>
                                        </p:attrNameLst>
                                      </p:cBhvr>
                                      <p:to>
                                        <p:strVal val="visible"/>
                                      </p:to>
                                    </p:set>
                                    <p:anim calcmode="lin" valueType="num">
                                      <p:cBhvr additive="base">
                                        <p:cTn id="12" dur="500" fill="hold"/>
                                        <p:tgtEl>
                                          <p:spTgt spid="95"/>
                                        </p:tgtEl>
                                        <p:attrNameLst>
                                          <p:attrName>ppt_x</p:attrName>
                                        </p:attrNameLst>
                                      </p:cBhvr>
                                      <p:tavLst>
                                        <p:tav tm="0">
                                          <p:val>
                                            <p:strVal val="#ppt_x"/>
                                          </p:val>
                                        </p:tav>
                                        <p:tav tm="100000">
                                          <p:val>
                                            <p:strVal val="#ppt_x"/>
                                          </p:val>
                                        </p:tav>
                                      </p:tavLst>
                                    </p:anim>
                                    <p:anim calcmode="lin" valueType="num">
                                      <p:cBhvr additive="base">
                                        <p:cTn id="13" dur="500" fill="hold"/>
                                        <p:tgtEl>
                                          <p:spTgt spid="95"/>
                                        </p:tgtEl>
                                        <p:attrNameLst>
                                          <p:attrName>ppt_y</p:attrName>
                                        </p:attrNameLst>
                                      </p:cBhvr>
                                      <p:tavLst>
                                        <p:tav tm="0">
                                          <p:val>
                                            <p:strVal val="0-#ppt_h/2"/>
                                          </p:val>
                                        </p:tav>
                                        <p:tav tm="100000">
                                          <p:val>
                                            <p:strVal val="#ppt_y"/>
                                          </p:val>
                                        </p:tav>
                                      </p:tavLst>
                                    </p:anim>
                                  </p:childTnLst>
                                </p:cTn>
                              </p:par>
                              <p:par>
                                <p:cTn id="14" presetID="22" presetClass="entr" presetSubtype="8" fill="hold" grpId="0" nodeType="withEffect">
                                  <p:stCondLst>
                                    <p:cond delay="1500"/>
                                  </p:stCondLst>
                                  <p:childTnLst>
                                    <p:set>
                                      <p:cBhvr>
                                        <p:cTn id="15" dur="1" fill="hold">
                                          <p:stCondLst>
                                            <p:cond delay="0"/>
                                          </p:stCondLst>
                                        </p:cTn>
                                        <p:tgtEl>
                                          <p:spTgt spid="83"/>
                                        </p:tgtEl>
                                        <p:attrNameLst>
                                          <p:attrName>style.visibility</p:attrName>
                                        </p:attrNameLst>
                                      </p:cBhvr>
                                      <p:to>
                                        <p:strVal val="visible"/>
                                      </p:to>
                                    </p:set>
                                    <p:animEffect transition="in" filter="wipe(left)">
                                      <p:cBhvr>
                                        <p:cTn id="16"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38125" y="296863"/>
            <a:ext cx="1363663" cy="474662"/>
            <a:chOff x="184527" y="297451"/>
            <a:chExt cx="1363137" cy="473415"/>
          </a:xfrm>
        </p:grpSpPr>
        <p:pic>
          <p:nvPicPr>
            <p:cNvPr id="16386" name="图片 1"/>
            <p:cNvPicPr>
              <a:picLocks noChangeAspect="1"/>
            </p:cNvPicPr>
            <p:nvPr/>
          </p:nvPicPr>
          <p:blipFill>
            <a:blip r:embed="rId3" cstate="print"/>
            <a:stretch>
              <a:fillRect/>
            </a:stretch>
          </p:blipFill>
          <p:spPr>
            <a:xfrm flipH="1">
              <a:off x="184527" y="297451"/>
              <a:ext cx="422017" cy="473415"/>
            </a:xfrm>
            <a:prstGeom prst="rect">
              <a:avLst/>
            </a:prstGeom>
            <a:noFill/>
            <a:ln w="9525">
              <a:noFill/>
            </a:ln>
          </p:spPr>
        </p:pic>
        <p:sp>
          <p:nvSpPr>
            <p:cNvPr id="3" name="文本框 2"/>
            <p:cNvSpPr txBox="1"/>
            <p:nvPr/>
          </p:nvSpPr>
          <p:spPr>
            <a:xfrm>
              <a:off x="539990" y="376617"/>
              <a:ext cx="1007674" cy="368915"/>
            </a:xfrm>
            <a:prstGeom prst="rect">
              <a:avLst/>
            </a:prstGeom>
            <a:noFill/>
          </p:spPr>
          <p:txBody>
            <a:bodyPr>
              <a:spAutoFit/>
            </a:bodyPr>
            <a:lstStyle/>
            <a:p>
              <a:pPr marR="0" defTabSz="685800" rtl="0" fontAlgn="auto">
                <a:spcBef>
                  <a:spcPts val="0"/>
                </a:spcBef>
                <a:spcAft>
                  <a:spcPts val="0"/>
                </a:spcAft>
                <a:buClrTx/>
                <a:buSzTx/>
                <a:buFontTx/>
                <a:defRPr/>
              </a:pPr>
              <a:r>
                <a:rPr kumimoji="0" lang="zh-CN" altLang="en-US" sz="1800" kern="1200" cap="none" spc="0" normalizeH="0" baseline="0" noProof="0" dirty="0">
                  <a:solidFill>
                    <a:schemeClr val="bg1">
                      <a:lumMod val="95000"/>
                    </a:schemeClr>
                  </a:solidFill>
                  <a:latin typeface="+mn-lt"/>
                  <a:ea typeface="微软雅黑" panose="020B0503020204020204" pitchFamily="34" charset="-122"/>
                  <a:cs typeface="+mn-cs"/>
                </a:rPr>
                <a:t>目录页</a:t>
              </a:r>
            </a:p>
          </p:txBody>
        </p:sp>
        <p:cxnSp>
          <p:nvCxnSpPr>
            <p:cNvPr id="5" name="直接连接符 4"/>
            <p:cNvCxnSpPr/>
            <p:nvPr/>
          </p:nvCxnSpPr>
          <p:spPr>
            <a:xfrm>
              <a:off x="539990" y="745533"/>
              <a:ext cx="863267"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1097756" y="1858536"/>
            <a:ext cx="1128713" cy="1128712"/>
            <a:chOff x="2558424" y="1401428"/>
            <a:chExt cx="1318727" cy="1318727"/>
          </a:xfrm>
        </p:grpSpPr>
        <p:sp>
          <p:nvSpPr>
            <p:cNvPr id="35" name="椭圆 34"/>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sp>
          <p:nvSpPr>
            <p:cNvPr id="36" name="Freeform 11"/>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grpSp>
      <p:sp>
        <p:nvSpPr>
          <p:cNvPr id="16393" name="文本框 37"/>
          <p:cNvSpPr txBox="1"/>
          <p:nvPr/>
        </p:nvSpPr>
        <p:spPr>
          <a:xfrm>
            <a:off x="2326482" y="2156251"/>
            <a:ext cx="5628815" cy="707886"/>
          </a:xfrm>
          <a:prstGeom prst="rect">
            <a:avLst/>
          </a:prstGeom>
          <a:noFill/>
          <a:ln w="9525">
            <a:noFill/>
          </a:ln>
        </p:spPr>
        <p:txBody>
          <a:bodyPr wrap="square" anchor="t">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本科毕设任务安排</a:t>
            </a:r>
            <a:endParaRPr lang="zh-CN" altLang="en-US" sz="4000" dirty="0">
              <a:solidFill>
                <a:schemeClr val="bg1"/>
              </a:solidFill>
              <a:latin typeface="方正正黑简体" panose="02000000000000000000" pitchFamily="2" charset="-122"/>
              <a:ea typeface="微软雅黑" panose="020B0503020204020204" pitchFamily="34" charset="-122"/>
            </a:endParaRPr>
          </a:p>
        </p:txBody>
      </p:sp>
    </p:spTree>
  </p:cSld>
  <p:clrMapOvr>
    <a:masterClrMapping/>
  </p:clrMapOvr>
  <p:transition spd="slow" advClick="0" advTm="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p:cTn id="12" dur="250" fill="hold"/>
                                        <p:tgtEl>
                                          <p:spTgt spid="34"/>
                                        </p:tgtEl>
                                        <p:attrNameLst>
                                          <p:attrName>ppt_w</p:attrName>
                                        </p:attrNameLst>
                                      </p:cBhvr>
                                      <p:tavLst>
                                        <p:tav tm="0">
                                          <p:val>
                                            <p:fltVal val="0"/>
                                          </p:val>
                                        </p:tav>
                                        <p:tav tm="100000">
                                          <p:val>
                                            <p:strVal val="#ppt_w"/>
                                          </p:val>
                                        </p:tav>
                                      </p:tavLst>
                                    </p:anim>
                                    <p:anim calcmode="lin" valueType="num">
                                      <p:cBhvr>
                                        <p:cTn id="13" dur="250" fill="hold"/>
                                        <p:tgtEl>
                                          <p:spTgt spid="34"/>
                                        </p:tgtEl>
                                        <p:attrNameLst>
                                          <p:attrName>ppt_h</p:attrName>
                                        </p:attrNameLst>
                                      </p:cBhvr>
                                      <p:tavLst>
                                        <p:tav tm="0">
                                          <p:val>
                                            <p:fltVal val="0"/>
                                          </p:val>
                                        </p:tav>
                                        <p:tav tm="100000">
                                          <p:val>
                                            <p:strVal val="#ppt_h"/>
                                          </p:val>
                                        </p:tav>
                                      </p:tavLst>
                                    </p:anim>
                                    <p:animEffect transition="in" filter="fade">
                                      <p:cBhvr>
                                        <p:cTn id="14" dur="250"/>
                                        <p:tgtEl>
                                          <p:spTgt spid="34"/>
                                        </p:tgtEl>
                                      </p:cBhvr>
                                    </p:animEffect>
                                  </p:childTnLst>
                                </p:cTn>
                              </p:par>
                              <p:par>
                                <p:cTn id="15" presetID="6" presetClass="emph" presetSubtype="0" decel="100000" fill="hold" nodeType="withEffect">
                                  <p:stCondLst>
                                    <p:cond delay="200"/>
                                  </p:stCondLst>
                                  <p:childTnLst>
                                    <p:animScale>
                                      <p:cBhvr>
                                        <p:cTn id="16" dur="250" fill="hold"/>
                                        <p:tgtEl>
                                          <p:spTgt spid="34"/>
                                        </p:tgtEl>
                                      </p:cBhvr>
                                      <p:by x="110000" y="110000"/>
                                    </p:animScale>
                                  </p:childTnLst>
                                </p:cTn>
                              </p:par>
                              <p:par>
                                <p:cTn id="17" presetID="6" presetClass="emph" presetSubtype="0" decel="100000" fill="hold" nodeType="withEffect">
                                  <p:stCondLst>
                                    <p:cond delay="400"/>
                                  </p:stCondLst>
                                  <p:childTnLst>
                                    <p:animScale>
                                      <p:cBhvr>
                                        <p:cTn id="18" dur="250" fill="hold"/>
                                        <p:tgtEl>
                                          <p:spTgt spid="34"/>
                                        </p:tgtEl>
                                      </p:cBhvr>
                                      <p:by x="91000" y="91000"/>
                                    </p:animScale>
                                  </p:childTnLst>
                                </p:cTn>
                              </p:par>
                            </p:childTnLst>
                          </p:cTn>
                        </p:par>
                        <p:par>
                          <p:cTn id="19" fill="hold">
                            <p:stCondLst>
                              <p:cond delay="1150"/>
                            </p:stCondLst>
                            <p:childTnLst>
                              <p:par>
                                <p:cTn id="20" presetID="53" presetClass="entr" presetSubtype="16" fill="hold" grpId="0" nodeType="afterEffect">
                                  <p:stCondLst>
                                    <p:cond delay="0"/>
                                  </p:stCondLst>
                                  <p:childTnLst>
                                    <p:set>
                                      <p:cBhvr>
                                        <p:cTn id="21" dur="1" fill="hold">
                                          <p:stCondLst>
                                            <p:cond delay="0"/>
                                          </p:stCondLst>
                                        </p:cTn>
                                        <p:tgtEl>
                                          <p:spTgt spid="16393"/>
                                        </p:tgtEl>
                                        <p:attrNameLst>
                                          <p:attrName>style.visibility</p:attrName>
                                        </p:attrNameLst>
                                      </p:cBhvr>
                                      <p:to>
                                        <p:strVal val="visible"/>
                                      </p:to>
                                    </p:set>
                                    <p:anim calcmode="lin" valueType="num">
                                      <p:cBhvr>
                                        <p:cTn id="22" dur="250" fill="hold"/>
                                        <p:tgtEl>
                                          <p:spTgt spid="16393"/>
                                        </p:tgtEl>
                                        <p:attrNameLst>
                                          <p:attrName>ppt_w</p:attrName>
                                        </p:attrNameLst>
                                      </p:cBhvr>
                                      <p:tavLst>
                                        <p:tav tm="0">
                                          <p:val>
                                            <p:fltVal val="0"/>
                                          </p:val>
                                        </p:tav>
                                        <p:tav tm="100000">
                                          <p:val>
                                            <p:strVal val="#ppt_w"/>
                                          </p:val>
                                        </p:tav>
                                      </p:tavLst>
                                    </p:anim>
                                    <p:anim calcmode="lin" valueType="num">
                                      <p:cBhvr>
                                        <p:cTn id="23" dur="250" fill="hold"/>
                                        <p:tgtEl>
                                          <p:spTgt spid="16393"/>
                                        </p:tgtEl>
                                        <p:attrNameLst>
                                          <p:attrName>ppt_h</p:attrName>
                                        </p:attrNameLst>
                                      </p:cBhvr>
                                      <p:tavLst>
                                        <p:tav tm="0">
                                          <p:val>
                                            <p:fltVal val="0"/>
                                          </p:val>
                                        </p:tav>
                                        <p:tav tm="100000">
                                          <p:val>
                                            <p:strVal val="#ppt_h"/>
                                          </p:val>
                                        </p:tav>
                                      </p:tavLst>
                                    </p:anim>
                                    <p:animEffect transition="in" filter="fade">
                                      <p:cBhvr>
                                        <p:cTn id="24" dur="250"/>
                                        <p:tgtEl>
                                          <p:spTgt spid="16393"/>
                                        </p:tgtEl>
                                      </p:cBhvr>
                                    </p:animEffect>
                                  </p:childTnLst>
                                </p:cTn>
                              </p:par>
                              <p:par>
                                <p:cTn id="25" presetID="6" presetClass="emph" presetSubtype="0" decel="100000" fill="hold" grpId="1" nodeType="withEffect">
                                  <p:stCondLst>
                                    <p:cond delay="200"/>
                                  </p:stCondLst>
                                  <p:childTnLst>
                                    <p:animScale>
                                      <p:cBhvr>
                                        <p:cTn id="26" dur="250" fill="hold"/>
                                        <p:tgtEl>
                                          <p:spTgt spid="16393"/>
                                        </p:tgtEl>
                                      </p:cBhvr>
                                      <p:by x="110000" y="110000"/>
                                    </p:animScale>
                                  </p:childTnLst>
                                </p:cTn>
                              </p:par>
                              <p:par>
                                <p:cTn id="27" presetID="6" presetClass="emph" presetSubtype="0" decel="100000" fill="hold" grpId="2" nodeType="withEffect">
                                  <p:stCondLst>
                                    <p:cond delay="400"/>
                                  </p:stCondLst>
                                  <p:childTnLst>
                                    <p:animScale>
                                      <p:cBhvr>
                                        <p:cTn id="28" dur="250" fill="hold"/>
                                        <p:tgtEl>
                                          <p:spTgt spid="16393"/>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p:bldP spid="16393" grpId="1"/>
      <p:bldP spid="16393" grpId="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3" name="图片 24"/>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6" name="文本框 25"/>
          <p:cNvSpPr txBox="1"/>
          <p:nvPr/>
        </p:nvSpPr>
        <p:spPr>
          <a:xfrm>
            <a:off x="411163" y="358775"/>
            <a:ext cx="1839668" cy="338554"/>
          </a:xfrm>
          <a:prstGeom prst="rect">
            <a:avLst/>
          </a:prstGeom>
          <a:noFill/>
        </p:spPr>
        <p:txBody>
          <a:bodyPr wrap="square">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本科毕设任务安排</a:t>
            </a:r>
            <a:endParaRPr kumimoji="0" lang="zh-CN" altLang="en-US" sz="1600" kern="1200" cap="none" spc="0" normalizeH="0" baseline="0" noProof="0" dirty="0">
              <a:solidFill>
                <a:schemeClr val="bg1">
                  <a:lumMod val="95000"/>
                </a:schemeClr>
              </a:solidFill>
              <a:latin typeface="微软雅黑" panose="020B0503020204020204" pitchFamily="34" charset="-122"/>
              <a:ea typeface="微软雅黑" panose="020B0503020204020204" pitchFamily="34" charset="-122"/>
              <a:cs typeface="+mn-cs"/>
            </a:endParaRPr>
          </a:p>
        </p:txBody>
      </p:sp>
      <p:sp>
        <p:nvSpPr>
          <p:cNvPr id="18451" name="矩形 54"/>
          <p:cNvSpPr/>
          <p:nvPr/>
        </p:nvSpPr>
        <p:spPr>
          <a:xfrm>
            <a:off x="411163" y="1603350"/>
            <a:ext cx="8581641" cy="2246769"/>
          </a:xfrm>
          <a:prstGeom prst="rect">
            <a:avLst/>
          </a:prstGeom>
          <a:noFill/>
          <a:ln w="9525">
            <a:noFill/>
          </a:ln>
        </p:spPr>
        <p:txBody>
          <a:bodyPr wrap="square" anchor="t">
            <a:spAutoFit/>
          </a:bodyPr>
          <a:lstStyle/>
          <a:p>
            <a:r>
              <a:rPr lang="en-US" altLang="zh-CN" sz="2000" dirty="0">
                <a:solidFill>
                  <a:schemeClr val="bg1"/>
                </a:solidFill>
                <a:latin typeface="微软雅黑" panose="020B0503020204020204" pitchFamily="34" charset="-122"/>
                <a:ea typeface="微软雅黑" panose="020B0503020204020204" pitchFamily="34" charset="-122"/>
              </a:rPr>
              <a:t>(1) </a:t>
            </a:r>
            <a:r>
              <a:rPr lang="zh-CN" altLang="zh-CN" sz="2000" dirty="0">
                <a:solidFill>
                  <a:schemeClr val="bg1"/>
                </a:solidFill>
                <a:latin typeface="微软雅黑" panose="020B0503020204020204" pitchFamily="34" charset="-122"/>
                <a:ea typeface="微软雅黑" panose="020B0503020204020204" pitchFamily="34" charset="-122"/>
              </a:rPr>
              <a:t>通过文献调研了解地震数据中噪声的种类；</a:t>
            </a:r>
            <a:endParaRPr lang="en-US" altLang="zh-CN" sz="2000" dirty="0">
              <a:solidFill>
                <a:schemeClr val="bg1"/>
              </a:solidFill>
              <a:latin typeface="微软雅黑" panose="020B0503020204020204" pitchFamily="34" charset="-122"/>
              <a:ea typeface="微软雅黑" panose="020B0503020204020204" pitchFamily="34" charset="-122"/>
            </a:endParaRPr>
          </a:p>
          <a:p>
            <a:endParaRPr lang="zh-CN" altLang="zh-CN" sz="2000" dirty="0">
              <a:solidFill>
                <a:schemeClr val="bg1"/>
              </a:solidFill>
              <a:latin typeface="微软雅黑" panose="020B0503020204020204" pitchFamily="34" charset="-122"/>
              <a:ea typeface="微软雅黑" panose="020B0503020204020204" pitchFamily="34" charset="-122"/>
            </a:endParaRPr>
          </a:p>
          <a:p>
            <a:r>
              <a:rPr lang="en-US" altLang="zh-CN" sz="2000" dirty="0">
                <a:solidFill>
                  <a:schemeClr val="bg1"/>
                </a:solidFill>
                <a:latin typeface="微软雅黑" panose="020B0503020204020204" pitchFamily="34" charset="-122"/>
                <a:ea typeface="微软雅黑" panose="020B0503020204020204" pitchFamily="34" charset="-122"/>
              </a:rPr>
              <a:t>(2) </a:t>
            </a:r>
            <a:r>
              <a:rPr lang="zh-CN" altLang="zh-CN" sz="2000" dirty="0">
                <a:solidFill>
                  <a:schemeClr val="bg1"/>
                </a:solidFill>
                <a:latin typeface="微软雅黑" panose="020B0503020204020204" pitchFamily="34" charset="-122"/>
                <a:ea typeface="微软雅黑" panose="020B0503020204020204" pitchFamily="34" charset="-122"/>
              </a:rPr>
              <a:t>调研目前地震异常值噪声压制方法和基本原理；</a:t>
            </a:r>
            <a:endParaRPr lang="en-US" altLang="zh-CN" sz="2000" dirty="0">
              <a:solidFill>
                <a:schemeClr val="bg1"/>
              </a:solidFill>
              <a:latin typeface="微软雅黑" panose="020B0503020204020204" pitchFamily="34" charset="-122"/>
              <a:ea typeface="微软雅黑" panose="020B0503020204020204" pitchFamily="34" charset="-122"/>
            </a:endParaRPr>
          </a:p>
          <a:p>
            <a:endParaRPr lang="zh-CN" altLang="zh-CN" sz="2000" dirty="0">
              <a:solidFill>
                <a:schemeClr val="bg1"/>
              </a:solidFill>
              <a:latin typeface="微软雅黑" panose="020B0503020204020204" pitchFamily="34" charset="-122"/>
              <a:ea typeface="微软雅黑" panose="020B0503020204020204" pitchFamily="34" charset="-122"/>
            </a:endParaRPr>
          </a:p>
          <a:p>
            <a:r>
              <a:rPr lang="en-US" altLang="zh-CN" sz="2000" dirty="0">
                <a:solidFill>
                  <a:schemeClr val="bg1"/>
                </a:solidFill>
                <a:latin typeface="微软雅黑" panose="020B0503020204020204" pitchFamily="34" charset="-122"/>
                <a:ea typeface="微软雅黑" panose="020B0503020204020204" pitchFamily="34" charset="-122"/>
              </a:rPr>
              <a:t>(3) </a:t>
            </a:r>
            <a:r>
              <a:rPr lang="zh-CN" altLang="zh-CN" sz="2000" dirty="0">
                <a:solidFill>
                  <a:schemeClr val="bg1"/>
                </a:solidFill>
                <a:latin typeface="微软雅黑" panose="020B0503020204020204" pitchFamily="34" charset="-122"/>
                <a:ea typeface="微软雅黑" panose="020B0503020204020204" pitchFamily="34" charset="-122"/>
              </a:rPr>
              <a:t>实现基于稳健主成分分析的地震数据异常值噪声压制；</a:t>
            </a:r>
            <a:endParaRPr lang="en-US" altLang="zh-CN" sz="2000" dirty="0">
              <a:solidFill>
                <a:schemeClr val="bg1"/>
              </a:solidFill>
              <a:latin typeface="微软雅黑" panose="020B0503020204020204" pitchFamily="34" charset="-122"/>
              <a:ea typeface="微软雅黑" panose="020B0503020204020204" pitchFamily="34" charset="-122"/>
            </a:endParaRPr>
          </a:p>
          <a:p>
            <a:endParaRPr lang="zh-CN" altLang="zh-CN" sz="2000" dirty="0">
              <a:solidFill>
                <a:schemeClr val="bg1"/>
              </a:solidFill>
              <a:latin typeface="微软雅黑" panose="020B0503020204020204" pitchFamily="34" charset="-122"/>
              <a:ea typeface="微软雅黑" panose="020B0503020204020204" pitchFamily="34" charset="-122"/>
            </a:endParaRPr>
          </a:p>
          <a:p>
            <a:r>
              <a:rPr lang="en-US" altLang="zh-CN" sz="2000" dirty="0">
                <a:solidFill>
                  <a:schemeClr val="bg1"/>
                </a:solidFill>
                <a:latin typeface="微软雅黑" panose="020B0503020204020204" pitchFamily="34" charset="-122"/>
                <a:ea typeface="微软雅黑" panose="020B0503020204020204" pitchFamily="34" charset="-122"/>
              </a:rPr>
              <a:t>(4) </a:t>
            </a:r>
            <a:r>
              <a:rPr lang="zh-CN" altLang="zh-CN" sz="2000" dirty="0">
                <a:solidFill>
                  <a:schemeClr val="bg1"/>
                </a:solidFill>
                <a:latin typeface="微软雅黑" panose="020B0503020204020204" pitchFamily="34" charset="-122"/>
                <a:ea typeface="微软雅黑" panose="020B0503020204020204" pitchFamily="34" charset="-122"/>
              </a:rPr>
              <a:t>将新算法用于模型数据和实际资料处理来检验方法的噪声压制效果。</a:t>
            </a:r>
          </a:p>
        </p:txBody>
      </p:sp>
    </p:spTree>
  </p:cSld>
  <p:clrMapOvr>
    <a:masterClrMapping/>
  </p:clrMapOvr>
  <p:transition spd="slow" advClick="0" advTm="0">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38125" y="296863"/>
            <a:ext cx="1363663" cy="474662"/>
            <a:chOff x="184527" y="297451"/>
            <a:chExt cx="1363137" cy="473415"/>
          </a:xfrm>
        </p:grpSpPr>
        <p:pic>
          <p:nvPicPr>
            <p:cNvPr id="36866" name="图片 1"/>
            <p:cNvPicPr>
              <a:picLocks noChangeAspect="1"/>
            </p:cNvPicPr>
            <p:nvPr/>
          </p:nvPicPr>
          <p:blipFill>
            <a:blip r:embed="rId3" cstate="print"/>
            <a:stretch>
              <a:fillRect/>
            </a:stretch>
          </p:blipFill>
          <p:spPr>
            <a:xfrm flipH="1">
              <a:off x="184527" y="297451"/>
              <a:ext cx="422017" cy="473415"/>
            </a:xfrm>
            <a:prstGeom prst="rect">
              <a:avLst/>
            </a:prstGeom>
            <a:noFill/>
            <a:ln w="9525">
              <a:noFill/>
            </a:ln>
          </p:spPr>
        </p:pic>
        <p:sp>
          <p:nvSpPr>
            <p:cNvPr id="3" name="文本框 2"/>
            <p:cNvSpPr txBox="1"/>
            <p:nvPr/>
          </p:nvSpPr>
          <p:spPr>
            <a:xfrm>
              <a:off x="539990" y="376617"/>
              <a:ext cx="1007674" cy="368915"/>
            </a:xfrm>
            <a:prstGeom prst="rect">
              <a:avLst/>
            </a:prstGeom>
            <a:noFill/>
          </p:spPr>
          <p:txBody>
            <a:bodyPr>
              <a:spAutoFit/>
            </a:bodyPr>
            <a:lstStyle/>
            <a:p>
              <a:pPr marR="0" defTabSz="685800" rtl="0" fontAlgn="auto">
                <a:spcBef>
                  <a:spcPts val="0"/>
                </a:spcBef>
                <a:spcAft>
                  <a:spcPts val="0"/>
                </a:spcAft>
                <a:buClrTx/>
                <a:buSzTx/>
                <a:buFontTx/>
                <a:defRPr/>
              </a:pPr>
              <a:r>
                <a:rPr kumimoji="0" lang="zh-CN" altLang="en-US" sz="1800" kern="1200" cap="none" spc="0" normalizeH="0" baseline="0" noProof="0" dirty="0">
                  <a:solidFill>
                    <a:schemeClr val="bg1">
                      <a:lumMod val="95000"/>
                    </a:schemeClr>
                  </a:solidFill>
                  <a:latin typeface="+mn-lt"/>
                  <a:ea typeface="微软雅黑" panose="020B0503020204020204" pitchFamily="34" charset="-122"/>
                  <a:cs typeface="+mn-cs"/>
                </a:rPr>
                <a:t>目录页</a:t>
              </a:r>
            </a:p>
          </p:txBody>
        </p:sp>
        <p:cxnSp>
          <p:nvCxnSpPr>
            <p:cNvPr id="5" name="直接连接符 4"/>
            <p:cNvCxnSpPr/>
            <p:nvPr/>
          </p:nvCxnSpPr>
          <p:spPr>
            <a:xfrm>
              <a:off x="539990" y="745533"/>
              <a:ext cx="863267"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6870" name="文本框 19"/>
          <p:cNvSpPr txBox="1"/>
          <p:nvPr/>
        </p:nvSpPr>
        <p:spPr>
          <a:xfrm>
            <a:off x="2326482" y="2217807"/>
            <a:ext cx="4085278" cy="707886"/>
          </a:xfrm>
          <a:prstGeom prst="rect">
            <a:avLst/>
          </a:prstGeom>
          <a:noFill/>
          <a:ln w="9525">
            <a:noFill/>
          </a:ln>
        </p:spPr>
        <p:txBody>
          <a:bodyPr wrap="square" anchor="t">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研究目的和意义</a:t>
            </a:r>
          </a:p>
        </p:txBody>
      </p:sp>
      <p:grpSp>
        <p:nvGrpSpPr>
          <p:cNvPr id="12" name="组合 11"/>
          <p:cNvGrpSpPr/>
          <p:nvPr/>
        </p:nvGrpSpPr>
        <p:grpSpPr>
          <a:xfrm>
            <a:off x="1097756" y="1906449"/>
            <a:ext cx="1128713" cy="1128712"/>
            <a:chOff x="2558424" y="1401428"/>
            <a:chExt cx="1318727" cy="1318727"/>
          </a:xfrm>
        </p:grpSpPr>
        <p:sp>
          <p:nvSpPr>
            <p:cNvPr id="13" name="椭圆 12"/>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sp>
          <p:nvSpPr>
            <p:cNvPr id="15" name="Freeform 11"/>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grpSp>
    </p:spTree>
    <p:extLst>
      <p:ext uri="{BB962C8B-B14F-4D97-AF65-F5344CB8AC3E}">
        <p14:creationId xmlns:p14="http://schemas.microsoft.com/office/powerpoint/2010/main" val="3160676292"/>
      </p:ext>
    </p:extLst>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250" fill="hold"/>
                                        <p:tgtEl>
                                          <p:spTgt spid="12"/>
                                        </p:tgtEl>
                                        <p:attrNameLst>
                                          <p:attrName>ppt_w</p:attrName>
                                        </p:attrNameLst>
                                      </p:cBhvr>
                                      <p:tavLst>
                                        <p:tav tm="0">
                                          <p:val>
                                            <p:fltVal val="0"/>
                                          </p:val>
                                        </p:tav>
                                        <p:tav tm="100000">
                                          <p:val>
                                            <p:strVal val="#ppt_w"/>
                                          </p:val>
                                        </p:tav>
                                      </p:tavLst>
                                    </p:anim>
                                    <p:anim calcmode="lin" valueType="num">
                                      <p:cBhvr>
                                        <p:cTn id="13" dur="250" fill="hold"/>
                                        <p:tgtEl>
                                          <p:spTgt spid="12"/>
                                        </p:tgtEl>
                                        <p:attrNameLst>
                                          <p:attrName>ppt_h</p:attrName>
                                        </p:attrNameLst>
                                      </p:cBhvr>
                                      <p:tavLst>
                                        <p:tav tm="0">
                                          <p:val>
                                            <p:fltVal val="0"/>
                                          </p:val>
                                        </p:tav>
                                        <p:tav tm="100000">
                                          <p:val>
                                            <p:strVal val="#ppt_h"/>
                                          </p:val>
                                        </p:tav>
                                      </p:tavLst>
                                    </p:anim>
                                    <p:animEffect transition="in" filter="fade">
                                      <p:cBhvr>
                                        <p:cTn id="14" dur="250"/>
                                        <p:tgtEl>
                                          <p:spTgt spid="12"/>
                                        </p:tgtEl>
                                      </p:cBhvr>
                                    </p:animEffect>
                                  </p:childTnLst>
                                </p:cTn>
                              </p:par>
                              <p:par>
                                <p:cTn id="15" presetID="6" presetClass="emph" presetSubtype="0" decel="100000" fill="hold" nodeType="withEffect">
                                  <p:stCondLst>
                                    <p:cond delay="200"/>
                                  </p:stCondLst>
                                  <p:childTnLst>
                                    <p:animScale>
                                      <p:cBhvr>
                                        <p:cTn id="16" dur="250" fill="hold"/>
                                        <p:tgtEl>
                                          <p:spTgt spid="12"/>
                                        </p:tgtEl>
                                      </p:cBhvr>
                                      <p:by x="110000" y="110000"/>
                                    </p:animScale>
                                  </p:childTnLst>
                                </p:cTn>
                              </p:par>
                              <p:par>
                                <p:cTn id="17" presetID="6" presetClass="emph" presetSubtype="0" decel="100000" fill="hold" nodeType="withEffect">
                                  <p:stCondLst>
                                    <p:cond delay="400"/>
                                  </p:stCondLst>
                                  <p:childTnLst>
                                    <p:animScale>
                                      <p:cBhvr>
                                        <p:cTn id="18" dur="250" fill="hold"/>
                                        <p:tgtEl>
                                          <p:spTgt spid="12"/>
                                        </p:tgtEl>
                                      </p:cBhvr>
                                      <p:by x="91000" y="91000"/>
                                    </p:animScale>
                                  </p:childTnLst>
                                </p:cTn>
                              </p:par>
                            </p:childTnLst>
                          </p:cTn>
                        </p:par>
                        <p:par>
                          <p:cTn id="19" fill="hold">
                            <p:stCondLst>
                              <p:cond delay="1150"/>
                            </p:stCondLst>
                            <p:childTnLst>
                              <p:par>
                                <p:cTn id="20" presetID="53" presetClass="entr" presetSubtype="16" fill="hold" grpId="0" nodeType="afterEffect">
                                  <p:stCondLst>
                                    <p:cond delay="0"/>
                                  </p:stCondLst>
                                  <p:childTnLst>
                                    <p:set>
                                      <p:cBhvr>
                                        <p:cTn id="21" dur="1" fill="hold">
                                          <p:stCondLst>
                                            <p:cond delay="0"/>
                                          </p:stCondLst>
                                        </p:cTn>
                                        <p:tgtEl>
                                          <p:spTgt spid="36870"/>
                                        </p:tgtEl>
                                        <p:attrNameLst>
                                          <p:attrName>style.visibility</p:attrName>
                                        </p:attrNameLst>
                                      </p:cBhvr>
                                      <p:to>
                                        <p:strVal val="visible"/>
                                      </p:to>
                                    </p:set>
                                    <p:anim calcmode="lin" valueType="num">
                                      <p:cBhvr>
                                        <p:cTn id="22" dur="250" fill="hold"/>
                                        <p:tgtEl>
                                          <p:spTgt spid="36870"/>
                                        </p:tgtEl>
                                        <p:attrNameLst>
                                          <p:attrName>ppt_w</p:attrName>
                                        </p:attrNameLst>
                                      </p:cBhvr>
                                      <p:tavLst>
                                        <p:tav tm="0">
                                          <p:val>
                                            <p:fltVal val="0"/>
                                          </p:val>
                                        </p:tav>
                                        <p:tav tm="100000">
                                          <p:val>
                                            <p:strVal val="#ppt_w"/>
                                          </p:val>
                                        </p:tav>
                                      </p:tavLst>
                                    </p:anim>
                                    <p:anim calcmode="lin" valueType="num">
                                      <p:cBhvr>
                                        <p:cTn id="23" dur="250" fill="hold"/>
                                        <p:tgtEl>
                                          <p:spTgt spid="36870"/>
                                        </p:tgtEl>
                                        <p:attrNameLst>
                                          <p:attrName>ppt_h</p:attrName>
                                        </p:attrNameLst>
                                      </p:cBhvr>
                                      <p:tavLst>
                                        <p:tav tm="0">
                                          <p:val>
                                            <p:fltVal val="0"/>
                                          </p:val>
                                        </p:tav>
                                        <p:tav tm="100000">
                                          <p:val>
                                            <p:strVal val="#ppt_h"/>
                                          </p:val>
                                        </p:tav>
                                      </p:tavLst>
                                    </p:anim>
                                    <p:animEffect transition="in" filter="fade">
                                      <p:cBhvr>
                                        <p:cTn id="24" dur="250"/>
                                        <p:tgtEl>
                                          <p:spTgt spid="36870"/>
                                        </p:tgtEl>
                                      </p:cBhvr>
                                    </p:animEffect>
                                  </p:childTnLst>
                                </p:cTn>
                              </p:par>
                              <p:par>
                                <p:cTn id="25" presetID="6" presetClass="emph" presetSubtype="0" decel="100000" fill="hold" grpId="1" nodeType="withEffect">
                                  <p:stCondLst>
                                    <p:cond delay="200"/>
                                  </p:stCondLst>
                                  <p:childTnLst>
                                    <p:animScale>
                                      <p:cBhvr>
                                        <p:cTn id="26" dur="250" fill="hold"/>
                                        <p:tgtEl>
                                          <p:spTgt spid="36870"/>
                                        </p:tgtEl>
                                      </p:cBhvr>
                                      <p:by x="110000" y="110000"/>
                                    </p:animScale>
                                  </p:childTnLst>
                                </p:cTn>
                              </p:par>
                              <p:par>
                                <p:cTn id="27" presetID="6" presetClass="emph" presetSubtype="0" decel="100000" fill="hold" grpId="2" nodeType="withEffect">
                                  <p:stCondLst>
                                    <p:cond delay="400"/>
                                  </p:stCondLst>
                                  <p:childTnLst>
                                    <p:animScale>
                                      <p:cBhvr>
                                        <p:cTn id="28" dur="250" fill="hold"/>
                                        <p:tgtEl>
                                          <p:spTgt spid="36870"/>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p:bldP spid="36870" grpId="1"/>
      <p:bldP spid="36870" grpId="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图片 24"/>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6" name="文本框 25"/>
          <p:cNvSpPr txBox="1"/>
          <p:nvPr/>
        </p:nvSpPr>
        <p:spPr>
          <a:xfrm>
            <a:off x="411163" y="365125"/>
            <a:ext cx="1760538" cy="338554"/>
          </a:xfrm>
          <a:prstGeom prst="rect">
            <a:avLst/>
          </a:prstGeom>
          <a:noFill/>
        </p:spPr>
        <p:txBody>
          <a:bodyPr>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研究目的和意义</a:t>
            </a:r>
          </a:p>
        </p:txBody>
      </p:sp>
      <p:sp>
        <p:nvSpPr>
          <p:cNvPr id="2" name="文本框 1"/>
          <p:cNvSpPr txBox="1"/>
          <p:nvPr/>
        </p:nvSpPr>
        <p:spPr>
          <a:xfrm>
            <a:off x="411163" y="868518"/>
            <a:ext cx="8538284" cy="2831544"/>
          </a:xfrm>
          <a:prstGeom prst="rect">
            <a:avLst/>
          </a:prstGeom>
          <a:noFill/>
        </p:spPr>
        <p:txBody>
          <a:bodyPr wrap="square"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     </a:t>
            </a:r>
            <a:r>
              <a:rPr lang="zh-CN" altLang="zh-CN" sz="2000" dirty="0">
                <a:solidFill>
                  <a:schemeClr val="bg1"/>
                </a:solidFill>
                <a:latin typeface="微软雅黑" panose="020B0503020204020204" pitchFamily="34" charset="-122"/>
                <a:ea typeface="微软雅黑" panose="020B0503020204020204" pitchFamily="34" charset="-122"/>
              </a:rPr>
              <a:t>地震勘探数据</a:t>
            </a:r>
            <a:r>
              <a:rPr lang="zh-CN" altLang="en-US" sz="2000" dirty="0">
                <a:solidFill>
                  <a:schemeClr val="bg1"/>
                </a:solidFill>
                <a:latin typeface="微软雅黑" panose="020B0503020204020204" pitchFamily="34" charset="-122"/>
                <a:ea typeface="微软雅黑" panose="020B0503020204020204" pitchFamily="34" charset="-122"/>
              </a:rPr>
              <a:t>常</a:t>
            </a:r>
            <a:r>
              <a:rPr lang="zh-CN" altLang="zh-CN" sz="2000" dirty="0">
                <a:solidFill>
                  <a:schemeClr val="bg1"/>
                </a:solidFill>
                <a:latin typeface="微软雅黑" panose="020B0503020204020204" pitchFamily="34" charset="-122"/>
                <a:ea typeface="微软雅黑" panose="020B0503020204020204" pitchFamily="34" charset="-122"/>
              </a:rPr>
              <a:t>伴有噪声，</a:t>
            </a:r>
            <a:r>
              <a:rPr lang="zh-CN" altLang="en-US" sz="2000" dirty="0">
                <a:solidFill>
                  <a:schemeClr val="bg1"/>
                </a:solidFill>
                <a:latin typeface="微软雅黑" panose="020B0503020204020204" pitchFamily="34" charset="-122"/>
                <a:ea typeface="微软雅黑" panose="020B0503020204020204" pitchFamily="34" charset="-122"/>
              </a:rPr>
              <a:t>会对地震数据的处理和成像带来严重的干扰，</a:t>
            </a:r>
            <a:r>
              <a:rPr lang="zh-CN" altLang="zh-CN" sz="2000" dirty="0">
                <a:solidFill>
                  <a:schemeClr val="bg1"/>
                </a:solidFill>
                <a:latin typeface="微软雅黑" panose="020B0503020204020204" pitchFamily="34" charset="-122"/>
                <a:ea typeface="微软雅黑" panose="020B0503020204020204" pitchFamily="34" charset="-122"/>
              </a:rPr>
              <a:t>因此提高信噪比</a:t>
            </a:r>
            <a:r>
              <a:rPr lang="zh-CN" altLang="en-US" sz="2000" dirty="0">
                <a:solidFill>
                  <a:schemeClr val="bg1"/>
                </a:solidFill>
                <a:latin typeface="微软雅黑" panose="020B0503020204020204" pitchFamily="34" charset="-122"/>
                <a:ea typeface="微软雅黑" panose="020B0503020204020204" pitchFamily="34" charset="-122"/>
              </a:rPr>
              <a:t>是</a:t>
            </a:r>
            <a:r>
              <a:rPr lang="zh-CN" altLang="zh-CN" sz="2000" dirty="0">
                <a:solidFill>
                  <a:schemeClr val="bg1"/>
                </a:solidFill>
                <a:latin typeface="微软雅黑" panose="020B0503020204020204" pitchFamily="34" charset="-122"/>
                <a:ea typeface="微软雅黑" panose="020B0503020204020204" pitchFamily="34" charset="-122"/>
              </a:rPr>
              <a:t>地震数据处理中</a:t>
            </a:r>
            <a:r>
              <a:rPr lang="zh-CN" altLang="en-US" sz="2000" dirty="0">
                <a:solidFill>
                  <a:schemeClr val="bg1"/>
                </a:solidFill>
                <a:latin typeface="微软雅黑" panose="020B0503020204020204" pitchFamily="34" charset="-122"/>
                <a:ea typeface="微软雅黑" panose="020B0503020204020204" pitchFamily="34" charset="-122"/>
              </a:rPr>
              <a:t>的关键环节。</a:t>
            </a:r>
            <a:r>
              <a:rPr lang="zh-CN" altLang="zh-CN" sz="2000" dirty="0">
                <a:solidFill>
                  <a:schemeClr val="bg1"/>
                </a:solidFill>
                <a:latin typeface="微软雅黑" panose="020B0503020204020204" pitchFamily="34" charset="-122"/>
                <a:ea typeface="微软雅黑" panose="020B0503020204020204" pitchFamily="34" charset="-122"/>
              </a:rPr>
              <a:t>根据地震数据中噪声的特征，可以分为</a:t>
            </a:r>
            <a:r>
              <a:rPr lang="zh-CN" altLang="zh-CN" sz="2000" dirty="0">
                <a:solidFill>
                  <a:srgbClr val="FF0000"/>
                </a:solidFill>
                <a:latin typeface="微软雅黑" panose="020B0503020204020204" pitchFamily="34" charset="-122"/>
                <a:ea typeface="微软雅黑" panose="020B0503020204020204" pitchFamily="34" charset="-122"/>
              </a:rPr>
              <a:t>相干</a:t>
            </a:r>
            <a:r>
              <a:rPr lang="zh-CN" altLang="en-US" sz="2000" dirty="0">
                <a:solidFill>
                  <a:srgbClr val="FF0000"/>
                </a:solidFill>
                <a:latin typeface="微软雅黑" panose="020B0503020204020204" pitchFamily="34" charset="-122"/>
                <a:ea typeface="微软雅黑" panose="020B0503020204020204" pitchFamily="34" charset="-122"/>
              </a:rPr>
              <a:t>噪声</a:t>
            </a:r>
            <a:r>
              <a:rPr lang="zh-CN" altLang="zh-CN" sz="2000" dirty="0">
                <a:solidFill>
                  <a:schemeClr val="bg1"/>
                </a:solidFill>
                <a:latin typeface="微软雅黑" panose="020B0503020204020204" pitchFamily="34" charset="-122"/>
                <a:ea typeface="微软雅黑" panose="020B0503020204020204" pitchFamily="34" charset="-122"/>
              </a:rPr>
              <a:t>和</a:t>
            </a:r>
            <a:r>
              <a:rPr lang="zh-CN" altLang="en-US" sz="2000" dirty="0">
                <a:solidFill>
                  <a:srgbClr val="FF0000"/>
                </a:solidFill>
                <a:latin typeface="微软雅黑" panose="020B0503020204020204" pitchFamily="34" charset="-122"/>
                <a:ea typeface="微软雅黑" panose="020B0503020204020204" pitchFamily="34" charset="-122"/>
              </a:rPr>
              <a:t>随机</a:t>
            </a:r>
            <a:r>
              <a:rPr lang="zh-CN" altLang="zh-CN" sz="2000" dirty="0">
                <a:solidFill>
                  <a:srgbClr val="FF0000"/>
                </a:solidFill>
                <a:latin typeface="微软雅黑" panose="020B0503020204020204" pitchFamily="34" charset="-122"/>
                <a:ea typeface="微软雅黑" panose="020B0503020204020204" pitchFamily="34" charset="-122"/>
              </a:rPr>
              <a:t>噪声</a:t>
            </a:r>
            <a:r>
              <a:rPr lang="zh-CN" altLang="zh-CN" sz="2000" dirty="0">
                <a:solidFill>
                  <a:schemeClr val="bg1"/>
                </a:solidFill>
                <a:latin typeface="微软雅黑" panose="020B0503020204020204" pitchFamily="34" charset="-122"/>
                <a:ea typeface="微软雅黑" panose="020B0503020204020204" pitchFamily="34" charset="-122"/>
              </a:rPr>
              <a:t>，也被称为规则干扰波和不规则干扰波</a:t>
            </a:r>
            <a:r>
              <a:rPr lang="zh-CN" altLang="en-US" sz="2000" dirty="0">
                <a:solidFill>
                  <a:schemeClr val="bg1"/>
                </a:solidFill>
                <a:latin typeface="微软雅黑" panose="020B0503020204020204" pitchFamily="34" charset="-122"/>
                <a:ea typeface="微软雅黑" panose="020B0503020204020204" pitchFamily="34" charset="-122"/>
              </a:rPr>
              <a:t>，前者在地震记录上具有规律性，后者具有随机性。</a:t>
            </a:r>
            <a:endParaRPr lang="en-US" altLang="zh-CN" sz="2000" dirty="0">
              <a:solidFill>
                <a:schemeClr val="bg1"/>
              </a:solidFill>
              <a:latin typeface="微软雅黑" panose="020B0503020204020204" pitchFamily="34" charset="-122"/>
              <a:ea typeface="微软雅黑" panose="020B0503020204020204" pitchFamily="34" charset="-122"/>
            </a:endParaRPr>
          </a:p>
          <a:p>
            <a:r>
              <a:rPr lang="zh-CN" altLang="en-US" sz="2000" dirty="0">
                <a:solidFill>
                  <a:schemeClr val="bg1"/>
                </a:solidFill>
                <a:latin typeface="微软雅黑" panose="020B0503020204020204" pitchFamily="34" charset="-122"/>
                <a:ea typeface="微软雅黑" panose="020B0503020204020204" pitchFamily="34" charset="-122"/>
              </a:rPr>
              <a:t>     </a:t>
            </a:r>
            <a:r>
              <a:rPr lang="zh-CN" altLang="zh-CN" sz="2000" dirty="0">
                <a:solidFill>
                  <a:schemeClr val="bg1"/>
                </a:solidFill>
                <a:latin typeface="微软雅黑" panose="020B0503020204020204" pitchFamily="34" charset="-122"/>
                <a:ea typeface="微软雅黑" panose="020B0503020204020204" pitchFamily="34" charset="-122"/>
              </a:rPr>
              <a:t>主成分分析（</a:t>
            </a:r>
            <a:r>
              <a:rPr lang="en-US" altLang="zh-CN" sz="2000" dirty="0">
                <a:solidFill>
                  <a:schemeClr val="bg1"/>
                </a:solidFill>
                <a:latin typeface="微软雅黑" panose="020B0503020204020204" pitchFamily="34" charset="-122"/>
                <a:ea typeface="微软雅黑" panose="020B0503020204020204" pitchFamily="34" charset="-122"/>
              </a:rPr>
              <a:t>PCA</a:t>
            </a:r>
            <a:r>
              <a:rPr lang="zh-CN"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是当下用于数据分析和降维的最常用的统计工具，该方法通过</a:t>
            </a:r>
            <a:r>
              <a:rPr lang="zh-CN" altLang="en-US" sz="2000" dirty="0">
                <a:solidFill>
                  <a:srgbClr val="FF0000"/>
                </a:solidFill>
                <a:latin typeface="微软雅黑" panose="020B0503020204020204" pitchFamily="34" charset="-122"/>
                <a:ea typeface="微软雅黑" panose="020B0503020204020204" pitchFamily="34" charset="-122"/>
              </a:rPr>
              <a:t>正交变换</a:t>
            </a:r>
            <a:r>
              <a:rPr lang="zh-CN" altLang="en-US" sz="2000" dirty="0">
                <a:solidFill>
                  <a:schemeClr val="bg1"/>
                </a:solidFill>
                <a:latin typeface="微软雅黑" panose="020B0503020204020204" pitchFamily="34" charset="-122"/>
                <a:ea typeface="微软雅黑" panose="020B0503020204020204" pitchFamily="34" charset="-122"/>
              </a:rPr>
              <a:t>将一组可能存在相关性的变量转换为一组线性不相关的变量（即分类），转换后的这组变量叫主成分。奇异值分解（</a:t>
            </a:r>
            <a:r>
              <a:rPr lang="en-US" altLang="zh-CN" sz="2000" dirty="0">
                <a:solidFill>
                  <a:schemeClr val="bg1"/>
                </a:solidFill>
                <a:latin typeface="微软雅黑" panose="020B0503020204020204" pitchFamily="34" charset="-122"/>
                <a:ea typeface="微软雅黑" panose="020B0503020204020204" pitchFamily="34" charset="-122"/>
              </a:rPr>
              <a:t>SVD</a:t>
            </a:r>
            <a:r>
              <a:rPr lang="zh-CN" altLang="en-US" sz="2000" dirty="0">
                <a:solidFill>
                  <a:schemeClr val="bg1"/>
                </a:solidFill>
                <a:latin typeface="微软雅黑" panose="020B0503020204020204" pitchFamily="34" charset="-122"/>
                <a:ea typeface="微软雅黑" panose="020B0503020204020204" pitchFamily="34" charset="-122"/>
              </a:rPr>
              <a:t>）是</a:t>
            </a:r>
            <a:r>
              <a:rPr lang="en-US" altLang="zh-CN" sz="2000" dirty="0">
                <a:solidFill>
                  <a:schemeClr val="bg1"/>
                </a:solidFill>
                <a:latin typeface="微软雅黑" panose="020B0503020204020204" pitchFamily="34" charset="-122"/>
                <a:ea typeface="微软雅黑" panose="020B0503020204020204" pitchFamily="34" charset="-122"/>
              </a:rPr>
              <a:t>PCA</a:t>
            </a:r>
            <a:r>
              <a:rPr lang="zh-CN" altLang="en-US" sz="2000" dirty="0">
                <a:solidFill>
                  <a:schemeClr val="bg1"/>
                </a:solidFill>
                <a:latin typeface="微软雅黑" panose="020B0503020204020204" pitchFamily="34" charset="-122"/>
                <a:ea typeface="微软雅黑" panose="020B0503020204020204" pitchFamily="34" charset="-122"/>
              </a:rPr>
              <a:t>其中一种正交变换的方法。</a:t>
            </a:r>
            <a:endParaRPr lang="en-US" altLang="zh-CN" sz="2000" dirty="0">
              <a:solidFill>
                <a:schemeClr val="bg1"/>
              </a:solidFill>
              <a:latin typeface="微软雅黑" panose="020B0503020204020204" pitchFamily="34" charset="-122"/>
              <a:ea typeface="微软雅黑" panose="020B0503020204020204" pitchFamily="34" charset="-122"/>
            </a:endParaRPr>
          </a:p>
          <a:p>
            <a:endParaRPr lang="zh-CN" altLang="en-US" sz="1800" dirty="0">
              <a:solidFill>
                <a:schemeClr val="bg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C1D708B3-932A-2447-BAA5-D75C8364A6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4283" y="3582832"/>
            <a:ext cx="2120900" cy="1384300"/>
          </a:xfrm>
          <a:prstGeom prst="rect">
            <a:avLst/>
          </a:prstGeom>
        </p:spPr>
      </p:pic>
      <p:pic>
        <p:nvPicPr>
          <p:cNvPr id="6" name="图片 5">
            <a:extLst>
              <a:ext uri="{FF2B5EF4-FFF2-40B4-BE49-F238E27FC236}">
                <a16:creationId xmlns:a16="http://schemas.microsoft.com/office/drawing/2014/main" id="{2A53FDCB-DB1C-614F-B721-616AF75797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88819" y="3582832"/>
            <a:ext cx="2133600" cy="1384300"/>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8135392-4209-DA43-8E35-6C8E1700ECF6}"/>
                  </a:ext>
                </a:extLst>
              </p:cNvPr>
              <p:cNvSpPr txBox="1"/>
              <p:nvPr/>
            </p:nvSpPr>
            <p:spPr>
              <a:xfrm>
                <a:off x="3955653" y="4063321"/>
                <a:ext cx="991393" cy="42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kumimoji="1" lang="zh-CN" altLang="en-US" i="1" smtClean="0">
                              <a:solidFill>
                                <a:schemeClr val="bg1"/>
                              </a:solidFill>
                              <a:latin typeface="Cambria Math" panose="02040503050406030204" pitchFamily="18" charset="0"/>
                            </a:rPr>
                          </m:ctrlPr>
                        </m:groupChrPr>
                        <m:e>
                          <m:r>
                            <m:rPr>
                              <m:brk m:alnAt="2"/>
                            </m:rPr>
                            <a:rPr kumimoji="1" lang="zh-CN" altLang="en-US" i="1" smtClean="0">
                              <a:solidFill>
                                <a:schemeClr val="bg1"/>
                              </a:solidFill>
                              <a:latin typeface="Cambria Math" panose="02040503050406030204" pitchFamily="18" charset="0"/>
                            </a:rPr>
                            <m:t>经</m:t>
                          </m:r>
                          <m:r>
                            <a:rPr kumimoji="1" lang="zh-CN" altLang="en-US" i="1" smtClean="0">
                              <a:solidFill>
                                <a:schemeClr val="bg1"/>
                              </a:solidFill>
                              <a:latin typeface="Cambria Math" panose="02040503050406030204" pitchFamily="18" charset="0"/>
                            </a:rPr>
                            <m:t>过</m:t>
                          </m:r>
                          <m:r>
                            <m:rPr>
                              <m:sty m:val="p"/>
                              <m:brk m:alnAt="2"/>
                            </m:rPr>
                            <a:rPr kumimoji="1" lang="en-US" altLang="zh-CN" i="1" smtClean="0">
                              <a:solidFill>
                                <a:schemeClr val="bg1"/>
                              </a:solidFill>
                              <a:latin typeface="Cambria Math" panose="02040503050406030204" pitchFamily="18" charset="0"/>
                            </a:rPr>
                            <m:t>P</m:t>
                          </m:r>
                          <m:r>
                            <m:rPr>
                              <m:sty m:val="p"/>
                            </m:rPr>
                            <a:rPr kumimoji="1" lang="en-US" altLang="zh-CN" i="1" smtClean="0">
                              <a:solidFill>
                                <a:schemeClr val="bg1"/>
                              </a:solidFill>
                              <a:latin typeface="Cambria Math" panose="02040503050406030204" pitchFamily="18" charset="0"/>
                            </a:rPr>
                            <m:t>CA</m:t>
                          </m:r>
                          <m:r>
                            <m:rPr>
                              <m:brk m:alnAt="2"/>
                            </m:rPr>
                            <a:rPr kumimoji="1" lang="zh-CN" altLang="en-US" i="1">
                              <a:solidFill>
                                <a:schemeClr val="bg1"/>
                              </a:solidFill>
                              <a:latin typeface="Cambria Math" panose="02040503050406030204" pitchFamily="18" charset="0"/>
                            </a:rPr>
                            <m:t>处</m:t>
                          </m:r>
                          <m:r>
                            <a:rPr kumimoji="1" lang="zh-CN" altLang="en-US" i="1">
                              <a:solidFill>
                                <a:schemeClr val="bg1"/>
                              </a:solidFill>
                              <a:latin typeface="Cambria Math" panose="02040503050406030204" pitchFamily="18" charset="0"/>
                            </a:rPr>
                            <m:t>理后</m:t>
                          </m:r>
                        </m:e>
                      </m:groupChr>
                    </m:oMath>
                  </m:oMathPara>
                </a14:m>
                <a:endParaRPr kumimoji="1" lang="zh-CN" altLang="en-US" dirty="0"/>
              </a:p>
            </p:txBody>
          </p:sp>
        </mc:Choice>
        <mc:Fallback xmlns="">
          <p:sp>
            <p:nvSpPr>
              <p:cNvPr id="7" name="文本框 6">
                <a:extLst>
                  <a:ext uri="{FF2B5EF4-FFF2-40B4-BE49-F238E27FC236}">
                    <a16:creationId xmlns:a16="http://schemas.microsoft.com/office/drawing/2014/main" id="{48135392-4209-DA43-8E35-6C8E1700ECF6}"/>
                  </a:ext>
                </a:extLst>
              </p:cNvPr>
              <p:cNvSpPr txBox="1">
                <a:spLocks noRot="1" noChangeAspect="1" noMove="1" noResize="1" noEditPoints="1" noAdjustHandles="1" noChangeArrowheads="1" noChangeShapeType="1" noTextEdit="1"/>
              </p:cNvSpPr>
              <p:nvPr/>
            </p:nvSpPr>
            <p:spPr>
              <a:xfrm>
                <a:off x="3955653" y="4063321"/>
                <a:ext cx="991393" cy="423321"/>
              </a:xfrm>
              <a:prstGeom prst="rect">
                <a:avLst/>
              </a:prstGeom>
              <a:blipFill>
                <a:blip r:embed="rId6"/>
                <a:stretch>
                  <a:fillRect r="-225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5253914"/>
      </p:ext>
    </p:extLst>
  </p:cSld>
  <p:clrMapOvr>
    <a:masterClrMapping/>
  </p:clrMapOvr>
  <p:transition spd="slow" advClick="0" advTm="0">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图片 24"/>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6" name="文本框 25"/>
          <p:cNvSpPr txBox="1"/>
          <p:nvPr/>
        </p:nvSpPr>
        <p:spPr>
          <a:xfrm>
            <a:off x="411163" y="365125"/>
            <a:ext cx="1760538" cy="338554"/>
          </a:xfrm>
          <a:prstGeom prst="rect">
            <a:avLst/>
          </a:prstGeom>
          <a:noFill/>
        </p:spPr>
        <p:txBody>
          <a:bodyPr>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研究目的和意义</a:t>
            </a:r>
          </a:p>
        </p:txBody>
      </p:sp>
      <p:sp>
        <p:nvSpPr>
          <p:cNvPr id="2" name="文本框 1"/>
          <p:cNvSpPr txBox="1"/>
          <p:nvPr/>
        </p:nvSpPr>
        <p:spPr>
          <a:xfrm>
            <a:off x="411163" y="1080849"/>
            <a:ext cx="8538284" cy="2831544"/>
          </a:xfrm>
          <a:prstGeom prst="rect">
            <a:avLst/>
          </a:prstGeom>
          <a:noFill/>
        </p:spPr>
        <p:txBody>
          <a:bodyPr wrap="square" rtlCol="0">
            <a:spAutoFit/>
          </a:bodyPr>
          <a:lstStyle/>
          <a:p>
            <a:r>
              <a:rPr lang="zh-CN" altLang="zh-CN" sz="2000" dirty="0">
                <a:solidFill>
                  <a:schemeClr val="bg1"/>
                </a:solidFill>
                <a:latin typeface="微软雅黑" panose="020B0503020204020204" pitchFamily="34" charset="-122"/>
                <a:ea typeface="微软雅黑" panose="020B0503020204020204" pitchFamily="34" charset="-122"/>
              </a:rPr>
              <a:t>传统的</a:t>
            </a:r>
            <a:r>
              <a:rPr lang="zh-CN" altLang="en-US" sz="2000" dirty="0">
                <a:solidFill>
                  <a:schemeClr val="bg1"/>
                </a:solidFill>
                <a:latin typeface="微软雅黑" panose="020B0503020204020204" pitchFamily="34" charset="-122"/>
                <a:ea typeface="微软雅黑" panose="020B0503020204020204" pitchFamily="34" charset="-122"/>
              </a:rPr>
              <a:t>基于</a:t>
            </a:r>
            <a:r>
              <a:rPr lang="en-US" altLang="zh-CN" sz="2000" dirty="0">
                <a:solidFill>
                  <a:schemeClr val="bg1"/>
                </a:solidFill>
                <a:latin typeface="微软雅黑" panose="020B0503020204020204" pitchFamily="34" charset="-122"/>
                <a:ea typeface="微软雅黑" panose="020B0503020204020204" pitchFamily="34" charset="-122"/>
              </a:rPr>
              <a:t>SVD</a:t>
            </a:r>
            <a:r>
              <a:rPr lang="zh-CN" altLang="en-US" sz="2000" dirty="0">
                <a:solidFill>
                  <a:schemeClr val="bg1"/>
                </a:solidFill>
                <a:latin typeface="微软雅黑" panose="020B0503020204020204" pitchFamily="34" charset="-122"/>
                <a:ea typeface="微软雅黑" panose="020B0503020204020204" pitchFamily="34" charset="-122"/>
              </a:rPr>
              <a:t>的</a:t>
            </a:r>
            <a:r>
              <a:rPr lang="en-US" altLang="zh-CN" sz="2000" dirty="0">
                <a:solidFill>
                  <a:schemeClr val="bg1"/>
                </a:solidFill>
                <a:latin typeface="微软雅黑" panose="020B0503020204020204" pitchFamily="34" charset="-122"/>
                <a:ea typeface="微软雅黑" panose="020B0503020204020204" pitchFamily="34" charset="-122"/>
              </a:rPr>
              <a:t>PCA</a:t>
            </a:r>
            <a:r>
              <a:rPr lang="zh-CN" altLang="zh-CN" sz="2000" dirty="0">
                <a:solidFill>
                  <a:schemeClr val="bg1"/>
                </a:solidFill>
                <a:latin typeface="微软雅黑" panose="020B0503020204020204" pitchFamily="34" charset="-122"/>
                <a:ea typeface="微软雅黑" panose="020B0503020204020204" pitchFamily="34" charset="-122"/>
              </a:rPr>
              <a:t>降</a:t>
            </a:r>
            <a:r>
              <a:rPr lang="zh-CN" altLang="en-US" sz="2000" dirty="0">
                <a:solidFill>
                  <a:schemeClr val="bg1"/>
                </a:solidFill>
                <a:latin typeface="微软雅黑" panose="020B0503020204020204" pitchFamily="34" charset="-122"/>
                <a:ea typeface="微软雅黑" panose="020B0503020204020204" pitchFamily="34" charset="-122"/>
              </a:rPr>
              <a:t>秩</a:t>
            </a:r>
            <a:r>
              <a:rPr lang="zh-CN" altLang="zh-CN" sz="2000" dirty="0">
                <a:solidFill>
                  <a:schemeClr val="bg1"/>
                </a:solidFill>
                <a:latin typeface="微软雅黑" panose="020B0503020204020204" pitchFamily="34" charset="-122"/>
                <a:ea typeface="微软雅黑" panose="020B0503020204020204" pitchFamily="34" charset="-122"/>
              </a:rPr>
              <a:t>方法</a:t>
            </a:r>
            <a:r>
              <a:rPr lang="zh-CN" altLang="en-US" sz="2000" dirty="0">
                <a:solidFill>
                  <a:schemeClr val="bg1"/>
                </a:solidFill>
                <a:latin typeface="微软雅黑" panose="020B0503020204020204" pitchFamily="34" charset="-122"/>
                <a:ea typeface="微软雅黑" panose="020B0503020204020204" pitchFamily="34" charset="-122"/>
              </a:rPr>
              <a:t>尽管对</a:t>
            </a:r>
            <a:r>
              <a:rPr lang="zh-CN" altLang="en-US" sz="2000" dirty="0">
                <a:solidFill>
                  <a:srgbClr val="FF0000"/>
                </a:solidFill>
                <a:latin typeface="微软雅黑" panose="020B0503020204020204" pitchFamily="34" charset="-122"/>
                <a:ea typeface="微软雅黑" panose="020B0503020204020204" pitchFamily="34" charset="-122"/>
              </a:rPr>
              <a:t>高斯分布的相干噪声</a:t>
            </a:r>
            <a:r>
              <a:rPr lang="zh-CN" altLang="en-US" sz="2000" dirty="0">
                <a:solidFill>
                  <a:schemeClr val="bg1"/>
                </a:solidFill>
                <a:latin typeface="微软雅黑" panose="020B0503020204020204" pitchFamily="34" charset="-122"/>
                <a:ea typeface="微软雅黑" panose="020B0503020204020204" pitchFamily="34" charset="-122"/>
              </a:rPr>
              <a:t>的压制起到了良好的效果，但实际数据中常有不符合高斯分布的孤立的强振幅信号，因为该传统方法</a:t>
            </a:r>
            <a:r>
              <a:rPr lang="zh-CN" altLang="zh-CN" sz="2000" dirty="0">
                <a:solidFill>
                  <a:schemeClr val="bg1"/>
                </a:solidFill>
                <a:latin typeface="微软雅黑" panose="020B0503020204020204" pitchFamily="34" charset="-122"/>
                <a:ea typeface="微软雅黑" panose="020B0503020204020204" pitchFamily="34" charset="-122"/>
              </a:rPr>
              <a:t>缺乏对</a:t>
            </a:r>
            <a:r>
              <a:rPr lang="zh-CN" altLang="zh-CN" sz="2000" dirty="0">
                <a:solidFill>
                  <a:srgbClr val="FF0000"/>
                </a:solidFill>
                <a:latin typeface="微软雅黑" panose="020B0503020204020204" pitchFamily="34" charset="-122"/>
                <a:ea typeface="微软雅黑" panose="020B0503020204020204" pitchFamily="34" charset="-122"/>
              </a:rPr>
              <a:t>异常值噪声</a:t>
            </a:r>
            <a:r>
              <a:rPr lang="zh-CN" altLang="zh-CN" sz="2000" dirty="0">
                <a:solidFill>
                  <a:schemeClr val="bg1"/>
                </a:solidFill>
                <a:latin typeface="微软雅黑" panose="020B0503020204020204" pitchFamily="34" charset="-122"/>
                <a:ea typeface="微软雅黑" panose="020B0503020204020204" pitchFamily="34" charset="-122"/>
              </a:rPr>
              <a:t>的稳定性</a:t>
            </a:r>
            <a:r>
              <a:rPr lang="zh-CN" altLang="en-US" sz="2000" dirty="0">
                <a:solidFill>
                  <a:schemeClr val="bg1"/>
                </a:solidFill>
                <a:latin typeface="微软雅黑" panose="020B0503020204020204" pitchFamily="34" charset="-122"/>
                <a:ea typeface="微软雅黑" panose="020B0503020204020204" pitchFamily="34" charset="-122"/>
              </a:rPr>
              <a:t>，</a:t>
            </a:r>
            <a:r>
              <a:rPr lang="zh-CN" altLang="zh-CN" sz="2000" dirty="0">
                <a:solidFill>
                  <a:schemeClr val="bg1"/>
                </a:solidFill>
                <a:latin typeface="微软雅黑" panose="020B0503020204020204" pitchFamily="34" charset="-122"/>
                <a:ea typeface="微软雅黑" panose="020B0503020204020204" pitchFamily="34" charset="-122"/>
              </a:rPr>
              <a:t>所以在实际问题中的应用受到了限制</a:t>
            </a:r>
            <a:r>
              <a:rPr lang="zh-CN" altLang="en-US" sz="2000" dirty="0">
                <a:solidFill>
                  <a:schemeClr val="bg1"/>
                </a:solidFill>
                <a:latin typeface="微软雅黑" panose="020B0503020204020204" pitchFamily="34" charset="-122"/>
                <a:ea typeface="微软雅黑" panose="020B0503020204020204" pitchFamily="34" charset="-122"/>
              </a:rPr>
              <a:t>。</a:t>
            </a:r>
            <a:r>
              <a:rPr lang="zh-CN" altLang="zh-CN" sz="2000" dirty="0">
                <a:solidFill>
                  <a:schemeClr val="bg1"/>
                </a:solidFill>
                <a:latin typeface="微软雅黑" panose="020B0503020204020204" pitchFamily="34" charset="-122"/>
                <a:ea typeface="微软雅黑" panose="020B0503020204020204" pitchFamily="34" charset="-122"/>
              </a:rPr>
              <a:t>采用基于稳健主成分分析（</a:t>
            </a:r>
            <a:r>
              <a:rPr lang="en-US" altLang="zh-CN" sz="2000" dirty="0">
                <a:solidFill>
                  <a:schemeClr val="bg1"/>
                </a:solidFill>
                <a:latin typeface="微软雅黑" panose="020B0503020204020204" pitchFamily="34" charset="-122"/>
                <a:ea typeface="微软雅黑" panose="020B0503020204020204" pitchFamily="34" charset="-122"/>
              </a:rPr>
              <a:t>RPCA</a:t>
            </a:r>
            <a:r>
              <a:rPr lang="zh-CN" altLang="zh-CN" sz="2000" dirty="0">
                <a:solidFill>
                  <a:schemeClr val="bg1"/>
                </a:solidFill>
                <a:latin typeface="微软雅黑" panose="020B0503020204020204" pitchFamily="34" charset="-122"/>
                <a:ea typeface="微软雅黑" panose="020B0503020204020204" pitchFamily="34" charset="-122"/>
              </a:rPr>
              <a:t>）的方法可以更加有效的去压制实际地震数据中的异常值噪声</a:t>
            </a:r>
            <a:r>
              <a:rPr lang="zh-CN" altLang="en-US" sz="2000" dirty="0">
                <a:solidFill>
                  <a:schemeClr val="bg1"/>
                </a:solidFill>
                <a:latin typeface="微软雅黑" panose="020B0503020204020204" pitchFamily="34" charset="-122"/>
                <a:ea typeface="微软雅黑" panose="020B0503020204020204" pitchFamily="34" charset="-122"/>
              </a:rPr>
              <a:t>，</a:t>
            </a:r>
            <a:r>
              <a:rPr lang="zh-CN" altLang="zh-CN" sz="2000" dirty="0">
                <a:solidFill>
                  <a:schemeClr val="bg1"/>
                </a:solidFill>
                <a:latin typeface="微软雅黑" panose="020B0503020204020204" pitchFamily="34" charset="-122"/>
                <a:ea typeface="微软雅黑" panose="020B0503020204020204" pitchFamily="34" charset="-122"/>
              </a:rPr>
              <a:t>从而进一步达到提高信噪比的目的。</a:t>
            </a:r>
            <a:r>
              <a:rPr lang="en-US" altLang="zh-CN" sz="2000" dirty="0">
                <a:solidFill>
                  <a:schemeClr val="bg1"/>
                </a:solidFill>
                <a:latin typeface="微软雅黑" panose="020B0503020204020204" pitchFamily="34" charset="-122"/>
                <a:ea typeface="微软雅黑" panose="020B0503020204020204" pitchFamily="34" charset="-122"/>
              </a:rPr>
              <a:t>RPCA</a:t>
            </a:r>
            <a:r>
              <a:rPr lang="zh-CN" altLang="zh-CN" sz="2000" dirty="0">
                <a:solidFill>
                  <a:schemeClr val="bg1"/>
                </a:solidFill>
                <a:latin typeface="微软雅黑" panose="020B0503020204020204" pitchFamily="34" charset="-122"/>
                <a:ea typeface="微软雅黑" panose="020B0503020204020204" pitchFamily="34" charset="-122"/>
              </a:rPr>
              <a:t>方法有可能用于同步源地震数据去噪和重建</a:t>
            </a:r>
            <a:r>
              <a:rPr lang="zh-CN" altLang="en-US" sz="2000" dirty="0">
                <a:solidFill>
                  <a:schemeClr val="bg1"/>
                </a:solidFill>
                <a:latin typeface="微软雅黑" panose="020B0503020204020204" pitchFamily="34" charset="-122"/>
                <a:ea typeface="微软雅黑" panose="020B0503020204020204" pitchFamily="34" charset="-122"/>
              </a:rPr>
              <a:t>，</a:t>
            </a:r>
            <a:r>
              <a:rPr lang="zh-CN" altLang="zh-CN" sz="2000" dirty="0">
                <a:solidFill>
                  <a:schemeClr val="bg1"/>
                </a:solidFill>
                <a:latin typeface="微软雅黑" panose="020B0503020204020204" pitchFamily="34" charset="-122"/>
                <a:ea typeface="微软雅黑" panose="020B0503020204020204" pitchFamily="34" charset="-122"/>
              </a:rPr>
              <a:t>有效减少由于噪声带来的不利影响，从而提高地震资料的信噪比，得到更精确的地质信息。</a:t>
            </a:r>
          </a:p>
          <a:p>
            <a:endParaRPr lang="en-US" altLang="zh-CN" sz="2000" dirty="0">
              <a:solidFill>
                <a:schemeClr val="bg1"/>
              </a:solidFill>
              <a:latin typeface="微软雅黑" panose="020B0503020204020204" pitchFamily="34" charset="-122"/>
              <a:ea typeface="微软雅黑" panose="020B0503020204020204" pitchFamily="34" charset="-122"/>
            </a:endParaRPr>
          </a:p>
          <a:p>
            <a:endParaRPr lang="zh-CN" altLang="en-US" sz="1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46113215"/>
      </p:ext>
    </p:extLst>
  </p:cSld>
  <p:clrMapOvr>
    <a:masterClrMapping/>
  </p:clrMapOvr>
  <p:transition spd="slow" advClick="0" advTm="0">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38125" y="296863"/>
            <a:ext cx="1363663" cy="474662"/>
            <a:chOff x="184527" y="297451"/>
            <a:chExt cx="1363137" cy="473415"/>
          </a:xfrm>
        </p:grpSpPr>
        <p:pic>
          <p:nvPicPr>
            <p:cNvPr id="36866" name="图片 1"/>
            <p:cNvPicPr>
              <a:picLocks noChangeAspect="1"/>
            </p:cNvPicPr>
            <p:nvPr/>
          </p:nvPicPr>
          <p:blipFill>
            <a:blip r:embed="rId3" cstate="print"/>
            <a:stretch>
              <a:fillRect/>
            </a:stretch>
          </p:blipFill>
          <p:spPr>
            <a:xfrm flipH="1">
              <a:off x="184527" y="297451"/>
              <a:ext cx="422017" cy="473415"/>
            </a:xfrm>
            <a:prstGeom prst="rect">
              <a:avLst/>
            </a:prstGeom>
            <a:noFill/>
            <a:ln w="9525">
              <a:noFill/>
            </a:ln>
          </p:spPr>
        </p:pic>
        <p:sp>
          <p:nvSpPr>
            <p:cNvPr id="3" name="文本框 2"/>
            <p:cNvSpPr txBox="1"/>
            <p:nvPr/>
          </p:nvSpPr>
          <p:spPr>
            <a:xfrm>
              <a:off x="539990" y="376617"/>
              <a:ext cx="1007674" cy="368915"/>
            </a:xfrm>
            <a:prstGeom prst="rect">
              <a:avLst/>
            </a:prstGeom>
            <a:noFill/>
          </p:spPr>
          <p:txBody>
            <a:bodyPr>
              <a:spAutoFit/>
            </a:bodyPr>
            <a:lstStyle/>
            <a:p>
              <a:pPr marR="0" defTabSz="685800" rtl="0" fontAlgn="auto">
                <a:spcBef>
                  <a:spcPts val="0"/>
                </a:spcBef>
                <a:spcAft>
                  <a:spcPts val="0"/>
                </a:spcAft>
                <a:buClrTx/>
                <a:buSzTx/>
                <a:buFontTx/>
                <a:defRPr/>
              </a:pPr>
              <a:r>
                <a:rPr kumimoji="0" lang="zh-CN" altLang="en-US" sz="1800" kern="1200" cap="none" spc="0" normalizeH="0" baseline="0" noProof="0" dirty="0">
                  <a:solidFill>
                    <a:schemeClr val="bg1">
                      <a:lumMod val="95000"/>
                    </a:schemeClr>
                  </a:solidFill>
                  <a:latin typeface="+mn-lt"/>
                  <a:ea typeface="微软雅黑" panose="020B0503020204020204" pitchFamily="34" charset="-122"/>
                  <a:cs typeface="+mn-cs"/>
                </a:rPr>
                <a:t>目录页</a:t>
              </a:r>
            </a:p>
          </p:txBody>
        </p:sp>
        <p:cxnSp>
          <p:nvCxnSpPr>
            <p:cNvPr id="5" name="直接连接符 4"/>
            <p:cNvCxnSpPr/>
            <p:nvPr/>
          </p:nvCxnSpPr>
          <p:spPr>
            <a:xfrm>
              <a:off x="539990" y="745533"/>
              <a:ext cx="863267"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6870" name="文本框 19"/>
          <p:cNvSpPr txBox="1"/>
          <p:nvPr/>
        </p:nvSpPr>
        <p:spPr>
          <a:xfrm>
            <a:off x="2326482" y="2166431"/>
            <a:ext cx="5521281" cy="707886"/>
          </a:xfrm>
          <a:prstGeom prst="rect">
            <a:avLst/>
          </a:prstGeom>
          <a:noFill/>
          <a:ln w="9525">
            <a:noFill/>
          </a:ln>
        </p:spPr>
        <p:txBody>
          <a:bodyPr wrap="square" anchor="t">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国内外研究进展</a:t>
            </a:r>
          </a:p>
        </p:txBody>
      </p:sp>
      <p:grpSp>
        <p:nvGrpSpPr>
          <p:cNvPr id="12" name="组合 11"/>
          <p:cNvGrpSpPr/>
          <p:nvPr/>
        </p:nvGrpSpPr>
        <p:grpSpPr>
          <a:xfrm>
            <a:off x="1097756" y="1910775"/>
            <a:ext cx="1128713" cy="1128712"/>
            <a:chOff x="2558424" y="1401428"/>
            <a:chExt cx="1318727" cy="1318727"/>
          </a:xfrm>
        </p:grpSpPr>
        <p:sp>
          <p:nvSpPr>
            <p:cNvPr id="13" name="椭圆 12"/>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sp>
          <p:nvSpPr>
            <p:cNvPr id="15" name="Freeform 11"/>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grpSp>
    </p:spTree>
    <p:extLst>
      <p:ext uri="{BB962C8B-B14F-4D97-AF65-F5344CB8AC3E}">
        <p14:creationId xmlns:p14="http://schemas.microsoft.com/office/powerpoint/2010/main" val="1082641572"/>
      </p:ext>
    </p:extLst>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250" fill="hold"/>
                                        <p:tgtEl>
                                          <p:spTgt spid="12"/>
                                        </p:tgtEl>
                                        <p:attrNameLst>
                                          <p:attrName>ppt_w</p:attrName>
                                        </p:attrNameLst>
                                      </p:cBhvr>
                                      <p:tavLst>
                                        <p:tav tm="0">
                                          <p:val>
                                            <p:fltVal val="0"/>
                                          </p:val>
                                        </p:tav>
                                        <p:tav tm="100000">
                                          <p:val>
                                            <p:strVal val="#ppt_w"/>
                                          </p:val>
                                        </p:tav>
                                      </p:tavLst>
                                    </p:anim>
                                    <p:anim calcmode="lin" valueType="num">
                                      <p:cBhvr>
                                        <p:cTn id="13" dur="250" fill="hold"/>
                                        <p:tgtEl>
                                          <p:spTgt spid="12"/>
                                        </p:tgtEl>
                                        <p:attrNameLst>
                                          <p:attrName>ppt_h</p:attrName>
                                        </p:attrNameLst>
                                      </p:cBhvr>
                                      <p:tavLst>
                                        <p:tav tm="0">
                                          <p:val>
                                            <p:fltVal val="0"/>
                                          </p:val>
                                        </p:tav>
                                        <p:tav tm="100000">
                                          <p:val>
                                            <p:strVal val="#ppt_h"/>
                                          </p:val>
                                        </p:tav>
                                      </p:tavLst>
                                    </p:anim>
                                    <p:animEffect transition="in" filter="fade">
                                      <p:cBhvr>
                                        <p:cTn id="14" dur="250"/>
                                        <p:tgtEl>
                                          <p:spTgt spid="12"/>
                                        </p:tgtEl>
                                      </p:cBhvr>
                                    </p:animEffect>
                                  </p:childTnLst>
                                </p:cTn>
                              </p:par>
                              <p:par>
                                <p:cTn id="15" presetID="6" presetClass="emph" presetSubtype="0" decel="100000" fill="hold" nodeType="withEffect">
                                  <p:stCondLst>
                                    <p:cond delay="200"/>
                                  </p:stCondLst>
                                  <p:childTnLst>
                                    <p:animScale>
                                      <p:cBhvr>
                                        <p:cTn id="16" dur="250" fill="hold"/>
                                        <p:tgtEl>
                                          <p:spTgt spid="12"/>
                                        </p:tgtEl>
                                      </p:cBhvr>
                                      <p:by x="110000" y="110000"/>
                                    </p:animScale>
                                  </p:childTnLst>
                                </p:cTn>
                              </p:par>
                              <p:par>
                                <p:cTn id="17" presetID="6" presetClass="emph" presetSubtype="0" decel="100000" fill="hold" nodeType="withEffect">
                                  <p:stCondLst>
                                    <p:cond delay="400"/>
                                  </p:stCondLst>
                                  <p:childTnLst>
                                    <p:animScale>
                                      <p:cBhvr>
                                        <p:cTn id="18" dur="250" fill="hold"/>
                                        <p:tgtEl>
                                          <p:spTgt spid="12"/>
                                        </p:tgtEl>
                                      </p:cBhvr>
                                      <p:by x="91000" y="91000"/>
                                    </p:animScale>
                                  </p:childTnLst>
                                </p:cTn>
                              </p:par>
                            </p:childTnLst>
                          </p:cTn>
                        </p:par>
                        <p:par>
                          <p:cTn id="19" fill="hold">
                            <p:stCondLst>
                              <p:cond delay="1150"/>
                            </p:stCondLst>
                            <p:childTnLst>
                              <p:par>
                                <p:cTn id="20" presetID="53" presetClass="entr" presetSubtype="16" fill="hold" grpId="0" nodeType="afterEffect">
                                  <p:stCondLst>
                                    <p:cond delay="0"/>
                                  </p:stCondLst>
                                  <p:childTnLst>
                                    <p:set>
                                      <p:cBhvr>
                                        <p:cTn id="21" dur="1" fill="hold">
                                          <p:stCondLst>
                                            <p:cond delay="0"/>
                                          </p:stCondLst>
                                        </p:cTn>
                                        <p:tgtEl>
                                          <p:spTgt spid="36870"/>
                                        </p:tgtEl>
                                        <p:attrNameLst>
                                          <p:attrName>style.visibility</p:attrName>
                                        </p:attrNameLst>
                                      </p:cBhvr>
                                      <p:to>
                                        <p:strVal val="visible"/>
                                      </p:to>
                                    </p:set>
                                    <p:anim calcmode="lin" valueType="num">
                                      <p:cBhvr>
                                        <p:cTn id="22" dur="250" fill="hold"/>
                                        <p:tgtEl>
                                          <p:spTgt spid="36870"/>
                                        </p:tgtEl>
                                        <p:attrNameLst>
                                          <p:attrName>ppt_w</p:attrName>
                                        </p:attrNameLst>
                                      </p:cBhvr>
                                      <p:tavLst>
                                        <p:tav tm="0">
                                          <p:val>
                                            <p:fltVal val="0"/>
                                          </p:val>
                                        </p:tav>
                                        <p:tav tm="100000">
                                          <p:val>
                                            <p:strVal val="#ppt_w"/>
                                          </p:val>
                                        </p:tav>
                                      </p:tavLst>
                                    </p:anim>
                                    <p:anim calcmode="lin" valueType="num">
                                      <p:cBhvr>
                                        <p:cTn id="23" dur="250" fill="hold"/>
                                        <p:tgtEl>
                                          <p:spTgt spid="36870"/>
                                        </p:tgtEl>
                                        <p:attrNameLst>
                                          <p:attrName>ppt_h</p:attrName>
                                        </p:attrNameLst>
                                      </p:cBhvr>
                                      <p:tavLst>
                                        <p:tav tm="0">
                                          <p:val>
                                            <p:fltVal val="0"/>
                                          </p:val>
                                        </p:tav>
                                        <p:tav tm="100000">
                                          <p:val>
                                            <p:strVal val="#ppt_h"/>
                                          </p:val>
                                        </p:tav>
                                      </p:tavLst>
                                    </p:anim>
                                    <p:animEffect transition="in" filter="fade">
                                      <p:cBhvr>
                                        <p:cTn id="24" dur="250"/>
                                        <p:tgtEl>
                                          <p:spTgt spid="36870"/>
                                        </p:tgtEl>
                                      </p:cBhvr>
                                    </p:animEffect>
                                  </p:childTnLst>
                                </p:cTn>
                              </p:par>
                              <p:par>
                                <p:cTn id="25" presetID="6" presetClass="emph" presetSubtype="0" decel="100000" fill="hold" grpId="1" nodeType="withEffect">
                                  <p:stCondLst>
                                    <p:cond delay="200"/>
                                  </p:stCondLst>
                                  <p:childTnLst>
                                    <p:animScale>
                                      <p:cBhvr>
                                        <p:cTn id="26" dur="250" fill="hold"/>
                                        <p:tgtEl>
                                          <p:spTgt spid="36870"/>
                                        </p:tgtEl>
                                      </p:cBhvr>
                                      <p:by x="110000" y="110000"/>
                                    </p:animScale>
                                  </p:childTnLst>
                                </p:cTn>
                              </p:par>
                              <p:par>
                                <p:cTn id="27" presetID="6" presetClass="emph" presetSubtype="0" decel="100000" fill="hold" grpId="2" nodeType="withEffect">
                                  <p:stCondLst>
                                    <p:cond delay="400"/>
                                  </p:stCondLst>
                                  <p:childTnLst>
                                    <p:animScale>
                                      <p:cBhvr>
                                        <p:cTn id="28" dur="250" fill="hold"/>
                                        <p:tgtEl>
                                          <p:spTgt spid="36870"/>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p:bldP spid="36870" grpId="1"/>
      <p:bldP spid="36870" grpId="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图片 24"/>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6" name="文本框 25"/>
          <p:cNvSpPr txBox="1"/>
          <p:nvPr/>
        </p:nvSpPr>
        <p:spPr>
          <a:xfrm>
            <a:off x="411163" y="365125"/>
            <a:ext cx="1760538" cy="338554"/>
          </a:xfrm>
          <a:prstGeom prst="rect">
            <a:avLst/>
          </a:prstGeom>
          <a:noFill/>
        </p:spPr>
        <p:txBody>
          <a:bodyPr>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国内外研究进展</a:t>
            </a:r>
          </a:p>
        </p:txBody>
      </p:sp>
      <p:sp>
        <p:nvSpPr>
          <p:cNvPr id="3" name="矩形 2">
            <a:extLst>
              <a:ext uri="{FF2B5EF4-FFF2-40B4-BE49-F238E27FC236}">
                <a16:creationId xmlns:a16="http://schemas.microsoft.com/office/drawing/2014/main" id="{13A6B5E7-0029-664E-B376-44C0AE02FA03}"/>
              </a:ext>
            </a:extLst>
          </p:cNvPr>
          <p:cNvSpPr/>
          <p:nvPr/>
        </p:nvSpPr>
        <p:spPr>
          <a:xfrm>
            <a:off x="0" y="779462"/>
            <a:ext cx="9144000" cy="3922612"/>
          </a:xfrm>
          <a:prstGeom prst="rect">
            <a:avLst/>
          </a:prstGeom>
        </p:spPr>
        <p:txBody>
          <a:bodyPr wrap="square">
            <a:spAutoFit/>
          </a:bodyPr>
          <a:lstStyle/>
          <a:p>
            <a:pPr algn="just">
              <a:lnSpc>
                <a:spcPct val="132000"/>
              </a:lnSpc>
              <a:spcBef>
                <a:spcPts val="1200"/>
              </a:spcBef>
              <a:spcAft>
                <a:spcPts val="320"/>
              </a:spcAft>
            </a:pPr>
            <a:r>
              <a:rPr lang="en-US" altLang="zh-CN" sz="2000" b="1" kern="100" dirty="0">
                <a:solidFill>
                  <a:schemeClr val="bg1"/>
                </a:solidFill>
                <a:latin typeface="Arial" panose="020B0604020202020204" pitchFamily="34" charset="0"/>
                <a:ea typeface="黑体" panose="02010609060101010101" pitchFamily="49" charset="-122"/>
                <a:cs typeface="Times New Roman" panose="02020603050405020304" pitchFamily="18" charset="0"/>
              </a:rPr>
              <a:t>1</a:t>
            </a:r>
            <a:r>
              <a:rPr lang="zh-CN" altLang="zh-CN" sz="2000" b="1" kern="100" dirty="0">
                <a:solidFill>
                  <a:schemeClr val="bg1"/>
                </a:solidFill>
                <a:latin typeface="Arial" panose="020B0604020202020204" pitchFamily="34" charset="0"/>
                <a:ea typeface="黑体" panose="02010609060101010101" pitchFamily="49" charset="-122"/>
                <a:cs typeface="Times New Roman" panose="02020603050405020304" pitchFamily="18" charset="0"/>
              </a:rPr>
              <a:t>、基于小波变换的异常值噪声压制</a:t>
            </a:r>
            <a:endParaRPr lang="zh-CN" altLang="zh-CN" sz="1800" b="1" kern="100" dirty="0">
              <a:solidFill>
                <a:schemeClr val="bg1"/>
              </a:solidFill>
              <a:latin typeface="Arial" panose="020B0604020202020204" pitchFamily="34" charset="0"/>
              <a:ea typeface="黑体" panose="02010609060101010101" pitchFamily="49" charset="-122"/>
              <a:cs typeface="Times New Roman" panose="02020603050405020304" pitchFamily="18" charset="0"/>
            </a:endParaRPr>
          </a:p>
          <a:p>
            <a:pPr indent="266700" algn="just">
              <a:spcAft>
                <a:spcPts val="0"/>
              </a:spcAft>
            </a:pPr>
            <a:r>
              <a:rPr lang="en-US" altLang="zh-CN" sz="2000" kern="100" dirty="0" err="1">
                <a:solidFill>
                  <a:schemeClr val="bg1"/>
                </a:solidFill>
                <a:latin typeface="Calibri" panose="020F0502020204030204" pitchFamily="34" charset="0"/>
                <a:ea typeface="宋体" panose="02010600030101010101" pitchFamily="2" charset="-122"/>
                <a:cs typeface="Times New Roman" panose="02020603050405020304" pitchFamily="18" charset="0"/>
              </a:rPr>
              <a:t>Donoho</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和</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Johnston </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等人在</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1997</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年研究并提出了</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软阈值和硬阈值信号去噪方法</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，给出了通用阀值的计算公式，并且从理论上证明了该阀值是最优的。</a:t>
            </a:r>
            <a:endPar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endPar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r>
              <a:rPr lang="zh-CN" altLang="en-US"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Chang</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等人在</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2000</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年提出了一种</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自适应小波阀值</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去噪方法，用于处理图像空域，该方法将平移不变去噪思想和自适应阀值结合在一起，根据图像特征阀值可以自适应地变化。</a:t>
            </a:r>
            <a:endPar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endPar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r>
              <a:rPr lang="zh-CN" altLang="en-US" sz="20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000" dirty="0">
                <a:solidFill>
                  <a:schemeClr val="bg1"/>
                </a:solidFill>
                <a:latin typeface="Calibri" panose="020F0502020204030204" pitchFamily="34" charset="0"/>
                <a:ea typeface="宋体" panose="02010600030101010101" pitchFamily="2" charset="-122"/>
                <a:cs typeface="Times New Roman" panose="02020603050405020304" pitchFamily="18" charset="0"/>
              </a:rPr>
              <a:t>郝雪等人在</a:t>
            </a:r>
            <a:r>
              <a:rPr lang="en-US" altLang="zh-CN" sz="2000" dirty="0">
                <a:solidFill>
                  <a:schemeClr val="bg1"/>
                </a:solidFill>
                <a:latin typeface="Calibri" panose="020F0502020204030204" pitchFamily="34" charset="0"/>
                <a:ea typeface="宋体" panose="02010600030101010101" pitchFamily="2" charset="-122"/>
                <a:cs typeface="Times New Roman" panose="02020603050405020304" pitchFamily="18" charset="0"/>
              </a:rPr>
              <a:t>2006</a:t>
            </a:r>
            <a:r>
              <a:rPr lang="zh-CN" altLang="zh-CN" sz="2000" dirty="0">
                <a:solidFill>
                  <a:schemeClr val="bg1"/>
                </a:solidFill>
                <a:latin typeface="Calibri" panose="020F0502020204030204" pitchFamily="34" charset="0"/>
                <a:ea typeface="宋体" panose="02010600030101010101" pitchFamily="2" charset="-122"/>
                <a:cs typeface="Times New Roman" panose="02020603050405020304" pitchFamily="18" charset="0"/>
              </a:rPr>
              <a:t>年提出了一种</a:t>
            </a:r>
            <a:r>
              <a:rPr lang="zh-CN" altLang="zh-CN" sz="2000" dirty="0">
                <a:solidFill>
                  <a:srgbClr val="FF0000"/>
                </a:solidFill>
                <a:latin typeface="Calibri" panose="020F0502020204030204" pitchFamily="34" charset="0"/>
                <a:ea typeface="宋体" panose="02010600030101010101" pitchFamily="2" charset="-122"/>
                <a:cs typeface="Times New Roman" panose="02020603050405020304" pitchFamily="18" charset="0"/>
              </a:rPr>
              <a:t>基于奇异值分解（</a:t>
            </a:r>
            <a:r>
              <a:rPr lang="en-US" altLang="zh-CN" sz="2000" dirty="0">
                <a:solidFill>
                  <a:srgbClr val="FF0000"/>
                </a:solidFill>
                <a:latin typeface="Calibri" panose="020F0502020204030204" pitchFamily="34" charset="0"/>
                <a:ea typeface="宋体" panose="02010600030101010101" pitchFamily="2" charset="-122"/>
                <a:cs typeface="Times New Roman" panose="02020603050405020304" pitchFamily="18" charset="0"/>
              </a:rPr>
              <a:t>SVD</a:t>
            </a:r>
            <a:r>
              <a:rPr lang="zh-CN" altLang="zh-CN" sz="2000" dirty="0">
                <a:solidFill>
                  <a:srgbClr val="FF0000"/>
                </a:solidFill>
                <a:latin typeface="Calibri" panose="020F0502020204030204" pitchFamily="34" charset="0"/>
                <a:ea typeface="宋体" panose="02010600030101010101" pitchFamily="2" charset="-122"/>
                <a:cs typeface="Times New Roman" panose="02020603050405020304" pitchFamily="18" charset="0"/>
              </a:rPr>
              <a:t>）和小波阀值的处理方法</a:t>
            </a:r>
            <a:r>
              <a:rPr lang="zh-CN" altLang="zh-CN" sz="2000" dirty="0">
                <a:solidFill>
                  <a:schemeClr val="bg1"/>
                </a:solidFill>
                <a:latin typeface="Calibri" panose="020F0502020204030204" pitchFamily="34" charset="0"/>
                <a:ea typeface="宋体" panose="02010600030101010101" pitchFamily="2" charset="-122"/>
                <a:cs typeface="Times New Roman" panose="02020603050405020304" pitchFamily="18" charset="0"/>
              </a:rPr>
              <a:t>，先使用混沌振子法找到有效信号，然后通过线性时移将同相轴校正到同一方位，再使用奇异值分解滤波，然后反线性时移将同相轴变回原始位置，最后用小波逆变换重构信号。</a:t>
            </a:r>
            <a:r>
              <a:rPr lang="zh-CN" altLang="zh-CN" sz="1800" dirty="0">
                <a:solidFill>
                  <a:schemeClr val="bg1"/>
                </a:solidFill>
              </a:rPr>
              <a:t> </a:t>
            </a:r>
            <a:endParaRPr lang="zh-CN" altLang="en-US" sz="1800" dirty="0">
              <a:solidFill>
                <a:schemeClr val="bg1"/>
              </a:solidFill>
            </a:endParaRPr>
          </a:p>
        </p:txBody>
      </p:sp>
    </p:spTree>
    <p:extLst>
      <p:ext uri="{BB962C8B-B14F-4D97-AF65-F5344CB8AC3E}">
        <p14:creationId xmlns:p14="http://schemas.microsoft.com/office/powerpoint/2010/main" val="1712435023"/>
      </p:ext>
    </p:extLst>
  </p:cSld>
  <p:clrMapOvr>
    <a:masterClrMapping/>
  </p:clrMapOvr>
  <p:transition spd="slow" advClick="0" advTm="0">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图片 24"/>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6" name="文本框 25"/>
          <p:cNvSpPr txBox="1"/>
          <p:nvPr/>
        </p:nvSpPr>
        <p:spPr>
          <a:xfrm>
            <a:off x="411163" y="365125"/>
            <a:ext cx="1760538" cy="338554"/>
          </a:xfrm>
          <a:prstGeom prst="rect">
            <a:avLst/>
          </a:prstGeom>
          <a:noFill/>
        </p:spPr>
        <p:txBody>
          <a:bodyPr>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国内外研究进展</a:t>
            </a:r>
          </a:p>
        </p:txBody>
      </p:sp>
      <p:sp>
        <p:nvSpPr>
          <p:cNvPr id="2" name="文本框 1"/>
          <p:cNvSpPr txBox="1"/>
          <p:nvPr/>
        </p:nvSpPr>
        <p:spPr>
          <a:xfrm>
            <a:off x="0" y="790991"/>
            <a:ext cx="9144000" cy="3416320"/>
          </a:xfrm>
          <a:prstGeom prst="rect">
            <a:avLst/>
          </a:prstGeom>
          <a:noFill/>
        </p:spPr>
        <p:txBody>
          <a:bodyPr wrap="square" rtlCol="0">
            <a:spAutoFit/>
          </a:bodyPr>
          <a:lstStyle/>
          <a:p>
            <a:r>
              <a:rPr lang="en-US" altLang="zh-CN" sz="2000" b="1" kern="100" dirty="0">
                <a:solidFill>
                  <a:schemeClr val="bg1"/>
                </a:solidFill>
                <a:latin typeface="Arial" panose="020B0604020202020204" pitchFamily="34" charset="0"/>
                <a:ea typeface="黑体" panose="02010609060101010101" pitchFamily="49" charset="-122"/>
                <a:cs typeface="Times New Roman" panose="02020603050405020304" pitchFamily="18" charset="0"/>
              </a:rPr>
              <a:t>2</a:t>
            </a:r>
            <a:r>
              <a:rPr lang="zh-CN" altLang="zh-CN" sz="2000" b="1" kern="100" dirty="0">
                <a:solidFill>
                  <a:schemeClr val="bg1"/>
                </a:solidFill>
                <a:latin typeface="Arial" panose="020B0604020202020204" pitchFamily="34" charset="0"/>
                <a:ea typeface="黑体" panose="02010609060101010101" pitchFamily="49" charset="-122"/>
                <a:cs typeface="Times New Roman" panose="02020603050405020304" pitchFamily="18" charset="0"/>
              </a:rPr>
              <a:t>、基于中值滤波的异常值噪声压制</a:t>
            </a:r>
          </a:p>
          <a:p>
            <a:r>
              <a:rPr lang="zh-CN" altLang="en-US"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endPar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r>
              <a:rPr lang="zh-CN" altLang="en-US"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陈志德等人在</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2010</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年提出了一种</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基于中值滤波的异常振幅噪声分频压制技术</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，根据异常值振幅噪声集中分布于检波点集而随机分布于炮集的特点，通过将炮集数据划分为不同的频率子集，在每个频率子集上使用中值滤波进行噪声压制。</a:t>
            </a:r>
            <a:endPar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endPar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r>
              <a:rPr lang="zh-CN" altLang="en-US"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潘军等人在</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2016</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年提出了一种</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异常振幅衰减技术</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的应用，在指定的某个频带内，当信号的振幅大于某个阀值时，认为该信号是异常的，并用相邻道的插值来代替。</a:t>
            </a:r>
          </a:p>
          <a:p>
            <a:endParaRPr lang="en-US" altLang="zh-CN" sz="1800" dirty="0">
              <a:solidFill>
                <a:schemeClr val="bg1"/>
              </a:solidFill>
              <a:latin typeface="微软雅黑" panose="020B0503020204020204" pitchFamily="34" charset="-122"/>
              <a:ea typeface="微软雅黑" panose="020B0503020204020204" pitchFamily="34" charset="-122"/>
            </a:endParaRPr>
          </a:p>
          <a:p>
            <a:endParaRPr lang="zh-CN" altLang="en-US" sz="1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1164842"/>
      </p:ext>
    </p:extLst>
  </p:cSld>
  <p:clrMapOvr>
    <a:masterClrMapping/>
  </p:clrMapOvr>
  <p:transition spd="slow" advClick="0" advTm="0">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图片 24"/>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6" name="文本框 25"/>
          <p:cNvSpPr txBox="1"/>
          <p:nvPr/>
        </p:nvSpPr>
        <p:spPr>
          <a:xfrm>
            <a:off x="411163" y="365125"/>
            <a:ext cx="1760538" cy="338554"/>
          </a:xfrm>
          <a:prstGeom prst="rect">
            <a:avLst/>
          </a:prstGeom>
          <a:noFill/>
        </p:spPr>
        <p:txBody>
          <a:bodyPr>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国内外研究进展</a:t>
            </a:r>
          </a:p>
        </p:txBody>
      </p:sp>
      <p:sp>
        <p:nvSpPr>
          <p:cNvPr id="2" name="文本框 1"/>
          <p:cNvSpPr txBox="1"/>
          <p:nvPr/>
        </p:nvSpPr>
        <p:spPr>
          <a:xfrm>
            <a:off x="0" y="790991"/>
            <a:ext cx="9144000" cy="4370427"/>
          </a:xfrm>
          <a:prstGeom prst="rect">
            <a:avLst/>
          </a:prstGeom>
          <a:noFill/>
        </p:spPr>
        <p:txBody>
          <a:bodyPr wrap="square" rtlCol="0">
            <a:spAutoFit/>
          </a:bodyPr>
          <a:lstStyle/>
          <a:p>
            <a:r>
              <a:rPr lang="en-US" altLang="zh-CN" sz="2000" b="1" kern="100" dirty="0">
                <a:solidFill>
                  <a:schemeClr val="bg1"/>
                </a:solidFill>
                <a:latin typeface="Arial" panose="020B0604020202020204" pitchFamily="34" charset="0"/>
                <a:ea typeface="黑体" panose="02010609060101010101" pitchFamily="49" charset="-122"/>
                <a:cs typeface="Times New Roman" panose="02020603050405020304" pitchFamily="18" charset="0"/>
              </a:rPr>
              <a:t>3</a:t>
            </a:r>
            <a:r>
              <a:rPr lang="zh-CN" altLang="zh-CN" sz="2000" b="1" kern="100" dirty="0">
                <a:solidFill>
                  <a:schemeClr val="bg1"/>
                </a:solidFill>
                <a:latin typeface="Arial" panose="020B0604020202020204" pitchFamily="34" charset="0"/>
                <a:ea typeface="黑体" panose="02010609060101010101" pitchFamily="49" charset="-122"/>
                <a:cs typeface="Times New Roman" panose="02020603050405020304" pitchFamily="18" charset="0"/>
              </a:rPr>
              <a:t>、基于降秩滤波的异常值噪声压制</a:t>
            </a:r>
            <a:endParaRPr lang="en-US" altLang="zh-CN" sz="2000" b="1" kern="100" dirty="0">
              <a:solidFill>
                <a:schemeClr val="bg1"/>
              </a:solidFill>
              <a:latin typeface="Arial" panose="020B0604020202020204" pitchFamily="34" charset="0"/>
              <a:ea typeface="黑体" panose="02010609060101010101" pitchFamily="49" charset="-122"/>
              <a:cs typeface="Times New Roman" panose="02020603050405020304" pitchFamily="18" charset="0"/>
            </a:endParaRPr>
          </a:p>
          <a:p>
            <a:endParaRPr lang="zh-CN" altLang="zh-CN" sz="2000" b="1"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r>
              <a:rPr lang="zh-CN" altLang="en-US"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Trickett</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在</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2012</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年提出了一种</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稳健的降秩滤波方法</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，基于截断奇异值分解（</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TSVD</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）设计了一个双平方重加权因子，通过降秩后的频率切片和原始频率切片加权迭代降秩来压制异常值噪声。</a:t>
            </a:r>
            <a:endPar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endPar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r>
              <a:rPr lang="zh-CN" altLang="en-US"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Chen </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和</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en-US" altLang="zh-CN" sz="2000" kern="100" dirty="0" err="1">
                <a:solidFill>
                  <a:schemeClr val="bg1"/>
                </a:solidFill>
                <a:latin typeface="Calibri" panose="020F0502020204030204" pitchFamily="34" charset="0"/>
                <a:ea typeface="宋体" panose="02010600030101010101" pitchFamily="2" charset="-122"/>
                <a:cs typeface="Times New Roman" panose="02020603050405020304" pitchFamily="18" charset="0"/>
              </a:rPr>
              <a:t>Sacchi</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认为</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SVD</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是一种非稳健的矩阵分解技术，当地震数据受到不稳定的噪声的污染时，它会导致不理想的结果，在</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2014</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年提出了一种</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基于随机</a:t>
            </a:r>
            <a:r>
              <a:rPr lang="en-US"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QR</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分解的稳健</a:t>
            </a:r>
            <a:r>
              <a:rPr lang="en-US"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SSA</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方法</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，用于去除高斯噪声和不稳定噪声。</a:t>
            </a:r>
            <a:endPar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endPar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endParaRPr>
          </a:p>
          <a:p>
            <a:pPr indent="266700" algn="just">
              <a:spcAft>
                <a:spcPts val="0"/>
              </a:spcAft>
            </a:pPr>
            <a:r>
              <a:rPr lang="zh-CN" altLang="en-US"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  </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陈阳康等人在</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2016</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提出了一种</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阻尼多道奇异谱分析（</a:t>
            </a:r>
            <a:r>
              <a:rPr lang="en-US"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DMSSA</a:t>
            </a:r>
            <a:r>
              <a:rPr lang="zh-CN" altLang="zh-CN" sz="2000"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的方法。他们提出在</a:t>
            </a:r>
            <a:r>
              <a:rPr lang="en-US"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TSVD</a:t>
            </a:r>
            <a:r>
              <a:rPr lang="zh-CN" altLang="zh-CN" sz="2000" kern="100" dirty="0">
                <a:solidFill>
                  <a:schemeClr val="bg1"/>
                </a:solidFill>
                <a:latin typeface="Calibri" panose="020F0502020204030204" pitchFamily="34" charset="0"/>
                <a:ea typeface="宋体" panose="02010600030101010101" pitchFamily="2" charset="-122"/>
                <a:cs typeface="Times New Roman" panose="02020603050405020304" pitchFamily="18" charset="0"/>
              </a:rPr>
              <a:t>的基础上加入一个阻尼矩阵来进一步压制残留的噪声，并用改进的多道奇异谱分析方法同时进行缺失道重建和去噪。</a:t>
            </a:r>
          </a:p>
          <a:p>
            <a:endParaRPr lang="en-US" altLang="zh-CN" sz="1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8258906"/>
      </p:ext>
    </p:extLst>
  </p:cSld>
  <p:clrMapOvr>
    <a:masterClrMapping/>
  </p:clrMapOvr>
  <p:transition spd="slow" advClick="0" advTm="0">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38125" y="296863"/>
            <a:ext cx="1363663" cy="474662"/>
            <a:chOff x="184527" y="297451"/>
            <a:chExt cx="1363137" cy="473415"/>
          </a:xfrm>
        </p:grpSpPr>
        <p:pic>
          <p:nvPicPr>
            <p:cNvPr id="36866" name="图片 1"/>
            <p:cNvPicPr>
              <a:picLocks noChangeAspect="1"/>
            </p:cNvPicPr>
            <p:nvPr/>
          </p:nvPicPr>
          <p:blipFill>
            <a:blip r:embed="rId3" cstate="print"/>
            <a:stretch>
              <a:fillRect/>
            </a:stretch>
          </p:blipFill>
          <p:spPr>
            <a:xfrm flipH="1">
              <a:off x="184527" y="297451"/>
              <a:ext cx="422017" cy="473415"/>
            </a:xfrm>
            <a:prstGeom prst="rect">
              <a:avLst/>
            </a:prstGeom>
            <a:noFill/>
            <a:ln w="9525">
              <a:noFill/>
            </a:ln>
          </p:spPr>
        </p:pic>
        <p:sp>
          <p:nvSpPr>
            <p:cNvPr id="3" name="文本框 2"/>
            <p:cNvSpPr txBox="1"/>
            <p:nvPr/>
          </p:nvSpPr>
          <p:spPr>
            <a:xfrm>
              <a:off x="539990" y="376617"/>
              <a:ext cx="1007674" cy="368915"/>
            </a:xfrm>
            <a:prstGeom prst="rect">
              <a:avLst/>
            </a:prstGeom>
            <a:noFill/>
          </p:spPr>
          <p:txBody>
            <a:bodyPr>
              <a:spAutoFit/>
            </a:bodyPr>
            <a:lstStyle/>
            <a:p>
              <a:pPr marR="0" defTabSz="685800" rtl="0" fontAlgn="auto">
                <a:spcBef>
                  <a:spcPts val="0"/>
                </a:spcBef>
                <a:spcAft>
                  <a:spcPts val="0"/>
                </a:spcAft>
                <a:buClrTx/>
                <a:buSzTx/>
                <a:buFontTx/>
                <a:defRPr/>
              </a:pPr>
              <a:r>
                <a:rPr kumimoji="0" lang="zh-CN" altLang="en-US" sz="1800" kern="1200" cap="none" spc="0" normalizeH="0" baseline="0" noProof="0" dirty="0">
                  <a:solidFill>
                    <a:schemeClr val="bg1">
                      <a:lumMod val="95000"/>
                    </a:schemeClr>
                  </a:solidFill>
                  <a:latin typeface="+mn-lt"/>
                  <a:ea typeface="微软雅黑" panose="020B0503020204020204" pitchFamily="34" charset="-122"/>
                  <a:cs typeface="+mn-cs"/>
                </a:rPr>
                <a:t>目录页</a:t>
              </a:r>
            </a:p>
          </p:txBody>
        </p:sp>
        <p:cxnSp>
          <p:nvCxnSpPr>
            <p:cNvPr id="5" name="直接连接符 4"/>
            <p:cNvCxnSpPr/>
            <p:nvPr/>
          </p:nvCxnSpPr>
          <p:spPr>
            <a:xfrm>
              <a:off x="539990" y="745533"/>
              <a:ext cx="863267"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6870" name="文本框 19"/>
          <p:cNvSpPr txBox="1"/>
          <p:nvPr/>
        </p:nvSpPr>
        <p:spPr>
          <a:xfrm>
            <a:off x="2326482" y="2156313"/>
            <a:ext cx="6465826" cy="707886"/>
          </a:xfrm>
          <a:prstGeom prst="rect">
            <a:avLst/>
          </a:prstGeom>
          <a:noFill/>
          <a:ln w="9525">
            <a:noFill/>
          </a:ln>
        </p:spPr>
        <p:txBody>
          <a:bodyPr wrap="square" anchor="t">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论文的方法原理及实现流程</a:t>
            </a:r>
          </a:p>
        </p:txBody>
      </p:sp>
      <p:grpSp>
        <p:nvGrpSpPr>
          <p:cNvPr id="12" name="组合 11"/>
          <p:cNvGrpSpPr/>
          <p:nvPr/>
        </p:nvGrpSpPr>
        <p:grpSpPr>
          <a:xfrm>
            <a:off x="1097756" y="1900726"/>
            <a:ext cx="1128713" cy="1128712"/>
            <a:chOff x="2558424" y="1401428"/>
            <a:chExt cx="1318727" cy="1318727"/>
          </a:xfrm>
        </p:grpSpPr>
        <p:sp>
          <p:nvSpPr>
            <p:cNvPr id="13" name="椭圆 12"/>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sp>
          <p:nvSpPr>
            <p:cNvPr id="15" name="Freeform 11"/>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grpSp>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250" fill="hold"/>
                                        <p:tgtEl>
                                          <p:spTgt spid="12"/>
                                        </p:tgtEl>
                                        <p:attrNameLst>
                                          <p:attrName>ppt_w</p:attrName>
                                        </p:attrNameLst>
                                      </p:cBhvr>
                                      <p:tavLst>
                                        <p:tav tm="0">
                                          <p:val>
                                            <p:fltVal val="0"/>
                                          </p:val>
                                        </p:tav>
                                        <p:tav tm="100000">
                                          <p:val>
                                            <p:strVal val="#ppt_w"/>
                                          </p:val>
                                        </p:tav>
                                      </p:tavLst>
                                    </p:anim>
                                    <p:anim calcmode="lin" valueType="num">
                                      <p:cBhvr>
                                        <p:cTn id="13" dur="250" fill="hold"/>
                                        <p:tgtEl>
                                          <p:spTgt spid="12"/>
                                        </p:tgtEl>
                                        <p:attrNameLst>
                                          <p:attrName>ppt_h</p:attrName>
                                        </p:attrNameLst>
                                      </p:cBhvr>
                                      <p:tavLst>
                                        <p:tav tm="0">
                                          <p:val>
                                            <p:fltVal val="0"/>
                                          </p:val>
                                        </p:tav>
                                        <p:tav tm="100000">
                                          <p:val>
                                            <p:strVal val="#ppt_h"/>
                                          </p:val>
                                        </p:tav>
                                      </p:tavLst>
                                    </p:anim>
                                    <p:animEffect transition="in" filter="fade">
                                      <p:cBhvr>
                                        <p:cTn id="14" dur="250"/>
                                        <p:tgtEl>
                                          <p:spTgt spid="12"/>
                                        </p:tgtEl>
                                      </p:cBhvr>
                                    </p:animEffect>
                                  </p:childTnLst>
                                </p:cTn>
                              </p:par>
                              <p:par>
                                <p:cTn id="15" presetID="6" presetClass="emph" presetSubtype="0" decel="100000" fill="hold" nodeType="withEffect">
                                  <p:stCondLst>
                                    <p:cond delay="200"/>
                                  </p:stCondLst>
                                  <p:childTnLst>
                                    <p:animScale>
                                      <p:cBhvr>
                                        <p:cTn id="16" dur="250" fill="hold"/>
                                        <p:tgtEl>
                                          <p:spTgt spid="12"/>
                                        </p:tgtEl>
                                      </p:cBhvr>
                                      <p:by x="110000" y="110000"/>
                                    </p:animScale>
                                  </p:childTnLst>
                                </p:cTn>
                              </p:par>
                              <p:par>
                                <p:cTn id="17" presetID="6" presetClass="emph" presetSubtype="0" decel="100000" fill="hold" nodeType="withEffect">
                                  <p:stCondLst>
                                    <p:cond delay="400"/>
                                  </p:stCondLst>
                                  <p:childTnLst>
                                    <p:animScale>
                                      <p:cBhvr>
                                        <p:cTn id="18" dur="250" fill="hold"/>
                                        <p:tgtEl>
                                          <p:spTgt spid="12"/>
                                        </p:tgtEl>
                                      </p:cBhvr>
                                      <p:by x="91000" y="91000"/>
                                    </p:animScale>
                                  </p:childTnLst>
                                </p:cTn>
                              </p:par>
                            </p:childTnLst>
                          </p:cTn>
                        </p:par>
                        <p:par>
                          <p:cTn id="19" fill="hold">
                            <p:stCondLst>
                              <p:cond delay="1150"/>
                            </p:stCondLst>
                            <p:childTnLst>
                              <p:par>
                                <p:cTn id="20" presetID="53" presetClass="entr" presetSubtype="16" fill="hold" grpId="0" nodeType="afterEffect">
                                  <p:stCondLst>
                                    <p:cond delay="0"/>
                                  </p:stCondLst>
                                  <p:childTnLst>
                                    <p:set>
                                      <p:cBhvr>
                                        <p:cTn id="21" dur="1" fill="hold">
                                          <p:stCondLst>
                                            <p:cond delay="0"/>
                                          </p:stCondLst>
                                        </p:cTn>
                                        <p:tgtEl>
                                          <p:spTgt spid="36870"/>
                                        </p:tgtEl>
                                        <p:attrNameLst>
                                          <p:attrName>style.visibility</p:attrName>
                                        </p:attrNameLst>
                                      </p:cBhvr>
                                      <p:to>
                                        <p:strVal val="visible"/>
                                      </p:to>
                                    </p:set>
                                    <p:anim calcmode="lin" valueType="num">
                                      <p:cBhvr>
                                        <p:cTn id="22" dur="250" fill="hold"/>
                                        <p:tgtEl>
                                          <p:spTgt spid="36870"/>
                                        </p:tgtEl>
                                        <p:attrNameLst>
                                          <p:attrName>ppt_w</p:attrName>
                                        </p:attrNameLst>
                                      </p:cBhvr>
                                      <p:tavLst>
                                        <p:tav tm="0">
                                          <p:val>
                                            <p:fltVal val="0"/>
                                          </p:val>
                                        </p:tav>
                                        <p:tav tm="100000">
                                          <p:val>
                                            <p:strVal val="#ppt_w"/>
                                          </p:val>
                                        </p:tav>
                                      </p:tavLst>
                                    </p:anim>
                                    <p:anim calcmode="lin" valueType="num">
                                      <p:cBhvr>
                                        <p:cTn id="23" dur="250" fill="hold"/>
                                        <p:tgtEl>
                                          <p:spTgt spid="36870"/>
                                        </p:tgtEl>
                                        <p:attrNameLst>
                                          <p:attrName>ppt_h</p:attrName>
                                        </p:attrNameLst>
                                      </p:cBhvr>
                                      <p:tavLst>
                                        <p:tav tm="0">
                                          <p:val>
                                            <p:fltVal val="0"/>
                                          </p:val>
                                        </p:tav>
                                        <p:tav tm="100000">
                                          <p:val>
                                            <p:strVal val="#ppt_h"/>
                                          </p:val>
                                        </p:tav>
                                      </p:tavLst>
                                    </p:anim>
                                    <p:animEffect transition="in" filter="fade">
                                      <p:cBhvr>
                                        <p:cTn id="24" dur="250"/>
                                        <p:tgtEl>
                                          <p:spTgt spid="36870"/>
                                        </p:tgtEl>
                                      </p:cBhvr>
                                    </p:animEffect>
                                  </p:childTnLst>
                                </p:cTn>
                              </p:par>
                              <p:par>
                                <p:cTn id="25" presetID="6" presetClass="emph" presetSubtype="0" decel="100000" fill="hold" grpId="1" nodeType="withEffect">
                                  <p:stCondLst>
                                    <p:cond delay="200"/>
                                  </p:stCondLst>
                                  <p:childTnLst>
                                    <p:animScale>
                                      <p:cBhvr>
                                        <p:cTn id="26" dur="250" fill="hold"/>
                                        <p:tgtEl>
                                          <p:spTgt spid="36870"/>
                                        </p:tgtEl>
                                      </p:cBhvr>
                                      <p:by x="110000" y="110000"/>
                                    </p:animScale>
                                  </p:childTnLst>
                                </p:cTn>
                              </p:par>
                              <p:par>
                                <p:cTn id="27" presetID="6" presetClass="emph" presetSubtype="0" decel="100000" fill="hold" grpId="2" nodeType="withEffect">
                                  <p:stCondLst>
                                    <p:cond delay="400"/>
                                  </p:stCondLst>
                                  <p:childTnLst>
                                    <p:animScale>
                                      <p:cBhvr>
                                        <p:cTn id="28" dur="250" fill="hold"/>
                                        <p:tgtEl>
                                          <p:spTgt spid="36870"/>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p:bldP spid="36870" grpId="1"/>
      <p:bldP spid="36870" grpId="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2"/>
          <p:cNvSpPr txBox="1"/>
          <p:nvPr/>
        </p:nvSpPr>
        <p:spPr>
          <a:xfrm>
            <a:off x="778213" y="1061564"/>
            <a:ext cx="7859950" cy="3363741"/>
          </a:xfrm>
          <a:prstGeom prst="rect">
            <a:avLst/>
          </a:prstGeom>
          <a:noFill/>
        </p:spPr>
        <p:txBody>
          <a:bodyPr wrap="square">
            <a:spAutoFit/>
          </a:bodyPr>
          <a:lstStyle/>
          <a:p>
            <a:pPr marR="0" defTabSz="683895" rtl="0" fontAlgn="auto">
              <a:lnSpc>
                <a:spcPct val="120000"/>
              </a:lnSpc>
              <a:spcBef>
                <a:spcPts val="0"/>
              </a:spcBef>
              <a:spcAft>
                <a:spcPts val="0"/>
              </a:spcAft>
              <a:buClrTx/>
              <a:buSzTx/>
              <a:buFontTx/>
              <a:defRPr/>
            </a:pPr>
            <a:r>
              <a:rPr lang="zh-CN" altLang="en-US"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基于</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SVD</a:t>
            </a:r>
            <a:r>
              <a:rPr lang="zh-CN" altLang="en-US"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的</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PCA</a:t>
            </a:r>
          </a:p>
          <a:p>
            <a:pPr marR="0" defTabSz="683895" rtl="0" fontAlgn="auto">
              <a:lnSpc>
                <a:spcPct val="120000"/>
              </a:lnSpc>
              <a:spcBef>
                <a:spcPts val="0"/>
              </a:spcBef>
              <a:spcAft>
                <a:spcPts val="0"/>
              </a:spcAft>
              <a:buClrTx/>
              <a:buSzTx/>
              <a:buFontTx/>
              <a:defRPr/>
            </a:pPr>
            <a:endPar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endPar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algn="ctr" defTabSz="683895" rtl="0" fontAlgn="auto">
              <a:lnSpc>
                <a:spcPct val="120000"/>
              </a:lnSpc>
              <a:spcBef>
                <a:spcPts val="0"/>
              </a:spcBef>
              <a:spcAft>
                <a:spcPts val="0"/>
              </a:spcAft>
              <a:defRPr/>
            </a:pPr>
            <a:r>
              <a:rPr lang="en-US" altLang="zh-CN" sz="18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D</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E</a:t>
            </a:r>
            <a:endPar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marR="0" defTabSz="683895" rtl="0" fontAlgn="auto">
              <a:lnSpc>
                <a:spcPct val="120000"/>
              </a:lnSpc>
              <a:spcBef>
                <a:spcPts val="0"/>
              </a:spcBef>
              <a:spcAft>
                <a:spcPts val="0"/>
              </a:spcAft>
              <a:buClrTx/>
              <a:buSzTx/>
              <a:buFontTx/>
              <a:defRPr/>
            </a:pPr>
            <a:endPar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endPar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min||</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E</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aseline="-25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F</a:t>
            </a:r>
            <a:r>
              <a:rPr lang="en-US" altLang="zh-CN" sz="1800" baseline="30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2</a:t>
            </a:r>
            <a:endParaRPr kumimoji="0" lang="en-US" altLang="zh-CN" sz="1800" kern="1200" cap="none" spc="0" normalizeH="0" baseline="30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endPar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lang="en-US" altLang="zh-CN" sz="18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s.t.</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rank(</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)=k, </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D</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E</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p>
          <a:p>
            <a:pPr marR="0" defTabSz="683895" rtl="0" fontAlgn="auto">
              <a:lnSpc>
                <a:spcPct val="120000"/>
              </a:lnSpc>
              <a:spcBef>
                <a:spcPts val="0"/>
              </a:spcBef>
              <a:spcAft>
                <a:spcPts val="0"/>
              </a:spcAft>
              <a:buClrTx/>
              <a:buSzTx/>
              <a:buFontTx/>
              <a:defRPr/>
            </a:pPr>
            <a:endParaRPr kumimoji="0" lang="en-US" altLang="zh-CN" sz="12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endParaRPr kumimoji="0" lang="zh-CN" altLang="en-US" sz="1000" kern="1200" cap="none" spc="0" normalizeH="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p:txBody>
      </p:sp>
      <p:pic>
        <p:nvPicPr>
          <p:cNvPr id="43034" name="图片 27"/>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9" name="文本框 28"/>
          <p:cNvSpPr txBox="1"/>
          <p:nvPr/>
        </p:nvSpPr>
        <p:spPr>
          <a:xfrm>
            <a:off x="411162" y="365125"/>
            <a:ext cx="2039055" cy="338554"/>
          </a:xfrm>
          <a:prstGeom prst="rect">
            <a:avLst/>
          </a:prstGeom>
          <a:noFill/>
        </p:spPr>
        <p:txBody>
          <a:bodyPr wrap="square">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方法原理</a:t>
            </a:r>
            <a:endParaRPr kumimoji="0" lang="zh-CN" altLang="en-US" sz="1600" kern="1200" cap="none" spc="0" normalizeH="0" baseline="0" noProof="0" dirty="0">
              <a:solidFill>
                <a:schemeClr val="bg1">
                  <a:lumMod val="95000"/>
                </a:schemeClr>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922802756"/>
      </p:ext>
    </p:extLst>
  </p:cSld>
  <p:clrMapOvr>
    <a:masterClrMapping/>
  </p:clrMapOvr>
  <p:transition spd="slow" advClick="0" advTm="0">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2"/>
          <p:cNvSpPr txBox="1"/>
          <p:nvPr/>
        </p:nvSpPr>
        <p:spPr>
          <a:xfrm>
            <a:off x="778213" y="1061564"/>
            <a:ext cx="7859950" cy="2834174"/>
          </a:xfrm>
          <a:prstGeom prst="rect">
            <a:avLst/>
          </a:prstGeom>
          <a:noFill/>
        </p:spPr>
        <p:txBody>
          <a:bodyPr wrap="square">
            <a:spAutoFit/>
          </a:bodyPr>
          <a:lstStyle/>
          <a:p>
            <a:pPr marR="0" defTabSz="683895" rtl="0" fontAlgn="auto">
              <a:lnSpc>
                <a:spcPct val="120000"/>
              </a:lnSpc>
              <a:spcBef>
                <a:spcPts val="0"/>
              </a:spcBef>
              <a:spcAft>
                <a:spcPts val="0"/>
              </a:spcAft>
              <a:buClrTx/>
              <a:buSzTx/>
              <a:buFontTx/>
              <a:defRPr/>
            </a:pP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RPCA</a:t>
            </a:r>
          </a:p>
          <a:p>
            <a:pPr marR="0" defTabSz="683895" rtl="0" fontAlgn="auto">
              <a:lnSpc>
                <a:spcPct val="120000"/>
              </a:lnSpc>
              <a:spcBef>
                <a:spcPts val="0"/>
              </a:spcBef>
              <a:spcAft>
                <a:spcPts val="0"/>
              </a:spcAft>
              <a:buClrTx/>
              <a:buSzTx/>
              <a:buFontTx/>
              <a:defRPr/>
            </a:pPr>
            <a:endPar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我们假定异常值噪声可以用一个稀疏矩阵</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表示。</a:t>
            </a:r>
            <a:endPar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endPar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min||</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0</a:t>
            </a:r>
          </a:p>
          <a:p>
            <a:pPr marR="0" algn="ctr" defTabSz="683895" rtl="0" fontAlgn="auto">
              <a:lnSpc>
                <a:spcPct val="120000"/>
              </a:lnSpc>
              <a:spcBef>
                <a:spcPts val="0"/>
              </a:spcBef>
              <a:spcAft>
                <a:spcPts val="0"/>
              </a:spcAft>
              <a:buClrTx/>
              <a:buSzTx/>
              <a:buFontTx/>
              <a:defRPr/>
            </a:pPr>
            <a:endPar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lang="en-US" altLang="zh-CN" sz="18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s.t.</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rank(</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)=k, </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D</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p>
          <a:p>
            <a:pPr marR="0" defTabSz="683895" rtl="0" fontAlgn="auto">
              <a:lnSpc>
                <a:spcPct val="120000"/>
              </a:lnSpc>
              <a:spcBef>
                <a:spcPts val="0"/>
              </a:spcBef>
              <a:spcAft>
                <a:spcPts val="0"/>
              </a:spcAft>
              <a:buClrTx/>
              <a:buSzTx/>
              <a:buFontTx/>
              <a:defRPr/>
            </a:pPr>
            <a:endParaRPr kumimoji="0" lang="en-US" altLang="zh-CN" sz="12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kumimoji="0" lang="zh-CN" altLang="en-US" sz="1600" b="1" kern="1200" cap="none" spc="0" normalizeH="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600" b="1" kern="1200" cap="none" spc="0" normalizeH="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NP-hard</a:t>
            </a:r>
            <a:endParaRPr kumimoji="0" lang="zh-CN" altLang="en-US" sz="1600" b="1" kern="1200" cap="none" spc="0" normalizeH="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p:txBody>
      </p:sp>
      <p:pic>
        <p:nvPicPr>
          <p:cNvPr id="43034" name="图片 27"/>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9" name="文本框 28"/>
          <p:cNvSpPr txBox="1"/>
          <p:nvPr/>
        </p:nvSpPr>
        <p:spPr>
          <a:xfrm>
            <a:off x="411162" y="365125"/>
            <a:ext cx="2039055" cy="338554"/>
          </a:xfrm>
          <a:prstGeom prst="rect">
            <a:avLst/>
          </a:prstGeom>
          <a:noFill/>
        </p:spPr>
        <p:txBody>
          <a:bodyPr wrap="square">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方法原理</a:t>
            </a:r>
            <a:endParaRPr kumimoji="0" lang="zh-CN" altLang="en-US" sz="1600" kern="1200" cap="none" spc="0" normalizeH="0" baseline="0" noProof="0" dirty="0">
              <a:solidFill>
                <a:schemeClr val="bg1">
                  <a:lumMod val="95000"/>
                </a:schemeClr>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06673785"/>
      </p:ext>
    </p:extLst>
  </p:cSld>
  <p:clrMapOvr>
    <a:masterClrMapping/>
  </p:clrMapOvr>
  <p:transition spd="slow" advClick="0" advTm="0">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12"/>
              <p:cNvSpPr txBox="1"/>
              <p:nvPr/>
            </p:nvSpPr>
            <p:spPr>
              <a:xfrm>
                <a:off x="0" y="779462"/>
                <a:ext cx="9144000" cy="4093493"/>
              </a:xfrm>
              <a:prstGeom prst="rect">
                <a:avLst/>
              </a:prstGeom>
              <a:noFill/>
            </p:spPr>
            <p:txBody>
              <a:bodyPr wrap="square">
                <a:spAutoFit/>
              </a:bodyPr>
              <a:lstStyle/>
              <a:p>
                <a:pPr marR="0" defTabSz="683895" rtl="0" fontAlgn="auto">
                  <a:lnSpc>
                    <a:spcPct val="120000"/>
                  </a:lnSpc>
                  <a:spcBef>
                    <a:spcPts val="0"/>
                  </a:spcBef>
                  <a:spcAft>
                    <a:spcPts val="0"/>
                  </a:spcAft>
                  <a:buClrTx/>
                  <a:buSzTx/>
                  <a:buFontTx/>
                  <a:defRPr/>
                </a:pPr>
                <a:endParaRPr kumimoji="0" lang="en-US" altLang="zh-CN" sz="12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kumimoji="0" lang="en-US" altLang="zh-CN" sz="1800" kern="1200" cap="none" spc="0" normalizeH="0" baseline="0" noProof="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min</a:t>
                </a:r>
                <a:r>
                  <a:rPr kumimoji="0" lang="en-US" altLang="zh-CN" sz="1800" b="1" kern="1200" cap="none" spc="0" normalizeH="0" baseline="0" noProof="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J</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14:m>
                  <m:oMath xmlns:m="http://schemas.openxmlformats.org/officeDocument/2006/math">
                    <m:f>
                      <m:fPr>
                        <m:ctrlPr>
                          <a:rPr kumimoji="0" lang="en-US" altLang="zh-CN" sz="1800" i="1" kern="1200" cap="none" spc="0" normalizeH="0" baseline="0" noProof="0" smtClean="0">
                            <a:solidFill>
                              <a:schemeClr val="bg1"/>
                            </a:solidFill>
                            <a:latin typeface="Cambria Math" panose="02040503050406030204" pitchFamily="18" charset="0"/>
                            <a:ea typeface="微软雅黑" panose="020B0503020204020204" pitchFamily="34" charset="-122"/>
                            <a:cs typeface="+mn-cs"/>
                            <a:sym typeface="Arial" panose="020B0604020202020204" pitchFamily="34" charset="0"/>
                          </a:rPr>
                        </m:ctrlPr>
                      </m:fPr>
                      <m:num>
                        <m:r>
                          <a:rPr kumimoji="0" lang="en-US" altLang="zh-CN" sz="1800" b="0" i="1" kern="1200" cap="none" spc="0" normalizeH="0" baseline="0" noProof="0" smtClean="0">
                            <a:solidFill>
                              <a:schemeClr val="bg1"/>
                            </a:solidFill>
                            <a:latin typeface="Cambria Math" panose="02040503050406030204" pitchFamily="18" charset="0"/>
                            <a:ea typeface="微软雅黑" panose="020B0503020204020204" pitchFamily="34" charset="-122"/>
                            <a:cs typeface="+mn-cs"/>
                            <a:sym typeface="Arial" panose="020B0604020202020204" pitchFamily="34" charset="0"/>
                          </a:rPr>
                          <m:t>1</m:t>
                        </m:r>
                      </m:num>
                      <m:den>
                        <m:r>
                          <a:rPr kumimoji="0" lang="en-US" altLang="zh-CN" sz="1800" b="0" i="1" kern="1200" cap="none" spc="0" normalizeH="0" baseline="0" noProof="0" smtClean="0">
                            <a:solidFill>
                              <a:schemeClr val="bg1"/>
                            </a:solidFill>
                            <a:latin typeface="Cambria Math" panose="02040503050406030204" pitchFamily="18" charset="0"/>
                            <a:ea typeface="微软雅黑" panose="020B0503020204020204" pitchFamily="34" charset="-122"/>
                            <a:cs typeface="+mn-cs"/>
                            <a:sym typeface="Arial" panose="020B0604020202020204" pitchFamily="34" charset="0"/>
                          </a:rPr>
                          <m:t>2</m:t>
                        </m:r>
                        <m:r>
                          <a:rPr kumimoji="0" lang="en-US" altLang="zh-CN" sz="1800" b="0" i="1" kern="1200" cap="none" spc="0" normalizeH="0" baseline="0" noProof="0" smtClean="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m:t>𝜇</m:t>
                        </m:r>
                      </m:den>
                    </m:f>
                  </m:oMath>
                </a14:m>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D</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F</a:t>
                </a:r>
                <a:r>
                  <a:rPr kumimoji="0" lang="en-US" altLang="zh-CN" sz="1800" kern="1200" cap="none" spc="0" normalizeH="0" baseline="30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2</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14:m>
                  <m:oMath xmlns:m="http://schemas.openxmlformats.org/officeDocument/2006/math">
                    <m:r>
                      <a:rPr kumimoji="0" lang="en-US" altLang="zh-CN" sz="1800" i="1" kern="1200" cap="none" spc="0" normalizeH="0" baseline="0" noProof="0" smtClean="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m:t>𝜆</m:t>
                    </m:r>
                  </m:oMath>
                </a14:m>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1</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endPar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endPar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lang="en-US" altLang="zh-CN" sz="18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min</a:t>
                </a:r>
                <a:r>
                  <a:rPr lang="en-US" altLang="zh-CN" sz="1800" b="1"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J</a:t>
                </a:r>
                <a:r>
                  <a:rPr lang="en-US" altLang="zh-CN" sz="1800" baseline="-250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14:m>
                  <m:oMath xmlns:m="http://schemas.openxmlformats.org/officeDocument/2006/math">
                    <m:r>
                      <a:rPr lang="en-US" altLang="zh-CN" sz="1800" i="1" smtClean="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m:t>𝜆</m:t>
                    </m:r>
                  </m:oMath>
                </a14:m>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1</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kern="1200" cap="none" spc="0" normalizeH="0" baseline="0" noProof="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kumimoji="0" lang="en-US" altLang="zh-CN" sz="1800" kern="1200" cap="none" spc="0" normalizeH="0" baseline="0" noProof="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b="1" kern="1200" cap="none" spc="0" normalizeH="0" baseline="0" noProof="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kumimoji="0" lang="en-US" altLang="zh-CN" sz="1800" kern="1200" cap="none" spc="0" normalizeH="0" baseline="30000" noProof="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^k</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F</a:t>
                </a:r>
                <a:r>
                  <a:rPr kumimoji="0" lang="en-US" altLang="zh-CN" sz="1800" kern="1200" cap="none" spc="0" normalizeH="0" baseline="30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2</a:t>
                </a:r>
              </a:p>
              <a:p>
                <a:pPr marR="0" algn="ctr" defTabSz="683895" rtl="0" fontAlgn="auto">
                  <a:lnSpc>
                    <a:spcPct val="120000"/>
                  </a:lnSpc>
                  <a:spcBef>
                    <a:spcPts val="0"/>
                  </a:spcBef>
                  <a:spcAft>
                    <a:spcPts val="0"/>
                  </a:spcAft>
                  <a:buClrTx/>
                  <a:buSzTx/>
                  <a:buFontTx/>
                  <a:defRPr/>
                </a:pPr>
                <a:r>
                  <a:rPr lang="en-US" altLang="zh-CN" sz="18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min</a:t>
                </a:r>
                <a:r>
                  <a:rPr lang="en-US" altLang="zh-CN" sz="1800" b="1"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J</a:t>
                </a:r>
                <a:r>
                  <a:rPr lang="en-US" altLang="zh-CN" sz="1800" baseline="-250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aseline="-25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baseline="300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^k</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aseline="-25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F</a:t>
                </a:r>
                <a:r>
                  <a:rPr lang="en-US" altLang="zh-CN" sz="1800" baseline="30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2</a:t>
                </a:r>
              </a:p>
              <a:p>
                <a:pPr marR="0" algn="ctr" defTabSz="683895" rtl="0" fontAlgn="auto">
                  <a:lnSpc>
                    <a:spcPct val="120000"/>
                  </a:lnSpc>
                  <a:spcBef>
                    <a:spcPts val="0"/>
                  </a:spcBef>
                  <a:spcAft>
                    <a:spcPts val="0"/>
                  </a:spcAft>
                  <a:buClrTx/>
                  <a:buSzTx/>
                  <a:buFontTx/>
                  <a:defRPr/>
                </a:pPr>
                <a:endParaRPr lang="en-US" altLang="zh-CN" sz="1800" baseline="30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仅当</a:t>
                </a: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sz="1800" baseline="300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^k</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和</a:t>
                </a: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S</a:t>
                </a:r>
                <a:r>
                  <a:rPr lang="en-US" altLang="zh-CN" sz="1800" baseline="300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^k</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收敛于等式：</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min</a:t>
                </a:r>
                <a:r>
                  <a:rPr kumimoji="0" lang="en-US" altLang="zh-CN" sz="1800" b="1"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J</a:t>
                </a:r>
                <a:r>
                  <a:rPr kumimoji="0" lang="en-US" altLang="zh-CN" sz="1800" kern="1200" cap="none" spc="0" normalizeH="0" baseline="-2500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0</a:t>
                </a:r>
                <a:r>
                  <a:rPr kumimoji="0" lang="en-US" altLang="zh-CN" sz="18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a:solidFill>
                      <a:schemeClr val="bg1"/>
                    </a:solidFill>
                    <a:ea typeface="微软雅黑" panose="020B0503020204020204" pitchFamily="34" charset="-122"/>
                    <a:sym typeface="Arial" panose="020B0604020202020204" pitchFamily="34" charset="0"/>
                  </a:rPr>
                  <a:t> </a:t>
                </a:r>
                <a14:m>
                  <m:oMath xmlns:m="http://schemas.openxmlformats.org/officeDocument/2006/math">
                    <m:f>
                      <m:fPr>
                        <m:ctrlP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ctrlPr>
                      </m:fPr>
                      <m:num>
                        <m: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t>1</m:t>
                        </m:r>
                      </m:num>
                      <m:den>
                        <m: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t>2</m:t>
                        </m:r>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𝜇</m:t>
                        </m:r>
                      </m:den>
                    </m:f>
                  </m:oMath>
                </a14:m>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sz="18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D</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S</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aseline="-25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F</a:t>
                </a:r>
                <a:r>
                  <a:rPr lang="en-US" altLang="zh-CN" sz="1800" baseline="30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sz="1800" baseline="30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时</a:t>
                </a:r>
                <a:endPar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marR="0" algn="ctr" defTabSz="683895" rtl="0" fontAlgn="auto">
                  <a:lnSpc>
                    <a:spcPct val="120000"/>
                  </a:lnSpc>
                  <a:spcBef>
                    <a:spcPts val="0"/>
                  </a:spcBef>
                  <a:spcAft>
                    <a:spcPts val="0"/>
                  </a:spcAft>
                  <a:buClrTx/>
                  <a:buSzTx/>
                  <a:buFontTx/>
                  <a:defRPr/>
                </a:pPr>
                <a:endParaRPr lang="en-US" altLang="zh-CN" sz="1800" baseline="30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marR="0" algn="ctr" defTabSz="683895" rtl="0" fontAlgn="auto">
                  <a:lnSpc>
                    <a:spcPct val="120000"/>
                  </a:lnSpc>
                  <a:spcBef>
                    <a:spcPts val="0"/>
                  </a:spcBef>
                  <a:spcAft>
                    <a:spcPts val="0"/>
                  </a:spcAft>
                  <a:buClrTx/>
                  <a:buSzTx/>
                  <a:buFontTx/>
                  <a:defRPr/>
                </a:pPr>
                <a:r>
                  <a:rPr lang="en-US" altLang="zh-CN" sz="1800" b="1"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lang="en-US" altLang="zh-CN" sz="1800" baseline="300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^k</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lang="en-US" altLang="zh-CN" sz="1800" baseline="300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k</a:t>
                </a:r>
                <a:r>
                  <a:rPr lang="en-US" altLang="zh-CN" sz="1800" baseline="30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a:solidFill>
                      <a:schemeClr val="bg1"/>
                    </a:solidFill>
                    <a:ea typeface="微软雅黑" panose="020B0503020204020204" pitchFamily="34" charset="-122"/>
                    <a:sym typeface="Arial" panose="020B0604020202020204" pitchFamily="34" charset="0"/>
                  </a:rPr>
                  <a:t> </a:t>
                </a:r>
                <a14:m>
                  <m:oMath xmlns:m="http://schemas.openxmlformats.org/officeDocument/2006/math">
                    <m:f>
                      <m:fPr>
                        <m:ctrlP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ctrlPr>
                      </m:fPr>
                      <m:num>
                        <m: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t>1</m:t>
                        </m:r>
                      </m:num>
                      <m:den>
                        <m: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t>2</m:t>
                        </m:r>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𝜇</m:t>
                        </m:r>
                      </m:den>
                    </m:f>
                  </m:oMath>
                </a14:m>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sz="1800" baseline="300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k</a:t>
                </a:r>
                <a:r>
                  <a:rPr lang="en-US" altLang="zh-CN" sz="18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S</a:t>
                </a:r>
                <a:r>
                  <a:rPr lang="en-US" altLang="zh-CN" sz="1800" baseline="300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k</a:t>
                </a:r>
                <a:r>
                  <a:rPr lang="en-US" altLang="zh-CN" sz="18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D</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p>
              <a:p>
                <a:pPr algn="ctr" defTabSz="683895" rtl="0" fontAlgn="auto">
                  <a:lnSpc>
                    <a:spcPct val="120000"/>
                  </a:lnSpc>
                  <a:spcBef>
                    <a:spcPts val="0"/>
                  </a:spcBef>
                  <a:spcAft>
                    <a:spcPts val="0"/>
                  </a:spcAft>
                  <a:defRPr/>
                </a:pP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sz="1800" baseline="300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^k</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sz="1800" baseline="30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k </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dirty="0">
                    <a:solidFill>
                      <a:schemeClr val="bg1"/>
                    </a:solidFill>
                    <a:ea typeface="微软雅黑" panose="020B0503020204020204" pitchFamily="34" charset="-122"/>
                    <a:sym typeface="Arial" panose="020B0604020202020204" pitchFamily="34" charset="0"/>
                  </a:rPr>
                  <a:t> </a:t>
                </a:r>
                <a14:m>
                  <m:oMath xmlns:m="http://schemas.openxmlformats.org/officeDocument/2006/math">
                    <m:f>
                      <m:fPr>
                        <m:ctrlP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ctrlPr>
                      </m:fPr>
                      <m:num>
                        <m: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t>1</m:t>
                        </m:r>
                      </m:num>
                      <m:den>
                        <m:r>
                          <a:rPr lang="en-US" altLang="zh-CN" sz="1800" i="1">
                            <a:solidFill>
                              <a:schemeClr val="bg1"/>
                            </a:solidFill>
                            <a:latin typeface="Cambria Math" panose="02040503050406030204" pitchFamily="18" charset="0"/>
                            <a:ea typeface="微软雅黑" panose="020B0503020204020204" pitchFamily="34" charset="-122"/>
                            <a:sym typeface="Arial" panose="020B0604020202020204" pitchFamily="34" charset="0"/>
                          </a:rPr>
                          <m:t>2</m:t>
                        </m:r>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𝜇</m:t>
                        </m:r>
                      </m:den>
                    </m:f>
                  </m:oMath>
                </a14:m>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L</a:t>
                </a:r>
                <a:r>
                  <a:rPr lang="en-US" altLang="zh-CN" sz="1800" baseline="300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k</a:t>
                </a:r>
                <a:r>
                  <a:rPr lang="en-US" altLang="zh-CN" sz="18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S</a:t>
                </a:r>
                <a:r>
                  <a:rPr lang="en-US" altLang="zh-CN" sz="1800" baseline="300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k</a:t>
                </a:r>
                <a:r>
                  <a:rPr lang="en-US" altLang="zh-CN" sz="1800"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800" b="1" dirty="0" err="1">
                    <a:solidFill>
                      <a:schemeClr val="bg1"/>
                    </a:solidFill>
                    <a:latin typeface="微软雅黑" panose="020B0503020204020204" pitchFamily="34" charset="-122"/>
                    <a:ea typeface="微软雅黑" panose="020B0503020204020204" pitchFamily="34" charset="-122"/>
                    <a:sym typeface="Arial" panose="020B0604020202020204" pitchFamily="34" charset="0"/>
                  </a:rPr>
                  <a:t>D</a:t>
                </a:r>
                <a:r>
                  <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a:t>
                </a:r>
              </a:p>
              <a:p>
                <a:pPr marR="0" algn="ctr" defTabSz="683895" rtl="0" fontAlgn="auto">
                  <a:lnSpc>
                    <a:spcPct val="120000"/>
                  </a:lnSpc>
                  <a:spcBef>
                    <a:spcPts val="0"/>
                  </a:spcBef>
                  <a:spcAft>
                    <a:spcPts val="0"/>
                  </a:spcAft>
                  <a:buClrTx/>
                  <a:buSzTx/>
                  <a:buFontTx/>
                  <a:defRPr/>
                </a:pPr>
                <a:endParaRPr lang="en-US" altLang="zh-CN" sz="18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mc:Choice>
        <mc:Fallback xmlns="">
          <p:sp>
            <p:nvSpPr>
              <p:cNvPr id="5" name="TextBox 12"/>
              <p:cNvSpPr txBox="1">
                <a:spLocks noRot="1" noChangeAspect="1" noMove="1" noResize="1" noEditPoints="1" noAdjustHandles="1" noChangeArrowheads="1" noChangeShapeType="1" noTextEdit="1"/>
              </p:cNvSpPr>
              <p:nvPr/>
            </p:nvSpPr>
            <p:spPr>
              <a:xfrm>
                <a:off x="0" y="779462"/>
                <a:ext cx="9144000" cy="4093493"/>
              </a:xfrm>
              <a:prstGeom prst="rect">
                <a:avLst/>
              </a:prstGeom>
              <a:blipFill>
                <a:blip r:embed="rId3"/>
                <a:stretch>
                  <a:fillRect/>
                </a:stretch>
              </a:blipFill>
            </p:spPr>
            <p:txBody>
              <a:bodyPr/>
              <a:lstStyle/>
              <a:p>
                <a:r>
                  <a:rPr lang="zh-CN" altLang="en-US">
                    <a:noFill/>
                  </a:rPr>
                  <a:t> </a:t>
                </a:r>
              </a:p>
            </p:txBody>
          </p:sp>
        </mc:Fallback>
      </mc:AlternateContent>
      <p:pic>
        <p:nvPicPr>
          <p:cNvPr id="43034" name="图片 27"/>
          <p:cNvPicPr>
            <a:picLocks noChangeAspect="1"/>
          </p:cNvPicPr>
          <p:nvPr/>
        </p:nvPicPr>
        <p:blipFill>
          <a:blip r:embed="rId4" cstate="print"/>
          <a:stretch>
            <a:fillRect/>
          </a:stretch>
        </p:blipFill>
        <p:spPr>
          <a:xfrm>
            <a:off x="311150" y="277813"/>
            <a:ext cx="331788" cy="414337"/>
          </a:xfrm>
          <a:prstGeom prst="rect">
            <a:avLst/>
          </a:prstGeom>
          <a:noFill/>
          <a:ln w="9525">
            <a:noFill/>
          </a:ln>
        </p:spPr>
      </p:pic>
      <p:sp>
        <p:nvSpPr>
          <p:cNvPr id="29" name="文本框 28"/>
          <p:cNvSpPr txBox="1"/>
          <p:nvPr/>
        </p:nvSpPr>
        <p:spPr>
          <a:xfrm>
            <a:off x="411162" y="365125"/>
            <a:ext cx="2039055" cy="338554"/>
          </a:xfrm>
          <a:prstGeom prst="rect">
            <a:avLst/>
          </a:prstGeom>
          <a:noFill/>
        </p:spPr>
        <p:txBody>
          <a:bodyPr wrap="square">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方法原理</a:t>
            </a:r>
            <a:endParaRPr kumimoji="0" lang="zh-CN" altLang="en-US" sz="1600" kern="1200" cap="none" spc="0" normalizeH="0" baseline="0" noProof="0" dirty="0">
              <a:solidFill>
                <a:schemeClr val="bg1">
                  <a:lumMod val="95000"/>
                </a:schemeClr>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774141530"/>
      </p:ext>
    </p:extLst>
  </p:cSld>
  <p:clrMapOvr>
    <a:masterClrMapping/>
  </p:clrMapOvr>
  <p:transition spd="slow" advClick="0" advTm="0">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12"/>
              <p:cNvSpPr txBox="1"/>
              <p:nvPr/>
            </p:nvSpPr>
            <p:spPr>
              <a:xfrm>
                <a:off x="982494" y="790991"/>
                <a:ext cx="7023369" cy="4757136"/>
              </a:xfrm>
              <a:prstGeom prst="rect">
                <a:avLst/>
              </a:prstGeom>
              <a:noFill/>
            </p:spPr>
            <p:txBody>
              <a:bodyPr wrap="square">
                <a:spAutoFit/>
              </a:bodyPr>
              <a:lstStyle/>
              <a:p>
                <a:pPr marR="0" defTabSz="683895" rtl="0" fontAlgn="auto">
                  <a:lnSpc>
                    <a:spcPct val="120000"/>
                  </a:lnSpc>
                  <a:spcBef>
                    <a:spcPts val="0"/>
                  </a:spcBef>
                  <a:spcAft>
                    <a:spcPts val="0"/>
                  </a:spcAft>
                  <a:buClrTx/>
                  <a:buSzTx/>
                  <a:buFontTx/>
                  <a:defRPr/>
                </a:pPr>
                <a:r>
                  <a:rPr lang="en-US" altLang="zh-CN" sz="2400" b="1" dirty="0" smtClean="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RPCA</a:t>
                </a:r>
                <a:r>
                  <a:rPr lang="zh-CN" altLang="en-US" sz="24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去噪</a:t>
                </a:r>
                <a:endParaRPr lang="en-US" altLang="zh-CN" sz="24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endPar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r>
                  <a:rPr lang="zh-CN" altLang="en-US"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输入</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p>
              <a:p>
                <a:pPr marR="0" defTabSz="683895" rtl="0" fontAlgn="auto">
                  <a:lnSpc>
                    <a:spcPct val="120000"/>
                  </a:lnSpc>
                  <a:spcBef>
                    <a:spcPts val="0"/>
                  </a:spcBef>
                  <a:spcAft>
                    <a:spcPts val="0"/>
                  </a:spcAft>
                  <a:buClrTx/>
                  <a:buSzTx/>
                  <a:buFontTx/>
                  <a:defRPr/>
                </a:pP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3D seismic volume </a:t>
                </a:r>
                <a:r>
                  <a:rPr lang="en-US" altLang="zh-CN" sz="1800" dirty="0">
                    <a:solidFill>
                      <a:schemeClr val="bg1"/>
                    </a:solidFill>
                    <a:latin typeface="微软雅黑" panose="020B0503020204020204" pitchFamily="34" charset="-122"/>
                    <a:ea typeface="微软雅黑" panose="020B0503020204020204" pitchFamily="34" charset="-122"/>
                    <a:cs typeface="Apple Chancery" panose="03020702040506060504" pitchFamily="66" charset="-79"/>
                    <a:sym typeface="Arial" panose="020B0604020202020204" pitchFamily="34" charset="0"/>
                  </a:rPr>
                  <a:t>D</a:t>
                </a:r>
                <a:endParaRPr lang="en-US" altLang="zh-CN" sz="1800" dirty="0">
                  <a:solidFill>
                    <a:schemeClr val="bg1"/>
                  </a:solidFill>
                  <a:latin typeface="Apple Chancery" panose="03020702040506060504" pitchFamily="66" charset="-79"/>
                  <a:ea typeface="微软雅黑" panose="020B0503020204020204" pitchFamily="34" charset="-122"/>
                  <a:cs typeface="Apple Chancery" panose="03020702040506060504" pitchFamily="66" charset="-79"/>
                  <a:sym typeface="Arial" panose="020B0604020202020204" pitchFamily="34" charset="0"/>
                </a:endParaRPr>
              </a:p>
              <a:p>
                <a:pPr marR="0" defTabSz="683895" rtl="0" fontAlgn="auto">
                  <a:lnSpc>
                    <a:spcPct val="120000"/>
                  </a:lnSpc>
                  <a:spcBef>
                    <a:spcPts val="0"/>
                  </a:spcBef>
                  <a:spcAft>
                    <a:spcPts val="0"/>
                  </a:spcAft>
                  <a:buClrTx/>
                  <a:buSzTx/>
                  <a:buFontTx/>
                  <a:defRPr/>
                </a:pP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trade-off parameter </a:t>
                </a:r>
                <a14:m>
                  <m:oMath xmlns:m="http://schemas.openxmlformats.org/officeDocument/2006/math">
                    <m:r>
                      <a:rPr lang="en-US" altLang="zh-CN" sz="1800" i="1" smtClean="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m:t>𝜆</m:t>
                    </m:r>
                  </m:oMath>
                </a14:m>
                <a:endParaRPr lang="en-US" altLang="zh-CN" sz="1800" dirty="0">
                  <a:solidFill>
                    <a:schemeClr val="bg1"/>
                  </a:solidFill>
                  <a:latin typeface="微软雅黑" panose="020B0503020204020204" pitchFamily="34" charset="-122"/>
                  <a:ea typeface="Cambria Math" panose="02040503050406030204" pitchFamily="18" charset="0"/>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Apple Chancery" panose="03020702040506060504" pitchFamily="66" charset="-79"/>
                    <a:ea typeface="微软雅黑" panose="020B0503020204020204" pitchFamily="34" charset="-122"/>
                    <a:cs typeface="Apple Chancery" panose="03020702040506060504" pitchFamily="66" charset="-79"/>
                    <a:sym typeface="Arial" panose="020B0604020202020204" pitchFamily="34" charset="0"/>
                  </a:rPr>
                  <a:t>D </a:t>
                </a:r>
                <a:r>
                  <a:rPr lang="en-US" altLang="zh-CN" sz="1800" dirty="0" smtClean="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14:m>
                  <m:oMath xmlns:m="http://schemas.openxmlformats.org/officeDocument/2006/math">
                    <m:r>
                      <a:rPr lang="en-US" altLang="zh-CN" sz="1800" b="1">
                        <a:solidFill>
                          <a:schemeClr val="bg1"/>
                        </a:solidFill>
                        <a:latin typeface="Cambria Math" panose="02040503050406030204" pitchFamily="18" charset="0"/>
                        <a:ea typeface="微软雅黑" panose="020B0503020204020204" pitchFamily="34" charset="-122"/>
                        <a:cs typeface="Apple Chancery" panose="03020702040506060504" pitchFamily="66" charset="-79"/>
                        <a:sym typeface="Arial" panose="020B0604020202020204" pitchFamily="34" charset="0"/>
                      </a:rPr>
                      <m:t>𝜔</m:t>
                    </m:r>
                  </m:oMath>
                </a14:m>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y,z</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14:m>
                  <m:oMath xmlns:m="http://schemas.openxmlformats.org/officeDocument/2006/math">
                    <m:r>
                      <a:rPr lang="en-US" altLang="zh-CN" sz="1800" i="1" smtClean="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m:t>←</m:t>
                    </m:r>
                    <m:r>
                      <m:rPr>
                        <m:sty m:val="p"/>
                      </m:rPr>
                      <a:rPr lang="en-US" altLang="zh-CN" sz="1800" b="0" i="0" smtClean="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m:t>D</m:t>
                    </m:r>
                  </m:oMath>
                </a14:m>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t,x,y</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(FFT)</a:t>
                </a:r>
              </a:p>
              <a:p>
                <a:pPr marR="0" defTabSz="683895" rtl="0" fontAlgn="auto">
                  <a:lnSpc>
                    <a:spcPct val="120000"/>
                  </a:lnSpc>
                  <a:spcBef>
                    <a:spcPts val="0"/>
                  </a:spcBef>
                  <a:spcAft>
                    <a:spcPts val="0"/>
                  </a:spcAft>
                  <a:buClrTx/>
                  <a:buSzTx/>
                  <a:buFontTx/>
                  <a:defRPr/>
                </a:pP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for</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14:m>
                  <m:oMath xmlns:m="http://schemas.openxmlformats.org/officeDocument/2006/math">
                    <m:r>
                      <a:rPr lang="en-US" altLang="zh-CN" sz="1800" i="1" smtClean="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m:t>𝜔</m:t>
                    </m:r>
                  </m:oMath>
                </a14:m>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a:solidFill>
                      <a:schemeClr val="bg1"/>
                    </a:solidFill>
                    <a:ea typeface="Cambria Math" panose="02040503050406030204" pitchFamily="18" charset="0"/>
                    <a:sym typeface="Arial" panose="020B0604020202020204" pitchFamily="34" charset="0"/>
                  </a:rPr>
                  <a:t> </a:t>
                </a:r>
                <a14:m>
                  <m:oMath xmlns:m="http://schemas.openxmlformats.org/officeDocument/2006/math">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𝜔</m:t>
                    </m:r>
                  </m:oMath>
                </a14:m>
                <a:r>
                  <a:rPr lang="en-US" altLang="zh-CN" sz="1800" baseline="-25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min</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a:solidFill>
                      <a:schemeClr val="bg1"/>
                    </a:solidFill>
                    <a:ea typeface="Cambria Math" panose="02040503050406030204" pitchFamily="18" charset="0"/>
                    <a:sym typeface="Arial" panose="020B0604020202020204" pitchFamily="34" charset="0"/>
                  </a:rPr>
                  <a:t> </a:t>
                </a:r>
                <a14:m>
                  <m:oMath xmlns:m="http://schemas.openxmlformats.org/officeDocument/2006/math">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𝜔</m:t>
                    </m:r>
                  </m:oMath>
                </a14:m>
                <a:r>
                  <a:rPr lang="en-US" altLang="zh-CN" sz="1800" baseline="-250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max</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do</a:t>
                </a:r>
              </a:p>
              <a:p>
                <a:pPr defTabSz="683895" rtl="0" fontAlgn="auto">
                  <a:lnSpc>
                    <a:spcPct val="120000"/>
                  </a:lnSpc>
                  <a:spcBef>
                    <a:spcPts val="0"/>
                  </a:spcBef>
                  <a:spcAft>
                    <a:spcPts val="0"/>
                  </a:spcAft>
                  <a:defRPr/>
                </a:pP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D</a:t>
                </a:r>
                <a:r>
                  <a:rPr lang="en-US" altLang="zh-CN" sz="1800" dirty="0">
                    <a:solidFill>
                      <a:schemeClr val="bg1"/>
                    </a:solidFill>
                    <a:ea typeface="Cambria Math" panose="02040503050406030204" pitchFamily="18" charset="0"/>
                    <a:sym typeface="Arial" panose="020B0604020202020204" pitchFamily="34" charset="0"/>
                  </a:rPr>
                  <a:t> </a:t>
                </a:r>
                <a14:m>
                  <m:oMath xmlns:m="http://schemas.openxmlformats.org/officeDocument/2006/math">
                    <m:r>
                      <a:rPr lang="en-US" altLang="zh-CN" sz="1800" b="1" baseline="-25000">
                        <a:solidFill>
                          <a:schemeClr val="bg1"/>
                        </a:solidFill>
                        <a:latin typeface="Cambria Math" panose="02040503050406030204" pitchFamily="18" charset="0"/>
                        <a:ea typeface="微软雅黑" panose="020B0503020204020204" pitchFamily="34" charset="-122"/>
                        <a:cs typeface="Apple Chancery" panose="03020702040506060504" pitchFamily="66" charset="-79"/>
                        <a:sym typeface="Arial" panose="020B0604020202020204" pitchFamily="34" charset="0"/>
                      </a:rPr>
                      <m:t>𝜔</m:t>
                    </m:r>
                    <m:r>
                      <a:rPr lang="en-US" altLang="zh-CN" sz="1800" b="1">
                        <a:solidFill>
                          <a:schemeClr val="bg1"/>
                        </a:solidFill>
                        <a:latin typeface="Cambria Math" panose="02040503050406030204" pitchFamily="18" charset="0"/>
                        <a:ea typeface="微软雅黑" panose="020B0503020204020204" pitchFamily="34" charset="-122"/>
                        <a:cs typeface="Apple Chancery" panose="03020702040506060504" pitchFamily="66" charset="-79"/>
                        <a:sym typeface="Arial" panose="020B0604020202020204" pitchFamily="34" charset="0"/>
                      </a:rPr>
                      <m:t>←</m:t>
                    </m:r>
                    <m:r>
                      <m:rPr>
                        <m:nor/>
                      </m:rPr>
                      <a:rPr lang="en-US" altLang="zh-CN" sz="1800" dirty="0">
                        <a:solidFill>
                          <a:schemeClr val="bg1"/>
                        </a:solidFill>
                        <a:latin typeface="Apple Chancery" panose="03020702040506060504" pitchFamily="66" charset="-79"/>
                        <a:ea typeface="微软雅黑" panose="020B0503020204020204" pitchFamily="34" charset="-122"/>
                        <a:cs typeface="Apple Chancery" panose="03020702040506060504" pitchFamily="66" charset="-79"/>
                        <a:sym typeface="Arial" panose="020B0604020202020204" pitchFamily="34" charset="0"/>
                      </a:rPr>
                      <m:t>D</m:t>
                    </m:r>
                    <m:r>
                      <a:rPr lang="en-US" altLang="zh-CN" sz="1800" b="1">
                        <a:solidFill>
                          <a:schemeClr val="bg1"/>
                        </a:solidFill>
                        <a:latin typeface="Cambria Math" panose="02040503050406030204" pitchFamily="18" charset="0"/>
                        <a:ea typeface="微软雅黑" panose="020B0503020204020204" pitchFamily="34" charset="-122"/>
                        <a:cs typeface="Apple Chancery" panose="03020702040506060504" pitchFamily="66" charset="-79"/>
                        <a:sym typeface="Arial" panose="020B0604020202020204" pitchFamily="34" charset="0"/>
                      </a:rPr>
                      <m:t>(</m:t>
                    </m:r>
                    <m:r>
                      <a:rPr lang="en-US" altLang="zh-CN" sz="1800" b="1">
                        <a:solidFill>
                          <a:schemeClr val="bg1"/>
                        </a:solidFill>
                        <a:latin typeface="Cambria Math" panose="02040503050406030204" pitchFamily="18" charset="0"/>
                        <a:ea typeface="微软雅黑" panose="020B0503020204020204" pitchFamily="34" charset="-122"/>
                        <a:cs typeface="Apple Chancery" panose="03020702040506060504" pitchFamily="66" charset="-79"/>
                        <a:sym typeface="Arial" panose="020B0604020202020204" pitchFamily="34" charset="0"/>
                      </a:rPr>
                      <m:t>𝜔</m:t>
                    </m:r>
                    <m:r>
                      <a:rPr lang="en-US" altLang="zh-CN" sz="1800" b="1">
                        <a:solidFill>
                          <a:schemeClr val="bg1"/>
                        </a:solidFill>
                        <a:latin typeface="Cambria Math" panose="02040503050406030204" pitchFamily="18" charset="0"/>
                        <a:ea typeface="微软雅黑" panose="020B0503020204020204" pitchFamily="34" charset="-122"/>
                        <a:cs typeface="Apple Chancery" panose="03020702040506060504" pitchFamily="66" charset="-79"/>
                        <a:sym typeface="Arial" panose="020B0604020202020204" pitchFamily="34" charset="0"/>
                      </a:rPr>
                      <m:t>,:,:)</m:t>
                    </m:r>
                  </m:oMath>
                </a14:m>
                <a:endParaRPr lang="en-US" altLang="zh-CN" sz="1800" b="1" dirty="0">
                  <a:solidFill>
                    <a:schemeClr val="bg1"/>
                  </a:solidFill>
                  <a:latin typeface="Apple Chancery" panose="03020702040506060504" pitchFamily="66" charset="-79"/>
                  <a:ea typeface="微软雅黑" panose="020B0503020204020204" pitchFamily="34" charset="-122"/>
                  <a:cs typeface="Apple Chancery" panose="03020702040506060504" pitchFamily="66" charset="-79"/>
                  <a:sym typeface="Arial" panose="020B0604020202020204" pitchFamily="34" charset="0"/>
                </a:endParaRPr>
              </a:p>
              <a:p>
                <a:pPr marR="0" defTabSz="683895" rtl="0" fontAlgn="auto">
                  <a:lnSpc>
                    <a:spcPct val="120000"/>
                  </a:lnSpc>
                  <a:spcBef>
                    <a:spcPts val="0"/>
                  </a:spcBef>
                  <a:spcAft>
                    <a:spcPts val="0"/>
                  </a:spcAft>
                  <a:buClrTx/>
                  <a:buSzTx/>
                  <a:buFontTx/>
                  <a:defRPr/>
                </a:pP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L</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S</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]=RPCA[</a:t>
                </a:r>
                <a:r>
                  <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D</a:t>
                </a:r>
                <a:r>
                  <a:rPr lang="en-US" altLang="zh-CN" sz="1800" dirty="0">
                    <a:solidFill>
                      <a:schemeClr val="bg1"/>
                    </a:solidFill>
                    <a:ea typeface="Cambria Math" panose="02040503050406030204" pitchFamily="18" charset="0"/>
                    <a:sym typeface="Arial" panose="020B0604020202020204" pitchFamily="34" charset="0"/>
                  </a:rPr>
                  <a:t> </a:t>
                </a:r>
                <a14:m>
                  <m:oMath xmlns:m="http://schemas.openxmlformats.org/officeDocument/2006/math">
                    <m:r>
                      <a:rPr lang="en-US" altLang="zh-CN" sz="1800" i="1" baseline="-25000">
                        <a:solidFill>
                          <a:schemeClr val="bg1"/>
                        </a:solidFill>
                        <a:latin typeface="Cambria Math" panose="02040503050406030204" pitchFamily="18" charset="0"/>
                        <a:ea typeface="Cambria Math" panose="02040503050406030204" pitchFamily="18" charset="0"/>
                        <a:sym typeface="Arial" panose="020B0604020202020204" pitchFamily="34" charset="0"/>
                      </a:rPr>
                      <m:t>𝜔</m:t>
                    </m:r>
                  </m:oMath>
                </a14:m>
                <a:r>
                  <a:rPr lang="en-US" altLang="zh-CN" sz="1800" baseline="-25000" dirty="0">
                    <a:solidFill>
                      <a:schemeClr val="bg1"/>
                    </a:solidFill>
                    <a:ea typeface="Cambria Math" panose="02040503050406030204" pitchFamily="18" charset="0"/>
                    <a:sym typeface="Arial" panose="020B0604020202020204" pitchFamily="34" charset="0"/>
                  </a:rPr>
                  <a:t> </a:t>
                </a:r>
                <a:r>
                  <a:rPr lang="en-US" altLang="zh-CN" sz="1800" dirty="0">
                    <a:solidFill>
                      <a:schemeClr val="bg1"/>
                    </a:solidFill>
                    <a:ea typeface="Cambria Math" panose="02040503050406030204" pitchFamily="18" charset="0"/>
                    <a:sym typeface="Arial" panose="020B0604020202020204" pitchFamily="34" charset="0"/>
                  </a:rPr>
                  <a:t>]                         </a:t>
                </a:r>
                <a:r>
                  <a:rPr lang="en-US" altLang="zh-CN" sz="1800" dirty="0">
                    <a:solidFill>
                      <a:schemeClr val="bg1"/>
                    </a:solidFill>
                    <a:ea typeface="Cambria Math" panose="02040503050406030204" pitchFamily="18" charset="0"/>
                    <a:cs typeface="+mn-cs"/>
                    <a:sym typeface="Arial" panose="020B0604020202020204" pitchFamily="34" charset="0"/>
                  </a:rPr>
                  <a:t>(Algorithm 1)</a:t>
                </a:r>
              </a:p>
              <a:p>
                <a:pPr defTabSz="683895" rtl="0" fontAlgn="auto">
                  <a:lnSpc>
                    <a:spcPct val="120000"/>
                  </a:lnSpc>
                  <a:spcBef>
                    <a:spcPts val="0"/>
                  </a:spcBef>
                  <a:spcAft>
                    <a:spcPts val="0"/>
                  </a:spcAft>
                  <a:defRPr/>
                </a:pPr>
                <a:r>
                  <a:rPr lang="en-US" altLang="zh-CN" sz="1800" b="1" dirty="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a:t>	</a:t>
                </a:r>
                <a:r>
                  <a:rPr lang="zh-CN" altLang="en-US" sz="1800" b="1" dirty="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a:t>             </a:t>
                </a:r>
                <a:r>
                  <a:rPr lang="en-US" altLang="zh-CN" sz="1800" dirty="0">
                    <a:solidFill>
                      <a:schemeClr val="bg1"/>
                    </a:solidFill>
                    <a:latin typeface="Wawati TC" pitchFamily="82" charset="-120"/>
                    <a:ea typeface="Wawati TC" pitchFamily="82" charset="-120"/>
                    <a:cs typeface="+mn-cs"/>
                    <a:sym typeface="Arial" panose="020B0604020202020204" pitchFamily="34" charset="0"/>
                  </a:rPr>
                  <a:t>D</a:t>
                </a:r>
                <a:r>
                  <a:rPr lang="en-US" altLang="zh-CN" sz="1800" dirty="0">
                    <a:solidFill>
                      <a:schemeClr val="bg1"/>
                    </a:solidFill>
                    <a:latin typeface="Cambria Math" panose="02040503050406030204" pitchFamily="18" charset="0"/>
                    <a:ea typeface="Cambria Math" panose="02040503050406030204" pitchFamily="18" charset="0"/>
                    <a:cs typeface="+mn-cs"/>
                    <a:sym typeface="Arial" panose="020B0604020202020204" pitchFamily="34" charset="0"/>
                  </a:rPr>
                  <a:t>(</a:t>
                </a:r>
                <a14:m>
                  <m:oMath xmlns:m="http://schemas.openxmlformats.org/officeDocument/2006/math">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𝜔</m:t>
                    </m:r>
                  </m:oMath>
                </a14:m>
                <a:r>
                  <a:rPr lang="en-US" altLang="zh-CN" sz="1800" dirty="0" smtClean="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smtClean="0">
                    <a:solidFill>
                      <a:schemeClr val="bg1"/>
                    </a:solidFill>
                    <a:latin typeface="微软雅黑" panose="020B0503020204020204" pitchFamily="34" charset="-122"/>
                    <a:ea typeface="微软雅黑" panose="020B0503020204020204" pitchFamily="34" charset="-122"/>
                    <a:cs typeface="+mn-cs"/>
                    <a:sym typeface="Wingdings" pitchFamily="2" charset="2"/>
                  </a:rPr>
                  <a:t>)</a:t>
                </a:r>
                <a:r>
                  <a:rPr lang="en-US" altLang="zh-CN" sz="1800" dirty="0" smtClean="0">
                    <a:solidFill>
                      <a:schemeClr val="bg1"/>
                    </a:solidFill>
                    <a:ea typeface="Cambria Math" panose="02040503050406030204" pitchFamily="18" charset="0"/>
                    <a:sym typeface="Arial" panose="020B0604020202020204" pitchFamily="34" charset="0"/>
                  </a:rPr>
                  <a:t> </a:t>
                </a:r>
                <a14:m>
                  <m:oMath xmlns:m="http://schemas.openxmlformats.org/officeDocument/2006/math">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m:t>
                    </m:r>
                  </m:oMath>
                </a14:m>
                <a:r>
                  <a:rPr lang="en-US" altLang="zh-CN" sz="1800" b="1" dirty="0">
                    <a:solidFill>
                      <a:schemeClr val="bg1"/>
                    </a:solidFill>
                    <a:latin typeface="微软雅黑" panose="020B0503020204020204" pitchFamily="34" charset="-122"/>
                    <a:ea typeface="微软雅黑" panose="020B0503020204020204" pitchFamily="34" charset="-122"/>
                    <a:cs typeface="+mn-cs"/>
                    <a:sym typeface="Wingdings" pitchFamily="2" charset="2"/>
                  </a:rPr>
                  <a:t>L</a:t>
                </a:r>
              </a:p>
              <a:p>
                <a:pPr marR="0" defTabSz="683895" rtl="0" fontAlgn="auto">
                  <a:lnSpc>
                    <a:spcPct val="120000"/>
                  </a:lnSpc>
                  <a:spcBef>
                    <a:spcPts val="0"/>
                  </a:spcBef>
                  <a:spcAft>
                    <a:spcPts val="0"/>
                  </a:spcAft>
                  <a:buClrTx/>
                  <a:buSzTx/>
                  <a:buFontTx/>
                  <a:defRPr/>
                </a:pPr>
                <a:r>
                  <a:rPr lang="en-US" altLang="zh-CN" sz="1800" b="1" dirty="0">
                    <a:solidFill>
                      <a:schemeClr val="bg1"/>
                    </a:solidFill>
                    <a:latin typeface="微软雅黑" panose="020B0503020204020204" pitchFamily="34" charset="-122"/>
                    <a:ea typeface="微软雅黑" panose="020B0503020204020204" pitchFamily="34" charset="-122"/>
                    <a:cs typeface="+mn-cs"/>
                    <a:sym typeface="Wingdings" pitchFamily="2" charset="2"/>
                  </a:rPr>
                  <a:t>      </a:t>
                </a:r>
                <a:r>
                  <a:rPr lang="zh-CN" altLang="en-US" sz="1800" b="1" dirty="0">
                    <a:solidFill>
                      <a:schemeClr val="bg1"/>
                    </a:solidFill>
                    <a:latin typeface="微软雅黑" panose="020B0503020204020204" pitchFamily="34" charset="-122"/>
                    <a:ea typeface="微软雅黑" panose="020B0503020204020204" pitchFamily="34" charset="-122"/>
                    <a:cs typeface="+mn-cs"/>
                    <a:sym typeface="Wingdings" pitchFamily="2" charset="2"/>
                  </a:rPr>
                  <a:t>          </a:t>
                </a:r>
                <a:r>
                  <a:rPr lang="en-US" altLang="zh-CN" sz="1800" b="1" dirty="0">
                    <a:solidFill>
                      <a:schemeClr val="bg1"/>
                    </a:solidFill>
                    <a:latin typeface="微软雅黑" panose="020B0503020204020204" pitchFamily="34" charset="-122"/>
                    <a:ea typeface="微软雅黑" panose="020B0503020204020204" pitchFamily="34" charset="-122"/>
                    <a:cs typeface="+mn-cs"/>
                    <a:sym typeface="Wingdings" pitchFamily="2" charset="2"/>
                  </a:rPr>
                  <a:t>end for</a:t>
                </a:r>
              </a:p>
              <a:p>
                <a:pPr marR="0" defTabSz="683895" rtl="0" fontAlgn="auto">
                  <a:lnSpc>
                    <a:spcPct val="120000"/>
                  </a:lnSpc>
                  <a:spcBef>
                    <a:spcPts val="0"/>
                  </a:spcBef>
                  <a:spcAft>
                    <a:spcPts val="0"/>
                  </a:spcAft>
                  <a:buClrTx/>
                  <a:buSzTx/>
                  <a:buFontTx/>
                  <a:defRPr/>
                </a:pPr>
                <a:r>
                  <a:rPr lang="en-US" altLang="zh-CN" sz="1800" b="1" dirty="0">
                    <a:solidFill>
                      <a:schemeClr val="bg1"/>
                    </a:solidFill>
                    <a:latin typeface="微软雅黑" panose="020B0503020204020204" pitchFamily="34" charset="-122"/>
                    <a:ea typeface="微软雅黑" panose="020B0503020204020204" pitchFamily="34" charset="-122"/>
                    <a:cs typeface="+mn-cs"/>
                    <a:sym typeface="Wingdings" pitchFamily="2" charset="2"/>
                  </a:rPr>
                  <a:t>	</a:t>
                </a:r>
                <a:r>
                  <a:rPr lang="zh-CN" altLang="en-US" sz="1800" b="1" dirty="0">
                    <a:solidFill>
                      <a:schemeClr val="bg1"/>
                    </a:solidFill>
                    <a:latin typeface="微软雅黑" panose="020B0503020204020204" pitchFamily="34" charset="-122"/>
                    <a:ea typeface="微软雅黑" panose="020B0503020204020204" pitchFamily="34" charset="-122"/>
                    <a:cs typeface="+mn-cs"/>
                    <a:sym typeface="Wingdings" pitchFamily="2" charset="2"/>
                  </a:rPr>
                  <a:t>          </a:t>
                </a:r>
                <a:r>
                  <a:rPr lang="en-US" altLang="zh-CN" sz="1800" dirty="0">
                    <a:solidFill>
                      <a:schemeClr val="bg1"/>
                    </a:solidFill>
                    <a:latin typeface="Mistral" panose="03090702030407020403" pitchFamily="66" charset="0"/>
                    <a:ea typeface="PilGi" pitchFamily="2" charset="-127"/>
                    <a:cs typeface="+mn-cs"/>
                    <a:sym typeface="Wingdings" pitchFamily="2" charset="2"/>
                  </a:rPr>
                  <a:t>D</a:t>
                </a:r>
                <a:r>
                  <a:rPr lang="en-US" altLang="zh-CN" sz="1800" dirty="0">
                    <a:solidFill>
                      <a:schemeClr val="bg1"/>
                    </a:solidFill>
                    <a:latin typeface="微软雅黑" panose="020B0503020204020204" pitchFamily="34" charset="-122"/>
                    <a:ea typeface="微软雅黑" panose="020B0503020204020204" pitchFamily="34" charset="-122"/>
                    <a:cs typeface="+mn-cs"/>
                    <a:sym typeface="Wingdings" pitchFamily="2" charset="2"/>
                  </a:rPr>
                  <a:t>(</a:t>
                </a:r>
                <a:r>
                  <a:rPr lang="en-US" altLang="zh-CN" sz="1800" dirty="0" err="1">
                    <a:solidFill>
                      <a:schemeClr val="bg1"/>
                    </a:solidFill>
                    <a:latin typeface="微软雅黑" panose="020B0503020204020204" pitchFamily="34" charset="-122"/>
                    <a:ea typeface="微软雅黑" panose="020B0503020204020204" pitchFamily="34" charset="-122"/>
                    <a:cs typeface="+mn-cs"/>
                    <a:sym typeface="Wingdings" pitchFamily="2" charset="2"/>
                  </a:rPr>
                  <a:t>t,x,y</a:t>
                </a:r>
                <a:r>
                  <a:rPr lang="en-US" altLang="zh-CN" sz="1800" dirty="0">
                    <a:solidFill>
                      <a:schemeClr val="bg1"/>
                    </a:solidFill>
                    <a:latin typeface="微软雅黑" panose="020B0503020204020204" pitchFamily="34" charset="-122"/>
                    <a:ea typeface="微软雅黑" panose="020B0503020204020204" pitchFamily="34" charset="-122"/>
                    <a:cs typeface="+mn-cs"/>
                    <a:sym typeface="Wingdings" pitchFamily="2" charset="2"/>
                  </a:rPr>
                  <a:t>)</a:t>
                </a:r>
                <a:r>
                  <a:rPr lang="en-US" altLang="zh-CN" sz="1800" dirty="0">
                    <a:solidFill>
                      <a:schemeClr val="bg1"/>
                    </a:solidFill>
                    <a:latin typeface="Cambria Math" panose="02040503050406030204" pitchFamily="18" charset="0"/>
                    <a:ea typeface="Cambria Math" panose="02040503050406030204" pitchFamily="18" charset="0"/>
                    <a:sym typeface="Arial" panose="020B0604020202020204" pitchFamily="34" charset="0"/>
                  </a:rPr>
                  <a:t> </a:t>
                </a:r>
                <a14:m>
                  <m:oMath xmlns:m="http://schemas.openxmlformats.org/officeDocument/2006/math">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 </m:t>
                    </m:r>
                  </m:oMath>
                </a14:m>
                <a:r>
                  <a:rPr lang="en-US" altLang="zh-CN" sz="1800" dirty="0">
                    <a:solidFill>
                      <a:schemeClr val="bg1"/>
                    </a:solidFill>
                    <a:latin typeface="Wawati TC" pitchFamily="82" charset="-120"/>
                    <a:ea typeface="Wawati TC" pitchFamily="82" charset="-120"/>
                    <a:cs typeface="+mn-cs"/>
                    <a:sym typeface="Wingdings" pitchFamily="2" charset="2"/>
                  </a:rPr>
                  <a:t>D</a:t>
                </a:r>
                <a:r>
                  <a:rPr lang="en-US" altLang="zh-CN" sz="1800" dirty="0">
                    <a:solidFill>
                      <a:schemeClr val="bg1"/>
                    </a:solidFill>
                    <a:latin typeface="微软雅黑" panose="020B0503020204020204" pitchFamily="34" charset="-122"/>
                    <a:ea typeface="微软雅黑" panose="020B0503020204020204" pitchFamily="34" charset="-122"/>
                    <a:cs typeface="+mn-cs"/>
                    <a:sym typeface="Wingdings" pitchFamily="2" charset="2"/>
                  </a:rPr>
                  <a:t>(</a:t>
                </a:r>
                <a14:m>
                  <m:oMath xmlns:m="http://schemas.openxmlformats.org/officeDocument/2006/math">
                    <m:r>
                      <a:rPr lang="en-US" altLang="zh-CN" sz="1800" i="1">
                        <a:solidFill>
                          <a:schemeClr val="bg1"/>
                        </a:solidFill>
                        <a:latin typeface="Cambria Math" panose="02040503050406030204" pitchFamily="18" charset="0"/>
                        <a:ea typeface="Cambria Math" panose="02040503050406030204" pitchFamily="18" charset="0"/>
                        <a:sym typeface="Arial" panose="020B0604020202020204" pitchFamily="34" charset="0"/>
                      </a:rPr>
                      <m:t>𝜔</m:t>
                    </m:r>
                  </m:oMath>
                </a14:m>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lang="en-US" altLang="zh-CN" sz="1800" dirty="0" err="1">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x,y</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zh-CN" altLang="en-US"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a:t>
                </a:r>
                <a:r>
                  <a:rPr lang="en-US" altLang="zh-CN" sz="180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     (IFFT)</a:t>
                </a:r>
                <a:endParaRPr lang="en-US" altLang="zh-CN" sz="1800" b="1"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endParaRPr lang="en-US" altLang="zh-CN" sz="105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endParaRPr lang="en-US" altLang="zh-CN" sz="105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endParaRPr lang="en-US" altLang="zh-CN" sz="105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p:txBody>
          </p:sp>
        </mc:Choice>
        <mc:Fallback>
          <p:sp>
            <p:nvSpPr>
              <p:cNvPr id="5" name="TextBox 12"/>
              <p:cNvSpPr txBox="1">
                <a:spLocks noRot="1" noChangeAspect="1" noMove="1" noResize="1" noEditPoints="1" noAdjustHandles="1" noChangeArrowheads="1" noChangeShapeType="1" noTextEdit="1"/>
              </p:cNvSpPr>
              <p:nvPr/>
            </p:nvSpPr>
            <p:spPr>
              <a:xfrm>
                <a:off x="982494" y="790991"/>
                <a:ext cx="7023369" cy="4757136"/>
              </a:xfrm>
              <a:prstGeom prst="rect">
                <a:avLst/>
              </a:prstGeom>
              <a:blipFill>
                <a:blip r:embed="rId3"/>
                <a:stretch>
                  <a:fillRect l="-1302" t="-256"/>
                </a:stretch>
              </a:blipFill>
            </p:spPr>
            <p:txBody>
              <a:bodyPr/>
              <a:lstStyle/>
              <a:p>
                <a:r>
                  <a:rPr lang="zh-CN" altLang="en-US">
                    <a:noFill/>
                  </a:rPr>
                  <a:t> </a:t>
                </a:r>
              </a:p>
            </p:txBody>
          </p:sp>
        </mc:Fallback>
      </mc:AlternateContent>
      <p:pic>
        <p:nvPicPr>
          <p:cNvPr id="43034" name="图片 27"/>
          <p:cNvPicPr>
            <a:picLocks noChangeAspect="1"/>
          </p:cNvPicPr>
          <p:nvPr/>
        </p:nvPicPr>
        <p:blipFill>
          <a:blip r:embed="rId4" cstate="print"/>
          <a:stretch>
            <a:fillRect/>
          </a:stretch>
        </p:blipFill>
        <p:spPr>
          <a:xfrm>
            <a:off x="311150" y="277813"/>
            <a:ext cx="331788" cy="414337"/>
          </a:xfrm>
          <a:prstGeom prst="rect">
            <a:avLst/>
          </a:prstGeom>
          <a:noFill/>
          <a:ln w="9525">
            <a:noFill/>
          </a:ln>
        </p:spPr>
      </p:pic>
      <p:sp>
        <p:nvSpPr>
          <p:cNvPr id="29" name="文本框 28"/>
          <p:cNvSpPr txBox="1"/>
          <p:nvPr/>
        </p:nvSpPr>
        <p:spPr>
          <a:xfrm>
            <a:off x="411162" y="365125"/>
            <a:ext cx="2039055" cy="338554"/>
          </a:xfrm>
          <a:prstGeom prst="rect">
            <a:avLst/>
          </a:prstGeom>
          <a:noFill/>
        </p:spPr>
        <p:txBody>
          <a:bodyPr wrap="square">
            <a:spAutoFit/>
          </a:bodyPr>
          <a:lstStyle/>
          <a:p>
            <a:pPr rtl="0" fontAlgn="auto">
              <a:spcBef>
                <a:spcPts val="0"/>
              </a:spcBef>
              <a:spcAft>
                <a:spcPts val="0"/>
              </a:spcAft>
              <a:defRPr/>
            </a:pPr>
            <a:r>
              <a:rPr lang="zh-CN" altLang="en-US" sz="1600" dirty="0">
                <a:solidFill>
                  <a:schemeClr val="bg1"/>
                </a:solidFill>
                <a:latin typeface="微软雅黑" panose="020B0503020204020204" pitchFamily="34" charset="-122"/>
                <a:ea typeface="微软雅黑" panose="020B0503020204020204" pitchFamily="34" charset="-122"/>
              </a:rPr>
              <a:t>实现流程</a:t>
            </a:r>
            <a:endParaRPr lang="zh-CN" altLang="en-US" sz="1600" dirty="0">
              <a:solidFill>
                <a:schemeClr val="bg1">
                  <a:lumMod val="9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4488511"/>
      </p:ext>
    </p:extLst>
  </p:cSld>
  <p:clrMapOvr>
    <a:masterClrMapping/>
  </p:clrMapOvr>
  <p:transition spd="slow" advClick="0" advTm="0">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38125" y="296863"/>
            <a:ext cx="1363663" cy="474662"/>
            <a:chOff x="184527" y="297451"/>
            <a:chExt cx="1363137" cy="473415"/>
          </a:xfrm>
        </p:grpSpPr>
        <p:pic>
          <p:nvPicPr>
            <p:cNvPr id="45058" name="图片 1"/>
            <p:cNvPicPr>
              <a:picLocks noChangeAspect="1"/>
            </p:cNvPicPr>
            <p:nvPr/>
          </p:nvPicPr>
          <p:blipFill>
            <a:blip r:embed="rId3" cstate="print"/>
            <a:stretch>
              <a:fillRect/>
            </a:stretch>
          </p:blipFill>
          <p:spPr>
            <a:xfrm flipH="1">
              <a:off x="184527" y="297451"/>
              <a:ext cx="422017" cy="473415"/>
            </a:xfrm>
            <a:prstGeom prst="rect">
              <a:avLst/>
            </a:prstGeom>
            <a:noFill/>
            <a:ln w="9525">
              <a:noFill/>
            </a:ln>
          </p:spPr>
        </p:pic>
        <p:sp>
          <p:nvSpPr>
            <p:cNvPr id="3" name="文本框 2"/>
            <p:cNvSpPr txBox="1"/>
            <p:nvPr/>
          </p:nvSpPr>
          <p:spPr>
            <a:xfrm>
              <a:off x="539990" y="376617"/>
              <a:ext cx="1007674" cy="368915"/>
            </a:xfrm>
            <a:prstGeom prst="rect">
              <a:avLst/>
            </a:prstGeom>
            <a:noFill/>
          </p:spPr>
          <p:txBody>
            <a:bodyPr>
              <a:spAutoFit/>
            </a:bodyPr>
            <a:lstStyle/>
            <a:p>
              <a:pPr marR="0" defTabSz="685800" rtl="0" fontAlgn="auto">
                <a:spcBef>
                  <a:spcPts val="0"/>
                </a:spcBef>
                <a:spcAft>
                  <a:spcPts val="0"/>
                </a:spcAft>
                <a:buClrTx/>
                <a:buSzTx/>
                <a:buFontTx/>
                <a:defRPr/>
              </a:pPr>
              <a:r>
                <a:rPr kumimoji="0" lang="zh-CN" altLang="en-US" sz="1800" kern="1200" cap="none" spc="0" normalizeH="0" baseline="0" noProof="0" dirty="0">
                  <a:solidFill>
                    <a:schemeClr val="bg1">
                      <a:lumMod val="95000"/>
                    </a:schemeClr>
                  </a:solidFill>
                  <a:latin typeface="+mn-lt"/>
                  <a:ea typeface="微软雅黑" panose="020B0503020204020204" pitchFamily="34" charset="-122"/>
                  <a:cs typeface="+mn-cs"/>
                </a:rPr>
                <a:t>目录页</a:t>
              </a:r>
            </a:p>
          </p:txBody>
        </p:sp>
        <p:cxnSp>
          <p:nvCxnSpPr>
            <p:cNvPr id="5" name="直接连接符 4"/>
            <p:cNvCxnSpPr/>
            <p:nvPr/>
          </p:nvCxnSpPr>
          <p:spPr>
            <a:xfrm>
              <a:off x="539990" y="745533"/>
              <a:ext cx="863267"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062" name="文本框 12"/>
          <p:cNvSpPr txBox="1"/>
          <p:nvPr/>
        </p:nvSpPr>
        <p:spPr>
          <a:xfrm>
            <a:off x="2418352" y="2070708"/>
            <a:ext cx="6353859" cy="707886"/>
          </a:xfrm>
          <a:prstGeom prst="rect">
            <a:avLst/>
          </a:prstGeom>
          <a:noFill/>
          <a:ln w="9525">
            <a:noFill/>
          </a:ln>
        </p:spPr>
        <p:txBody>
          <a:bodyPr wrap="square" anchor="t">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论文研究计划及时间安排</a:t>
            </a:r>
          </a:p>
        </p:txBody>
      </p:sp>
      <p:grpSp>
        <p:nvGrpSpPr>
          <p:cNvPr id="21" name="组合 20">
            <a:extLst>
              <a:ext uri="{FF2B5EF4-FFF2-40B4-BE49-F238E27FC236}">
                <a16:creationId xmlns:a16="http://schemas.microsoft.com/office/drawing/2014/main" id="{ED94CAF9-8C9F-004E-81F8-5E56FE2A81F5}"/>
              </a:ext>
            </a:extLst>
          </p:cNvPr>
          <p:cNvGrpSpPr/>
          <p:nvPr/>
        </p:nvGrpSpPr>
        <p:grpSpPr>
          <a:xfrm>
            <a:off x="1097756" y="1860295"/>
            <a:ext cx="1128713" cy="1128712"/>
            <a:chOff x="2558424" y="1401428"/>
            <a:chExt cx="1318727" cy="1318727"/>
          </a:xfrm>
        </p:grpSpPr>
        <p:sp>
          <p:nvSpPr>
            <p:cNvPr id="22" name="椭圆 21">
              <a:extLst>
                <a:ext uri="{FF2B5EF4-FFF2-40B4-BE49-F238E27FC236}">
                  <a16:creationId xmlns:a16="http://schemas.microsoft.com/office/drawing/2014/main" id="{A4CEEB83-A981-634D-A70E-74E17A141F08}"/>
                </a:ext>
              </a:extLst>
            </p:cNvPr>
            <p:cNvSpPr/>
            <p:nvPr/>
          </p:nvSpPr>
          <p:spPr>
            <a:xfrm>
              <a:off x="2558424" y="1401428"/>
              <a:ext cx="1318727" cy="13187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sp>
          <p:nvSpPr>
            <p:cNvPr id="23" name="Freeform 11">
              <a:extLst>
                <a:ext uri="{FF2B5EF4-FFF2-40B4-BE49-F238E27FC236}">
                  <a16:creationId xmlns:a16="http://schemas.microsoft.com/office/drawing/2014/main" id="{C63BC633-5C45-AE41-8EE9-0BA6271C35A9}"/>
                </a:ext>
              </a:extLst>
            </p:cNvPr>
            <p:cNvSpPr/>
            <p:nvPr/>
          </p:nvSpPr>
          <p:spPr bwMode="auto">
            <a:xfrm>
              <a:off x="2675274" y="1815037"/>
              <a:ext cx="1085027" cy="597230"/>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chemeClr val="bg1"/>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bg1"/>
                </a:solidFill>
                <a:effectLst/>
                <a:uLnTx/>
                <a:uFillTx/>
                <a:latin typeface="+mn-lt"/>
                <a:ea typeface="微软雅黑" panose="020B0503020204020204" pitchFamily="34" charset="-122"/>
                <a:cs typeface="+mn-cs"/>
              </a:endParaRPr>
            </a:p>
          </p:txBody>
        </p:sp>
      </p:grpSp>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p:cTn id="12" dur="250" fill="hold"/>
                                        <p:tgtEl>
                                          <p:spTgt spid="21"/>
                                        </p:tgtEl>
                                        <p:attrNameLst>
                                          <p:attrName>ppt_w</p:attrName>
                                        </p:attrNameLst>
                                      </p:cBhvr>
                                      <p:tavLst>
                                        <p:tav tm="0">
                                          <p:val>
                                            <p:fltVal val="0"/>
                                          </p:val>
                                        </p:tav>
                                        <p:tav tm="100000">
                                          <p:val>
                                            <p:strVal val="#ppt_w"/>
                                          </p:val>
                                        </p:tav>
                                      </p:tavLst>
                                    </p:anim>
                                    <p:anim calcmode="lin" valueType="num">
                                      <p:cBhvr>
                                        <p:cTn id="13" dur="250" fill="hold"/>
                                        <p:tgtEl>
                                          <p:spTgt spid="21"/>
                                        </p:tgtEl>
                                        <p:attrNameLst>
                                          <p:attrName>ppt_h</p:attrName>
                                        </p:attrNameLst>
                                      </p:cBhvr>
                                      <p:tavLst>
                                        <p:tav tm="0">
                                          <p:val>
                                            <p:fltVal val="0"/>
                                          </p:val>
                                        </p:tav>
                                        <p:tav tm="100000">
                                          <p:val>
                                            <p:strVal val="#ppt_h"/>
                                          </p:val>
                                        </p:tav>
                                      </p:tavLst>
                                    </p:anim>
                                    <p:animEffect transition="in" filter="fade">
                                      <p:cBhvr>
                                        <p:cTn id="14" dur="250"/>
                                        <p:tgtEl>
                                          <p:spTgt spid="21"/>
                                        </p:tgtEl>
                                      </p:cBhvr>
                                    </p:animEffect>
                                  </p:childTnLst>
                                </p:cTn>
                              </p:par>
                              <p:par>
                                <p:cTn id="15" presetID="6" presetClass="emph" presetSubtype="0" decel="100000" fill="hold" nodeType="withEffect">
                                  <p:stCondLst>
                                    <p:cond delay="200"/>
                                  </p:stCondLst>
                                  <p:childTnLst>
                                    <p:animScale>
                                      <p:cBhvr>
                                        <p:cTn id="16" dur="250" fill="hold"/>
                                        <p:tgtEl>
                                          <p:spTgt spid="21"/>
                                        </p:tgtEl>
                                      </p:cBhvr>
                                      <p:by x="110000" y="110000"/>
                                    </p:animScale>
                                  </p:childTnLst>
                                </p:cTn>
                              </p:par>
                              <p:par>
                                <p:cTn id="17" presetID="6" presetClass="emph" presetSubtype="0" decel="100000" fill="hold" nodeType="withEffect">
                                  <p:stCondLst>
                                    <p:cond delay="400"/>
                                  </p:stCondLst>
                                  <p:childTnLst>
                                    <p:animScale>
                                      <p:cBhvr>
                                        <p:cTn id="18" dur="250" fill="hold"/>
                                        <p:tgtEl>
                                          <p:spTgt spid="21"/>
                                        </p:tgtEl>
                                      </p:cBhvr>
                                      <p:by x="91000" y="91000"/>
                                    </p:animScale>
                                  </p:childTnLst>
                                </p:cTn>
                              </p:par>
                            </p:childTnLst>
                          </p:cTn>
                        </p:par>
                        <p:par>
                          <p:cTn id="19" fill="hold">
                            <p:stCondLst>
                              <p:cond delay="1150"/>
                            </p:stCondLst>
                            <p:childTnLst>
                              <p:par>
                                <p:cTn id="20" presetID="53" presetClass="entr" presetSubtype="16" fill="hold" grpId="0" nodeType="afterEffect">
                                  <p:stCondLst>
                                    <p:cond delay="0"/>
                                  </p:stCondLst>
                                  <p:childTnLst>
                                    <p:set>
                                      <p:cBhvr>
                                        <p:cTn id="21" dur="1" fill="hold">
                                          <p:stCondLst>
                                            <p:cond delay="0"/>
                                          </p:stCondLst>
                                        </p:cTn>
                                        <p:tgtEl>
                                          <p:spTgt spid="45062"/>
                                        </p:tgtEl>
                                        <p:attrNameLst>
                                          <p:attrName>style.visibility</p:attrName>
                                        </p:attrNameLst>
                                      </p:cBhvr>
                                      <p:to>
                                        <p:strVal val="visible"/>
                                      </p:to>
                                    </p:set>
                                    <p:anim calcmode="lin" valueType="num">
                                      <p:cBhvr>
                                        <p:cTn id="22" dur="250" fill="hold"/>
                                        <p:tgtEl>
                                          <p:spTgt spid="45062"/>
                                        </p:tgtEl>
                                        <p:attrNameLst>
                                          <p:attrName>ppt_w</p:attrName>
                                        </p:attrNameLst>
                                      </p:cBhvr>
                                      <p:tavLst>
                                        <p:tav tm="0">
                                          <p:val>
                                            <p:fltVal val="0"/>
                                          </p:val>
                                        </p:tav>
                                        <p:tav tm="100000">
                                          <p:val>
                                            <p:strVal val="#ppt_w"/>
                                          </p:val>
                                        </p:tav>
                                      </p:tavLst>
                                    </p:anim>
                                    <p:anim calcmode="lin" valueType="num">
                                      <p:cBhvr>
                                        <p:cTn id="23" dur="250" fill="hold"/>
                                        <p:tgtEl>
                                          <p:spTgt spid="45062"/>
                                        </p:tgtEl>
                                        <p:attrNameLst>
                                          <p:attrName>ppt_h</p:attrName>
                                        </p:attrNameLst>
                                      </p:cBhvr>
                                      <p:tavLst>
                                        <p:tav tm="0">
                                          <p:val>
                                            <p:fltVal val="0"/>
                                          </p:val>
                                        </p:tav>
                                        <p:tav tm="100000">
                                          <p:val>
                                            <p:strVal val="#ppt_h"/>
                                          </p:val>
                                        </p:tav>
                                      </p:tavLst>
                                    </p:anim>
                                    <p:animEffect transition="in" filter="fade">
                                      <p:cBhvr>
                                        <p:cTn id="24" dur="250"/>
                                        <p:tgtEl>
                                          <p:spTgt spid="45062"/>
                                        </p:tgtEl>
                                      </p:cBhvr>
                                    </p:animEffect>
                                  </p:childTnLst>
                                </p:cTn>
                              </p:par>
                              <p:par>
                                <p:cTn id="25" presetID="6" presetClass="emph" presetSubtype="0" decel="100000" fill="hold" grpId="1" nodeType="withEffect">
                                  <p:stCondLst>
                                    <p:cond delay="200"/>
                                  </p:stCondLst>
                                  <p:childTnLst>
                                    <p:animScale>
                                      <p:cBhvr>
                                        <p:cTn id="26" dur="250" fill="hold"/>
                                        <p:tgtEl>
                                          <p:spTgt spid="45062"/>
                                        </p:tgtEl>
                                      </p:cBhvr>
                                      <p:by x="110000" y="110000"/>
                                    </p:animScale>
                                  </p:childTnLst>
                                </p:cTn>
                              </p:par>
                              <p:par>
                                <p:cTn id="27" presetID="6" presetClass="emph" presetSubtype="0" decel="100000" fill="hold" grpId="2" nodeType="withEffect">
                                  <p:stCondLst>
                                    <p:cond delay="400"/>
                                  </p:stCondLst>
                                  <p:childTnLst>
                                    <p:animScale>
                                      <p:cBhvr>
                                        <p:cTn id="28" dur="250" fill="hold"/>
                                        <p:tgtEl>
                                          <p:spTgt spid="45062"/>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 grpId="0"/>
      <p:bldP spid="45062" grpId="1"/>
      <p:bldP spid="45062" grpId="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图片 24"/>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6" name="文本框 25"/>
          <p:cNvSpPr txBox="1"/>
          <p:nvPr/>
        </p:nvSpPr>
        <p:spPr>
          <a:xfrm>
            <a:off x="411162" y="365125"/>
            <a:ext cx="2565501" cy="418128"/>
          </a:xfrm>
          <a:prstGeom prst="rect">
            <a:avLst/>
          </a:prstGeom>
          <a:noFill/>
        </p:spPr>
        <p:txBody>
          <a:bodyPr wrap="square">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论文研究计划及时间安排</a:t>
            </a:r>
            <a:endParaRPr lang="en-US" altLang="zh-CN" sz="1600" dirty="0">
              <a:solidFill>
                <a:schemeClr val="bg1"/>
              </a:solidFill>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1E1FEC7B-AEB9-D446-88E8-51B1DB666010}"/>
              </a:ext>
            </a:extLst>
          </p:cNvPr>
          <p:cNvGraphicFramePr>
            <a:graphicFrameLocks noGrp="1"/>
          </p:cNvGraphicFramePr>
          <p:nvPr>
            <p:extLst>
              <p:ext uri="{D42A27DB-BD31-4B8C-83A1-F6EECF244321}">
                <p14:modId xmlns:p14="http://schemas.microsoft.com/office/powerpoint/2010/main" val="467913280"/>
              </p:ext>
            </p:extLst>
          </p:nvPr>
        </p:nvGraphicFramePr>
        <p:xfrm>
          <a:off x="807395" y="920857"/>
          <a:ext cx="7027957" cy="3872286"/>
        </p:xfrm>
        <a:graphic>
          <a:graphicData uri="http://schemas.openxmlformats.org/drawingml/2006/table">
            <a:tbl>
              <a:tblPr firstRow="1" firstCol="1" bandRow="1">
                <a:tableStyleId>{5C22544A-7EE6-4342-B048-85BDC9FD1C3A}</a:tableStyleId>
              </a:tblPr>
              <a:tblGrid>
                <a:gridCol w="716689">
                  <a:extLst>
                    <a:ext uri="{9D8B030D-6E8A-4147-A177-3AD203B41FA5}">
                      <a16:colId xmlns:a16="http://schemas.microsoft.com/office/drawing/2014/main" val="465178850"/>
                    </a:ext>
                  </a:extLst>
                </a:gridCol>
                <a:gridCol w="2641414">
                  <a:extLst>
                    <a:ext uri="{9D8B030D-6E8A-4147-A177-3AD203B41FA5}">
                      <a16:colId xmlns:a16="http://schemas.microsoft.com/office/drawing/2014/main" val="3479108090"/>
                    </a:ext>
                  </a:extLst>
                </a:gridCol>
                <a:gridCol w="1912865">
                  <a:extLst>
                    <a:ext uri="{9D8B030D-6E8A-4147-A177-3AD203B41FA5}">
                      <a16:colId xmlns:a16="http://schemas.microsoft.com/office/drawing/2014/main" val="2982258673"/>
                    </a:ext>
                  </a:extLst>
                </a:gridCol>
                <a:gridCol w="1756989">
                  <a:extLst>
                    <a:ext uri="{9D8B030D-6E8A-4147-A177-3AD203B41FA5}">
                      <a16:colId xmlns:a16="http://schemas.microsoft.com/office/drawing/2014/main" val="1839137384"/>
                    </a:ext>
                  </a:extLst>
                </a:gridCol>
              </a:tblGrid>
              <a:tr h="371061">
                <a:tc>
                  <a:txBody>
                    <a:bodyPr/>
                    <a:lstStyle/>
                    <a:p>
                      <a:pPr algn="ctr">
                        <a:spcAft>
                          <a:spcPts val="0"/>
                        </a:spcAft>
                      </a:pPr>
                      <a:r>
                        <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rPr>
                        <a:t>序号</a:t>
                      </a:r>
                    </a:p>
                  </a:txBody>
                  <a:tcPr marL="68580" marR="68580" marT="0" marB="0" anchor="ctr"/>
                </a:tc>
                <a:tc>
                  <a:txBody>
                    <a:bodyPr/>
                    <a:lstStyle/>
                    <a:p>
                      <a:pPr algn="ctr">
                        <a:spcAft>
                          <a:spcPts val="0"/>
                        </a:spcAft>
                      </a:pPr>
                      <a:r>
                        <a:rPr lang="zh-CN" altLang="en-US" sz="1800" b="0" i="0" u="none" kern="1200" baseline="0" dirty="0">
                          <a:solidFill>
                            <a:schemeClr val="tx1"/>
                          </a:solidFill>
                          <a:latin typeface="微软雅黑" panose="020B0503020204020204" pitchFamily="34" charset="-122"/>
                          <a:ea typeface="微软雅黑" panose="020B0503020204020204" pitchFamily="34" charset="-122"/>
                        </a:rPr>
                        <a:t>毕业设计（论文）各阶段内容</a:t>
                      </a:r>
                    </a:p>
                  </a:txBody>
                  <a:tcPr marL="68580" marR="68580" marT="0" marB="0" anchor="ctr"/>
                </a:tc>
                <a:tc>
                  <a:txBody>
                    <a:bodyPr/>
                    <a:lstStyle/>
                    <a:p>
                      <a:pPr algn="ctr">
                        <a:spcAft>
                          <a:spcPts val="0"/>
                        </a:spcAft>
                      </a:pPr>
                      <a:r>
                        <a:rPr lang="zh-CN" altLang="en-US" sz="1800" b="0" i="0" u="none" kern="1200" baseline="0" dirty="0">
                          <a:solidFill>
                            <a:schemeClr val="tx1"/>
                          </a:solidFill>
                          <a:latin typeface="微软雅黑" panose="020B0503020204020204" pitchFamily="34" charset="-122"/>
                          <a:ea typeface="微软雅黑" panose="020B0503020204020204" pitchFamily="34" charset="-122"/>
                        </a:rPr>
                        <a:t>时间安排</a:t>
                      </a:r>
                    </a:p>
                  </a:txBody>
                  <a:tcPr marL="68580" marR="68580" marT="0" marB="0" anchor="ctr"/>
                </a:tc>
                <a:tc>
                  <a:txBody>
                    <a:bodyPr/>
                    <a:lstStyle/>
                    <a:p>
                      <a:pPr marL="0" algn="ctr" defTabSz="685800" rtl="0" eaLnBrk="1" latinLnBrk="0" hangingPunct="1">
                        <a:spcAft>
                          <a:spcPts val="0"/>
                        </a:spcAft>
                      </a:pPr>
                      <a:r>
                        <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rPr>
                        <a:t>备注</a:t>
                      </a:r>
                    </a:p>
                  </a:txBody>
                  <a:tcPr marL="68580" marR="68580" marT="0" marB="0" anchor="ctr"/>
                </a:tc>
                <a:extLst>
                  <a:ext uri="{0D108BD9-81ED-4DB2-BD59-A6C34878D82A}">
                    <a16:rowId xmlns:a16="http://schemas.microsoft.com/office/drawing/2014/main" val="1061275688"/>
                  </a:ext>
                </a:extLst>
              </a:tr>
              <a:tr h="371061">
                <a:tc>
                  <a:txBody>
                    <a:bodyPr/>
                    <a:lstStyle/>
                    <a:p>
                      <a:pPr algn="ctr">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l">
                        <a:spcAft>
                          <a:spcPts val="0"/>
                        </a:spcAft>
                      </a:pPr>
                      <a:r>
                        <a:rPr lang="zh-CN" altLang="en-US" sz="1800" b="0" i="0" u="none" kern="1200" baseline="0" dirty="0">
                          <a:solidFill>
                            <a:schemeClr val="tx1"/>
                          </a:solidFill>
                          <a:latin typeface="微软雅黑" panose="020B0503020204020204" pitchFamily="34" charset="-122"/>
                          <a:ea typeface="微软雅黑" panose="020B0503020204020204" pitchFamily="34" charset="-122"/>
                        </a:rPr>
                        <a:t>方法调研究</a:t>
                      </a:r>
                    </a:p>
                  </a:txBody>
                  <a:tcPr marL="68580" marR="68580" marT="0" marB="0" anchor="ctr"/>
                </a:tc>
                <a:tc>
                  <a:txBody>
                    <a:bodyPr/>
                    <a:lstStyle/>
                    <a:p>
                      <a:pPr algn="just">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rPr>
                        <a:t>12.23-1.1</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algn="just">
                        <a:spcAft>
                          <a:spcPts val="0"/>
                        </a:spcAft>
                      </a:pPr>
                      <a:r>
                        <a:rPr lang="en-US" sz="1050" kern="100" dirty="0">
                          <a:solidFill>
                            <a:schemeClr val="tx1"/>
                          </a:solidFill>
                          <a:effectLst/>
                        </a:rPr>
                        <a:t> </a:t>
                      </a:r>
                      <a:endParaRPr lang="zh-CN" sz="1050" kern="100" dirty="0">
                        <a:solidFill>
                          <a:schemeClr val="tx1"/>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41248860"/>
                  </a:ext>
                </a:extLst>
              </a:tr>
              <a:tr h="371061">
                <a:tc>
                  <a:txBody>
                    <a:bodyPr/>
                    <a:lstStyle/>
                    <a:p>
                      <a:pPr algn="ctr">
                        <a:spcAft>
                          <a:spcPts val="0"/>
                        </a:spcAft>
                      </a:pPr>
                      <a:r>
                        <a:rPr lang="en-US" sz="1800" b="0" i="0" u="none" kern="1200" baseline="0">
                          <a:solidFill>
                            <a:schemeClr val="tx1"/>
                          </a:solidFill>
                          <a:latin typeface="微软雅黑" panose="020B0503020204020204" pitchFamily="34" charset="-122"/>
                          <a:ea typeface="微软雅黑" panose="020B0503020204020204" pitchFamily="34" charset="-122"/>
                          <a:cs typeface="+mn-cs"/>
                        </a:rPr>
                        <a:t>2</a:t>
                      </a:r>
                      <a:endParaRPr lang="zh-CN" altLang="en-US" sz="1800" b="0" i="0" u="none" kern="1200" baseline="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l">
                        <a:spcAft>
                          <a:spcPts val="0"/>
                        </a:spcAft>
                      </a:pPr>
                      <a:r>
                        <a:rPr lang="zh-CN" altLang="en-US" sz="1800" b="0" i="0" u="none" kern="1200" baseline="0">
                          <a:solidFill>
                            <a:schemeClr val="tx1"/>
                          </a:solidFill>
                          <a:latin typeface="微软雅黑" panose="020B0503020204020204" pitchFamily="34" charset="-122"/>
                          <a:ea typeface="微软雅黑" panose="020B0503020204020204" pitchFamily="34" charset="-122"/>
                        </a:rPr>
                        <a:t>文献翻译，撰写开题报告</a:t>
                      </a:r>
                    </a:p>
                  </a:txBody>
                  <a:tcPr marL="68580" marR="68580" marT="0" marB="0" anchor="ctr"/>
                </a:tc>
                <a:tc>
                  <a:txBody>
                    <a:bodyPr/>
                    <a:lstStyle/>
                    <a:p>
                      <a:pPr algn="just">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rPr>
                        <a:t>1.1-</a:t>
                      </a:r>
                      <a:r>
                        <a:rPr lang="en-US" altLang="zh-CN" sz="1800" b="0" i="0" u="none" kern="1200" baseline="0" dirty="0">
                          <a:solidFill>
                            <a:schemeClr val="tx1"/>
                          </a:solidFill>
                          <a:latin typeface="微软雅黑" panose="020B0503020204020204" pitchFamily="34" charset="-122"/>
                          <a:ea typeface="微软雅黑" panose="020B0503020204020204" pitchFamily="34" charset="-122"/>
                        </a:rPr>
                        <a:t>1</a:t>
                      </a:r>
                      <a:r>
                        <a:rPr lang="en-US" sz="1800" b="0" i="0" u="none" kern="1200" baseline="0" dirty="0">
                          <a:solidFill>
                            <a:schemeClr val="tx1"/>
                          </a:solidFill>
                          <a:latin typeface="微软雅黑" panose="020B0503020204020204" pitchFamily="34" charset="-122"/>
                          <a:ea typeface="微软雅黑" panose="020B0503020204020204" pitchFamily="34" charset="-122"/>
                        </a:rPr>
                        <a:t>.6</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algn="just">
                        <a:spcAft>
                          <a:spcPts val="0"/>
                        </a:spcAft>
                      </a:pPr>
                      <a:r>
                        <a:rPr lang="en-US" sz="1050" kern="100" dirty="0">
                          <a:solidFill>
                            <a:schemeClr val="tx1"/>
                          </a:solidFill>
                          <a:effectLst/>
                        </a:rPr>
                        <a:t> </a:t>
                      </a:r>
                      <a:endParaRPr lang="zh-CN" sz="1050" kern="100" dirty="0">
                        <a:solidFill>
                          <a:schemeClr val="tx1"/>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0350765"/>
                  </a:ext>
                </a:extLst>
              </a:tr>
              <a:tr h="371061">
                <a:tc>
                  <a:txBody>
                    <a:bodyPr/>
                    <a:lstStyle/>
                    <a:p>
                      <a:pPr algn="ctr">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cs typeface="+mn-cs"/>
                        </a:rPr>
                        <a:t>3</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l">
                        <a:spcAft>
                          <a:spcPts val="0"/>
                        </a:spcAft>
                      </a:pPr>
                      <a:r>
                        <a:rPr lang="zh-CN" altLang="en-US" sz="1800" b="0" i="0" u="none" kern="1200" baseline="0">
                          <a:solidFill>
                            <a:schemeClr val="tx1"/>
                          </a:solidFill>
                          <a:latin typeface="微软雅黑" panose="020B0503020204020204" pitchFamily="34" charset="-122"/>
                          <a:ea typeface="微软雅黑" panose="020B0503020204020204" pitchFamily="34" charset="-122"/>
                        </a:rPr>
                        <a:t>开题答辩</a:t>
                      </a:r>
                    </a:p>
                  </a:txBody>
                  <a:tcPr marL="68580" marR="68580" marT="0" marB="0" anchor="ctr"/>
                </a:tc>
                <a:tc>
                  <a:txBody>
                    <a:bodyPr/>
                    <a:lstStyle/>
                    <a:p>
                      <a:pPr algn="just">
                        <a:spcAft>
                          <a:spcPts val="0"/>
                        </a:spcAft>
                      </a:pPr>
                      <a:r>
                        <a:rPr lang="en-US" altLang="zh-CN" sz="1800" b="0" i="0" u="none" kern="1200" baseline="0" dirty="0">
                          <a:solidFill>
                            <a:schemeClr val="tx1"/>
                          </a:solidFill>
                          <a:latin typeface="微软雅黑" panose="020B0503020204020204" pitchFamily="34" charset="-122"/>
                          <a:ea typeface="微软雅黑" panose="020B0503020204020204" pitchFamily="34" charset="-122"/>
                        </a:rPr>
                        <a:t>1.1-1.6</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spcAft>
                          <a:spcPts val="0"/>
                        </a:spcAft>
                      </a:pPr>
                      <a:r>
                        <a:rPr lang="zh-CN" altLang="en-US" sz="1400" b="1" kern="100" dirty="0">
                          <a:solidFill>
                            <a:schemeClr val="tx1"/>
                          </a:solidFill>
                          <a:effectLst/>
                        </a:rPr>
                        <a:t>开题答辩</a:t>
                      </a:r>
                      <a:r>
                        <a:rPr lang="en-US" sz="1050" kern="100" dirty="0">
                          <a:solidFill>
                            <a:schemeClr val="tx1"/>
                          </a:solidFill>
                          <a:effectLst/>
                        </a:rPr>
                        <a:t> </a:t>
                      </a:r>
                      <a:endParaRPr lang="zh-CN" sz="1050" kern="100" dirty="0">
                        <a:solidFill>
                          <a:schemeClr val="tx1"/>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30519499"/>
                  </a:ext>
                </a:extLst>
              </a:tr>
              <a:tr h="371061">
                <a:tc>
                  <a:txBody>
                    <a:bodyPr/>
                    <a:lstStyle/>
                    <a:p>
                      <a:pPr algn="ctr">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cs typeface="+mn-cs"/>
                        </a:rPr>
                        <a:t>4</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l">
                        <a:spcAft>
                          <a:spcPts val="0"/>
                        </a:spcAft>
                      </a:pPr>
                      <a:r>
                        <a:rPr lang="zh-CN" altLang="en-US" sz="1800" b="0" i="0" u="none" kern="1200" baseline="0">
                          <a:solidFill>
                            <a:schemeClr val="tx1"/>
                          </a:solidFill>
                          <a:latin typeface="微软雅黑" panose="020B0503020204020204" pitchFamily="34" charset="-122"/>
                          <a:ea typeface="微软雅黑" panose="020B0503020204020204" pitchFamily="34" charset="-122"/>
                        </a:rPr>
                        <a:t>编写方法程序实现论文方法</a:t>
                      </a:r>
                    </a:p>
                  </a:txBody>
                  <a:tcPr marL="68580" marR="68580" marT="0" marB="0" anchor="ctr"/>
                </a:tc>
                <a:tc>
                  <a:txBody>
                    <a:bodyPr/>
                    <a:lstStyle/>
                    <a:p>
                      <a:pPr algn="just">
                        <a:spcAft>
                          <a:spcPts val="0"/>
                        </a:spcAft>
                      </a:pPr>
                      <a:r>
                        <a:rPr lang="en-US" sz="1800" b="0" i="0" u="none" kern="1200" baseline="0">
                          <a:solidFill>
                            <a:schemeClr val="tx1"/>
                          </a:solidFill>
                          <a:latin typeface="微软雅黑" panose="020B0503020204020204" pitchFamily="34" charset="-122"/>
                          <a:ea typeface="微软雅黑" panose="020B0503020204020204" pitchFamily="34" charset="-122"/>
                        </a:rPr>
                        <a:t>2.21-4.6</a:t>
                      </a:r>
                      <a:endParaRPr lang="zh-CN" altLang="en-US" sz="1800" b="0" i="0" u="none" kern="1200" baseline="0">
                        <a:solidFill>
                          <a:schemeClr val="tx1"/>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algn="just">
                        <a:spcAft>
                          <a:spcPts val="0"/>
                        </a:spcAft>
                      </a:pPr>
                      <a:r>
                        <a:rPr lang="en-US" sz="1050" kern="100" dirty="0">
                          <a:solidFill>
                            <a:schemeClr val="tx1"/>
                          </a:solidFill>
                          <a:effectLst/>
                        </a:rPr>
                        <a:t> </a:t>
                      </a:r>
                      <a:endParaRPr lang="zh-CN" sz="1050" kern="100" dirty="0">
                        <a:solidFill>
                          <a:schemeClr val="tx1"/>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63969840"/>
                  </a:ext>
                </a:extLst>
              </a:tr>
              <a:tr h="371061">
                <a:tc>
                  <a:txBody>
                    <a:bodyPr/>
                    <a:lstStyle/>
                    <a:p>
                      <a:pPr algn="ctr">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cs typeface="+mn-cs"/>
                        </a:rPr>
                        <a:t>5</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l">
                        <a:spcAft>
                          <a:spcPts val="0"/>
                        </a:spcAft>
                      </a:pPr>
                      <a:r>
                        <a:rPr lang="zh-CN" altLang="en-US" sz="1800" b="0" i="0" u="none" kern="1200" baseline="0">
                          <a:solidFill>
                            <a:schemeClr val="tx1"/>
                          </a:solidFill>
                          <a:latin typeface="微软雅黑" panose="020B0503020204020204" pitchFamily="34" charset="-122"/>
                          <a:ea typeface="微软雅黑" panose="020B0503020204020204" pitchFamily="34" charset="-122"/>
                        </a:rPr>
                        <a:t>中期答辩</a:t>
                      </a:r>
                    </a:p>
                  </a:txBody>
                  <a:tcPr marL="68580" marR="68580" marT="0" marB="0" anchor="ctr"/>
                </a:tc>
                <a:tc>
                  <a:txBody>
                    <a:bodyPr/>
                    <a:lstStyle/>
                    <a:p>
                      <a:pPr algn="just">
                        <a:spcAft>
                          <a:spcPts val="0"/>
                        </a:spcAft>
                      </a:pPr>
                      <a:r>
                        <a:rPr lang="en-US" sz="1800" b="0" i="0" u="none" kern="1200" baseline="0">
                          <a:solidFill>
                            <a:schemeClr val="tx1"/>
                          </a:solidFill>
                          <a:latin typeface="微软雅黑" panose="020B0503020204020204" pitchFamily="34" charset="-122"/>
                          <a:ea typeface="微软雅黑" panose="020B0503020204020204" pitchFamily="34" charset="-122"/>
                        </a:rPr>
                        <a:t>4.6-4.10</a:t>
                      </a:r>
                      <a:endParaRPr lang="zh-CN" altLang="en-US" sz="1800" b="0" i="0" u="none" kern="1200" baseline="0">
                        <a:solidFill>
                          <a:schemeClr val="tx1"/>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spcAft>
                          <a:spcPts val="0"/>
                        </a:spcAft>
                      </a:pPr>
                      <a:r>
                        <a:rPr lang="en-US" sz="1050" kern="100" dirty="0">
                          <a:solidFill>
                            <a:schemeClr val="tx1"/>
                          </a:solidFill>
                          <a:effectLst/>
                        </a:rPr>
                        <a:t> </a:t>
                      </a:r>
                      <a:r>
                        <a:rPr lang="zh-CN" altLang="en-US" sz="1400" b="1" kern="100" dirty="0">
                          <a:solidFill>
                            <a:schemeClr val="tx1"/>
                          </a:solidFill>
                          <a:effectLst/>
                        </a:rPr>
                        <a:t>中期检查</a:t>
                      </a:r>
                      <a:endParaRPr lang="zh-CN" sz="1050" b="1" kern="100" dirty="0">
                        <a:solidFill>
                          <a:schemeClr val="tx1"/>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15606286"/>
                  </a:ext>
                </a:extLst>
              </a:tr>
              <a:tr h="371061">
                <a:tc>
                  <a:txBody>
                    <a:bodyPr/>
                    <a:lstStyle/>
                    <a:p>
                      <a:pPr algn="ctr">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cs typeface="+mn-cs"/>
                        </a:rPr>
                        <a:t>6</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l">
                        <a:spcAft>
                          <a:spcPts val="0"/>
                        </a:spcAft>
                      </a:pPr>
                      <a:r>
                        <a:rPr lang="zh-CN" altLang="en-US" sz="1800" b="0" i="0" u="none" kern="1200" baseline="0" dirty="0">
                          <a:solidFill>
                            <a:schemeClr val="tx1"/>
                          </a:solidFill>
                          <a:latin typeface="微软雅黑" panose="020B0503020204020204" pitchFamily="34" charset="-122"/>
                          <a:ea typeface="微软雅黑" panose="020B0503020204020204" pitchFamily="34" charset="-122"/>
                        </a:rPr>
                        <a:t>模型和实际数据实验</a:t>
                      </a:r>
                    </a:p>
                  </a:txBody>
                  <a:tcPr marL="68580" marR="68580" marT="0" marB="0" anchor="ctr"/>
                </a:tc>
                <a:tc>
                  <a:txBody>
                    <a:bodyPr/>
                    <a:lstStyle/>
                    <a:p>
                      <a:pPr algn="just">
                        <a:spcAft>
                          <a:spcPts val="0"/>
                        </a:spcAft>
                      </a:pPr>
                      <a:r>
                        <a:rPr lang="en-US" sz="1800" b="0" i="0" u="none" kern="1200" baseline="0">
                          <a:solidFill>
                            <a:schemeClr val="tx1"/>
                          </a:solidFill>
                          <a:latin typeface="微软雅黑" panose="020B0503020204020204" pitchFamily="34" charset="-122"/>
                          <a:ea typeface="微软雅黑" panose="020B0503020204020204" pitchFamily="34" charset="-122"/>
                        </a:rPr>
                        <a:t>4.11-4.30</a:t>
                      </a:r>
                      <a:endParaRPr lang="zh-CN" altLang="en-US" sz="1800" b="0" i="0" u="none" kern="1200" baseline="0">
                        <a:solidFill>
                          <a:schemeClr val="tx1"/>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algn="just">
                        <a:spcAft>
                          <a:spcPts val="0"/>
                        </a:spcAft>
                      </a:pPr>
                      <a:r>
                        <a:rPr lang="en-US" sz="1050" kern="100">
                          <a:solidFill>
                            <a:schemeClr val="tx1"/>
                          </a:solidFill>
                          <a:effectLst/>
                        </a:rPr>
                        <a:t> </a:t>
                      </a:r>
                      <a:endParaRPr lang="zh-CN" sz="1050" kern="100">
                        <a:solidFill>
                          <a:schemeClr val="tx1"/>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91131309"/>
                  </a:ext>
                </a:extLst>
              </a:tr>
              <a:tr h="371061">
                <a:tc>
                  <a:txBody>
                    <a:bodyPr/>
                    <a:lstStyle/>
                    <a:p>
                      <a:pPr algn="ctr">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cs typeface="+mn-cs"/>
                        </a:rPr>
                        <a:t>7</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l">
                        <a:spcAft>
                          <a:spcPts val="0"/>
                        </a:spcAft>
                      </a:pPr>
                      <a:r>
                        <a:rPr lang="zh-CN" altLang="en-US" sz="1800" b="0" i="0" u="none" kern="1200" baseline="0">
                          <a:solidFill>
                            <a:schemeClr val="tx1"/>
                          </a:solidFill>
                          <a:latin typeface="微软雅黑" panose="020B0503020204020204" pitchFamily="34" charset="-122"/>
                          <a:ea typeface="微软雅黑" panose="020B0503020204020204" pitchFamily="34" charset="-122"/>
                        </a:rPr>
                        <a:t>撰写毕业论文</a:t>
                      </a:r>
                    </a:p>
                  </a:txBody>
                  <a:tcPr marL="68580" marR="68580" marT="0" marB="0" anchor="ctr"/>
                </a:tc>
                <a:tc>
                  <a:txBody>
                    <a:bodyPr/>
                    <a:lstStyle/>
                    <a:p>
                      <a:pPr algn="just">
                        <a:spcAft>
                          <a:spcPts val="0"/>
                        </a:spcAft>
                      </a:pPr>
                      <a:r>
                        <a:rPr lang="en-US" sz="1800" b="0" i="0" u="none" kern="1200" baseline="0">
                          <a:solidFill>
                            <a:schemeClr val="tx1"/>
                          </a:solidFill>
                          <a:latin typeface="微软雅黑" panose="020B0503020204020204" pitchFamily="34" charset="-122"/>
                          <a:ea typeface="微软雅黑" panose="020B0503020204020204" pitchFamily="34" charset="-122"/>
                        </a:rPr>
                        <a:t>5.1-5.20</a:t>
                      </a:r>
                      <a:endParaRPr lang="zh-CN" altLang="en-US" sz="1800" b="0" i="0" u="none" kern="1200" baseline="0">
                        <a:solidFill>
                          <a:schemeClr val="tx1"/>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algn="just">
                        <a:spcAft>
                          <a:spcPts val="0"/>
                        </a:spcAft>
                      </a:pPr>
                      <a:r>
                        <a:rPr lang="en-US" sz="1050" kern="100">
                          <a:solidFill>
                            <a:schemeClr val="tx1"/>
                          </a:solidFill>
                          <a:effectLst/>
                        </a:rPr>
                        <a:t> </a:t>
                      </a:r>
                      <a:endParaRPr lang="zh-CN" sz="1050" kern="100">
                        <a:solidFill>
                          <a:schemeClr val="tx1"/>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66899567"/>
                  </a:ext>
                </a:extLst>
              </a:tr>
              <a:tr h="371061">
                <a:tc>
                  <a:txBody>
                    <a:bodyPr/>
                    <a:lstStyle/>
                    <a:p>
                      <a:pPr algn="ctr">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cs typeface="+mn-cs"/>
                        </a:rPr>
                        <a:t>8</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l">
                        <a:spcAft>
                          <a:spcPts val="0"/>
                        </a:spcAft>
                      </a:pPr>
                      <a:r>
                        <a:rPr lang="zh-CN" altLang="en-US" sz="1800" b="0" i="0" u="none" kern="1200" baseline="0">
                          <a:solidFill>
                            <a:schemeClr val="tx1"/>
                          </a:solidFill>
                          <a:latin typeface="微软雅黑" panose="020B0503020204020204" pitchFamily="34" charset="-122"/>
                          <a:ea typeface="微软雅黑" panose="020B0503020204020204" pitchFamily="34" charset="-122"/>
                        </a:rPr>
                        <a:t>准备</a:t>
                      </a:r>
                      <a:r>
                        <a:rPr lang="en-US" sz="1800" b="0" i="0" u="none" kern="1200" baseline="0">
                          <a:solidFill>
                            <a:schemeClr val="tx1"/>
                          </a:solidFill>
                          <a:latin typeface="微软雅黑" panose="020B0503020204020204" pitchFamily="34" charset="-122"/>
                          <a:ea typeface="微软雅黑" panose="020B0503020204020204" pitchFamily="34" charset="-122"/>
                        </a:rPr>
                        <a:t>PPT</a:t>
                      </a:r>
                      <a:r>
                        <a:rPr lang="zh-CN" altLang="en-US" sz="1800" b="0" i="0" u="none" kern="1200" baseline="0">
                          <a:solidFill>
                            <a:schemeClr val="tx1"/>
                          </a:solidFill>
                          <a:latin typeface="微软雅黑" panose="020B0503020204020204" pitchFamily="34" charset="-122"/>
                          <a:ea typeface="微软雅黑" panose="020B0503020204020204" pitchFamily="34" charset="-122"/>
                        </a:rPr>
                        <a:t>并参加毕设答辩</a:t>
                      </a:r>
                    </a:p>
                  </a:txBody>
                  <a:tcPr marL="68580" marR="68580" marT="0" marB="0" anchor="ctr"/>
                </a:tc>
                <a:tc>
                  <a:txBody>
                    <a:bodyPr/>
                    <a:lstStyle/>
                    <a:p>
                      <a:pPr algn="just">
                        <a:spcAft>
                          <a:spcPts val="0"/>
                        </a:spcAft>
                      </a:pPr>
                      <a:r>
                        <a:rPr lang="en-US" sz="1800" b="0" i="0" u="none" kern="1200" baseline="0" dirty="0">
                          <a:solidFill>
                            <a:schemeClr val="tx1"/>
                          </a:solidFill>
                          <a:latin typeface="微软雅黑" panose="020B0503020204020204" pitchFamily="34" charset="-122"/>
                          <a:ea typeface="微软雅黑" panose="020B0503020204020204" pitchFamily="34" charset="-122"/>
                        </a:rPr>
                        <a:t>5.21-6.5</a:t>
                      </a:r>
                      <a:endParaRPr lang="zh-CN" altLang="en-US" sz="1800" b="0" i="0" u="none" kern="1200" baseline="0" dirty="0">
                        <a:solidFill>
                          <a:schemeClr val="tx1"/>
                        </a:solidFill>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spcAft>
                          <a:spcPts val="0"/>
                        </a:spcAft>
                      </a:pPr>
                      <a:r>
                        <a:rPr lang="zh-CN" altLang="en-US" sz="1400" b="1" kern="100" dirty="0">
                          <a:solidFill>
                            <a:schemeClr val="tx1"/>
                          </a:solidFill>
                          <a:effectLst/>
                        </a:rPr>
                        <a:t>终期答辩</a:t>
                      </a:r>
                      <a:r>
                        <a:rPr lang="en-US" sz="1050" kern="100" dirty="0">
                          <a:solidFill>
                            <a:schemeClr val="tx1"/>
                          </a:solidFill>
                          <a:effectLst/>
                        </a:rPr>
                        <a:t> </a:t>
                      </a:r>
                      <a:endParaRPr lang="zh-CN" sz="1050" kern="100" dirty="0">
                        <a:solidFill>
                          <a:schemeClr val="tx1"/>
                        </a:solidFill>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37038216"/>
                  </a:ext>
                </a:extLst>
              </a:tr>
            </a:tbl>
          </a:graphicData>
        </a:graphic>
      </p:graphicFrame>
      <p:sp>
        <p:nvSpPr>
          <p:cNvPr id="5" name="Rectangle 1">
            <a:extLst>
              <a:ext uri="{FF2B5EF4-FFF2-40B4-BE49-F238E27FC236}">
                <a16:creationId xmlns:a16="http://schemas.microsoft.com/office/drawing/2014/main" id="{C9FB84F8-2D94-9748-8D5A-A94F6E651062}"/>
              </a:ext>
            </a:extLst>
          </p:cNvPr>
          <p:cNvSpPr>
            <a:spLocks noChangeArrowheads="1"/>
          </p:cNvSpPr>
          <p:nvPr/>
        </p:nvSpPr>
        <p:spPr bwMode="auto">
          <a:xfrm>
            <a:off x="1938338" y="22812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451957555"/>
      </p:ext>
    </p:extLst>
  </p:cSld>
  <p:clrMapOvr>
    <a:masterClrMapping/>
  </p:clrMapOvr>
  <p:transition spd="slow" advClick="0" advTm="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7" name="图片 24"/>
          <p:cNvPicPr>
            <a:picLocks noChangeAspect="1"/>
          </p:cNvPicPr>
          <p:nvPr/>
        </p:nvPicPr>
        <p:blipFill>
          <a:blip r:embed="rId3" cstate="print"/>
          <a:stretch>
            <a:fillRect/>
          </a:stretch>
        </p:blipFill>
        <p:spPr>
          <a:xfrm>
            <a:off x="311150" y="277813"/>
            <a:ext cx="331788" cy="414337"/>
          </a:xfrm>
          <a:prstGeom prst="rect">
            <a:avLst/>
          </a:prstGeom>
          <a:noFill/>
          <a:ln w="9525">
            <a:noFill/>
          </a:ln>
        </p:spPr>
      </p:pic>
      <p:sp>
        <p:nvSpPr>
          <p:cNvPr id="26" name="文本框 25"/>
          <p:cNvSpPr txBox="1"/>
          <p:nvPr/>
        </p:nvSpPr>
        <p:spPr>
          <a:xfrm>
            <a:off x="411163" y="365125"/>
            <a:ext cx="1760538" cy="339725"/>
          </a:xfrm>
          <a:prstGeom prst="rect">
            <a:avLst/>
          </a:prstGeom>
          <a:noFill/>
        </p:spPr>
        <p:txBody>
          <a:bodyPr>
            <a:spAutoFit/>
          </a:bodyPr>
          <a:lstStyle/>
          <a:p>
            <a:pPr marR="0" defTabSz="685800" rtl="0" fontAlgn="auto">
              <a:spcBef>
                <a:spcPts val="0"/>
              </a:spcBef>
              <a:spcAft>
                <a:spcPts val="0"/>
              </a:spcAft>
              <a:buClrTx/>
              <a:buSzTx/>
              <a:buFontTx/>
              <a:defRPr/>
            </a:pPr>
            <a:r>
              <a:rPr kumimoji="0" lang="zh-CN" altLang="en-US" sz="1600" kern="1200" cap="none" spc="0" normalizeH="0" baseline="0" noProof="0" dirty="0">
                <a:solidFill>
                  <a:schemeClr val="bg1">
                    <a:lumMod val="95000"/>
                  </a:schemeClr>
                </a:solidFill>
                <a:latin typeface="微软雅黑" panose="020B0503020204020204" pitchFamily="34" charset="-122"/>
                <a:ea typeface="微软雅黑" panose="020B0503020204020204" pitchFamily="34" charset="-122"/>
                <a:cs typeface="+mn-cs"/>
              </a:rPr>
              <a:t>致谢</a:t>
            </a:r>
          </a:p>
        </p:txBody>
      </p:sp>
      <p:sp>
        <p:nvSpPr>
          <p:cNvPr id="4" name="矩形 3"/>
          <p:cNvSpPr/>
          <p:nvPr/>
        </p:nvSpPr>
        <p:spPr>
          <a:xfrm>
            <a:off x="2744990" y="704850"/>
            <a:ext cx="3957637" cy="1062038"/>
          </a:xfrm>
          <a:prstGeom prst="rect">
            <a:avLst/>
          </a:prstGeom>
          <a:noFill/>
          <a:ln w="9525">
            <a:noFill/>
          </a:ln>
        </p:spPr>
        <p:txBody>
          <a:bodyPr anchor="t">
            <a:spAutoFit/>
          </a:bodyPr>
          <a:lstStyle/>
          <a:p>
            <a:pPr algn="ctr">
              <a:lnSpc>
                <a:spcPct val="150000"/>
              </a:lnSpc>
            </a:pPr>
            <a:r>
              <a:rPr lang="en-US" altLang="zh-CN" sz="4800" b="1" dirty="0">
                <a:solidFill>
                  <a:schemeClr val="bg1"/>
                </a:solidFill>
                <a:latin typeface="微软雅黑" panose="020B0503020204020204" pitchFamily="34" charset="-122"/>
                <a:ea typeface="微软雅黑" panose="020B0503020204020204" pitchFamily="34" charset="-122"/>
              </a:rPr>
              <a:t>THANKS!</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grpSp>
        <p:nvGrpSpPr>
          <p:cNvPr id="6" name="组合 23553">
            <a:extLst>
              <a:ext uri="{FF2B5EF4-FFF2-40B4-BE49-F238E27FC236}">
                <a16:creationId xmlns:a16="http://schemas.microsoft.com/office/drawing/2014/main" id="{39280758-A791-104B-95A4-AA1EC3059716}"/>
              </a:ext>
            </a:extLst>
          </p:cNvPr>
          <p:cNvGrpSpPr>
            <a:grpSpLocks/>
          </p:cNvGrpSpPr>
          <p:nvPr/>
        </p:nvGrpSpPr>
        <p:grpSpPr bwMode="auto">
          <a:xfrm>
            <a:off x="680244" y="2279649"/>
            <a:ext cx="7783512" cy="2159001"/>
            <a:chOff x="0" y="0"/>
            <a:chExt cx="4903" cy="1360"/>
          </a:xfrm>
        </p:grpSpPr>
        <p:sp>
          <p:nvSpPr>
            <p:cNvPr id="7" name="Text Box 3">
              <a:extLst>
                <a:ext uri="{FF2B5EF4-FFF2-40B4-BE49-F238E27FC236}">
                  <a16:creationId xmlns:a16="http://schemas.microsoft.com/office/drawing/2014/main" id="{602D92FB-E987-2E47-9DB0-C191C177F128}"/>
                </a:ext>
              </a:extLst>
            </p:cNvPr>
            <p:cNvSpPr txBox="1">
              <a:spLocks noChangeArrowheads="1"/>
            </p:cNvSpPr>
            <p:nvPr/>
          </p:nvSpPr>
          <p:spPr bwMode="auto">
            <a:xfrm>
              <a:off x="0" y="0"/>
              <a:ext cx="397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buFont typeface="Arial" panose="020B0604020202020204" pitchFamily="34" charset="0"/>
                <a:buNone/>
              </a:pPr>
              <a:r>
                <a:rPr lang="zh-CN" altLang="en-US" sz="4800" b="1" dirty="0">
                  <a:solidFill>
                    <a:schemeClr val="bg1"/>
                  </a:solidFill>
                  <a:latin typeface="微软雅黑" panose="020B0503020204020204" pitchFamily="34" charset="-122"/>
                  <a:ea typeface="微软雅黑" panose="020B0503020204020204" pitchFamily="34" charset="-122"/>
                </a:rPr>
                <a:t>报告完毕，谢谢大家！</a:t>
              </a:r>
            </a:p>
          </p:txBody>
        </p:sp>
        <p:sp>
          <p:nvSpPr>
            <p:cNvPr id="8" name="Text Box 3">
              <a:extLst>
                <a:ext uri="{FF2B5EF4-FFF2-40B4-BE49-F238E27FC236}">
                  <a16:creationId xmlns:a16="http://schemas.microsoft.com/office/drawing/2014/main" id="{412B1332-C545-F444-83E0-FB6BF2354E2F}"/>
                </a:ext>
              </a:extLst>
            </p:cNvPr>
            <p:cNvSpPr txBox="1">
              <a:spLocks noChangeArrowheads="1"/>
            </p:cNvSpPr>
            <p:nvPr/>
          </p:nvSpPr>
          <p:spPr bwMode="auto">
            <a:xfrm>
              <a:off x="1253" y="837"/>
              <a:ext cx="365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buFont typeface="Arial" panose="020B0604020202020204" pitchFamily="34" charset="0"/>
                <a:buNone/>
              </a:pPr>
              <a:r>
                <a:rPr lang="zh-CN" altLang="en-US" sz="4000" dirty="0">
                  <a:solidFill>
                    <a:srgbClr val="FF0000"/>
                  </a:solidFill>
                  <a:latin typeface="Verdana" panose="020B0604030504040204" pitchFamily="34" charset="0"/>
                  <a:ea typeface="黑体" panose="02010609060101010101" pitchFamily="49" charset="-122"/>
                </a:rPr>
                <a:t>        </a:t>
              </a:r>
              <a:r>
                <a:rPr lang="zh-CN" altLang="en-US" sz="4800" b="1" dirty="0">
                  <a:solidFill>
                    <a:schemeClr val="bg1"/>
                  </a:solidFill>
                  <a:latin typeface="微软雅黑" panose="020B0503020204020204" pitchFamily="34" charset="-122"/>
                  <a:ea typeface="微软雅黑" panose="020B0503020204020204" pitchFamily="34" charset="-122"/>
                </a:rPr>
                <a:t>敬请批评指正。</a:t>
              </a:r>
            </a:p>
          </p:txBody>
        </p:sp>
      </p:grpSp>
    </p:spTree>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iterate type="lt">
                                    <p:tmPct val="40000"/>
                                  </p:iterate>
                                  <p:childTnLst>
                                    <p:set>
                                      <p:cBhvr>
                                        <p:cTn id="6" dur="1" fill="hold">
                                          <p:stCondLst>
                                            <p:cond delay="0"/>
                                          </p:stCondLst>
                                        </p:cTn>
                                        <p:tgtEl>
                                          <p:spTgt spid="4"/>
                                        </p:tgtEl>
                                        <p:attrNameLst>
                                          <p:attrName>style.visibility</p:attrName>
                                        </p:attrNameLst>
                                      </p:cBhvr>
                                      <p:to>
                                        <p:strVal val="visible"/>
                                      </p:to>
                                    </p:set>
                                    <p:anim calcmode="lin" valueType="num">
                                      <p:cBhvr>
                                        <p:cTn id="7" dur="250" fill="hold"/>
                                        <p:tgtEl>
                                          <p:spTgt spid="4"/>
                                        </p:tgtEl>
                                        <p:attrNameLst>
                                          <p:attrName>ppt_x</p:attrName>
                                        </p:attrNameLst>
                                      </p:cBhvr>
                                      <p:tavLst>
                                        <p:tav tm="0">
                                          <p:val>
                                            <p:strVal val="#ppt_x"/>
                                          </p:val>
                                        </p:tav>
                                        <p:tav tm="100000">
                                          <p:val>
                                            <p:strVal val="#ppt_x"/>
                                          </p:val>
                                        </p:tav>
                                      </p:tavLst>
                                    </p:anim>
                                    <p:anim calcmode="lin" valueType="num">
                                      <p:cBhvr>
                                        <p:cTn id="8" dur="250" fill="hold"/>
                                        <p:tgtEl>
                                          <p:spTgt spid="4"/>
                                        </p:tgtEl>
                                        <p:attrNameLst>
                                          <p:attrName>ppt_y</p:attrName>
                                        </p:attrNameLst>
                                      </p:cBhvr>
                                      <p:tavLst>
                                        <p:tav tm="0">
                                          <p:val>
                                            <p:strVal val="#ppt_y-#ppt_h/2"/>
                                          </p:val>
                                        </p:tav>
                                        <p:tav tm="100000">
                                          <p:val>
                                            <p:strVal val="#ppt_y"/>
                                          </p:val>
                                        </p:tav>
                                      </p:tavLst>
                                    </p:anim>
                                    <p:anim calcmode="lin" valueType="num">
                                      <p:cBhvr>
                                        <p:cTn id="9" dur="250" fill="hold"/>
                                        <p:tgtEl>
                                          <p:spTgt spid="4"/>
                                        </p:tgtEl>
                                        <p:attrNameLst>
                                          <p:attrName>ppt_w</p:attrName>
                                        </p:attrNameLst>
                                      </p:cBhvr>
                                      <p:tavLst>
                                        <p:tav tm="0">
                                          <p:val>
                                            <p:strVal val="#ppt_w"/>
                                          </p:val>
                                        </p:tav>
                                        <p:tav tm="100000">
                                          <p:val>
                                            <p:strVal val="#ppt_w"/>
                                          </p:val>
                                        </p:tav>
                                      </p:tavLst>
                                    </p:anim>
                                    <p:anim calcmode="lin" valueType="num">
                                      <p:cBhvr>
                                        <p:cTn id="10" dur="25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1">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方正正黑简体"/>
        <a:ea typeface="方正正黑简体"/>
        <a:cs typeface=""/>
      </a:majorFont>
      <a:minorFont>
        <a:latin typeface="方正正黑简体"/>
        <a:ea typeface="方正正黑简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1933</TotalTime>
  <Words>1155</Words>
  <Application>Microsoft Office PowerPoint</Application>
  <PresentationFormat>全屏显示(16:9)</PresentationFormat>
  <Paragraphs>170</Paragraphs>
  <Slides>19</Slides>
  <Notes>19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19</vt:i4>
      </vt:variant>
    </vt:vector>
  </HeadingPairs>
  <TitlesOfParts>
    <vt:vector size="37" baseType="lpstr">
      <vt:lpstr>Apple Chancery</vt:lpstr>
      <vt:lpstr>PilGi</vt:lpstr>
      <vt:lpstr>Wawati TC</vt:lpstr>
      <vt:lpstr>DengXian</vt:lpstr>
      <vt:lpstr>方正正黑简体</vt:lpstr>
      <vt:lpstr>方正正纤黑简体</vt:lpstr>
      <vt:lpstr>黑体</vt:lpstr>
      <vt:lpstr>SimSun</vt:lpstr>
      <vt:lpstr>SimSun</vt:lpstr>
      <vt:lpstr>微软雅黑</vt:lpstr>
      <vt:lpstr>Arial</vt:lpstr>
      <vt:lpstr>Calibri</vt:lpstr>
      <vt:lpstr>Cambria Math</vt:lpstr>
      <vt:lpstr>Mistral</vt:lpstr>
      <vt:lpstr>Times New Roman</vt:lpstr>
      <vt:lpstr>Verdana</vt:lpstr>
      <vt:lpstr>Wingdings</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creator>aw</dc:creator>
  <dc:description>1</dc:description>
  <cp:lastModifiedBy>aw</cp:lastModifiedBy>
  <cp:revision>171</cp:revision>
  <dcterms:created xsi:type="dcterms:W3CDTF">2015-03-31T05:49:00Z</dcterms:created>
  <dcterms:modified xsi:type="dcterms:W3CDTF">2020-01-06T06:22:46Z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2052-10.1.0.6877</vt:lpwstr>
  </property>
</Properties>
</file>