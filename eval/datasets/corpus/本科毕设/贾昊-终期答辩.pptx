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32"/>
  </p:notesMasterIdLst>
  <p:handoutMasterIdLst>
    <p:handoutMasterId r:id="rId33"/>
  </p:handoutMasterIdLst>
  <p:sldIdLst>
    <p:sldId id="3800" r:id="rId2"/>
    <p:sldId id="3779" r:id="rId3"/>
    <p:sldId id="3801" r:id="rId4"/>
    <p:sldId id="3850" r:id="rId5"/>
    <p:sldId id="3808" r:id="rId6"/>
    <p:sldId id="3810" r:id="rId7"/>
    <p:sldId id="3877" r:id="rId8"/>
    <p:sldId id="3839" r:id="rId9"/>
    <p:sldId id="3875" r:id="rId10"/>
    <p:sldId id="3876" r:id="rId11"/>
    <p:sldId id="3818" r:id="rId12"/>
    <p:sldId id="3851" r:id="rId13"/>
    <p:sldId id="3842" r:id="rId14"/>
    <p:sldId id="3847" r:id="rId15"/>
    <p:sldId id="3849" r:id="rId16"/>
    <p:sldId id="3852" r:id="rId17"/>
    <p:sldId id="3853" r:id="rId18"/>
    <p:sldId id="3854" r:id="rId19"/>
    <p:sldId id="3855" r:id="rId20"/>
    <p:sldId id="3858" r:id="rId21"/>
    <p:sldId id="3859" r:id="rId22"/>
    <p:sldId id="3860" r:id="rId23"/>
    <p:sldId id="3825" r:id="rId24"/>
    <p:sldId id="3873" r:id="rId25"/>
    <p:sldId id="3863" r:id="rId26"/>
    <p:sldId id="3864" r:id="rId27"/>
    <p:sldId id="3870" r:id="rId28"/>
    <p:sldId id="3871" r:id="rId29"/>
    <p:sldId id="3872" r:id="rId30"/>
    <p:sldId id="3834" r:id="rId31"/>
  </p:sldIdLst>
  <p:sldSz cx="12858750" cy="7232650"/>
  <p:notesSz cx="6858000" cy="9144000"/>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640080" indent="-18288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1282700" indent="-3683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925955" indent="-55435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2568575" indent="-73977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28">
          <p15:clr>
            <a:srgbClr val="A4A3A4"/>
          </p15:clr>
        </p15:guide>
        <p15:guide id="2" pos="4050">
          <p15:clr>
            <a:srgbClr val="A4A3A4"/>
          </p15:clr>
        </p15:guide>
        <p15:guide id="3" pos="557">
          <p15:clr>
            <a:srgbClr val="A4A3A4"/>
          </p15:clr>
        </p15:guide>
        <p15:guide id="4" orient="horz" pos="4183">
          <p15:clr>
            <a:srgbClr val="A4A3A4"/>
          </p15:clr>
        </p15:guide>
        <p15:guide id="5" pos="7497">
          <p15:clr>
            <a:srgbClr val="A4A3A4"/>
          </p15:clr>
        </p15:guide>
        <p15:guide id="6" pos="6908">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1801"/>
    <a:srgbClr val="682F03"/>
    <a:srgbClr val="F08200"/>
    <a:srgbClr val="E91E21"/>
    <a:srgbClr val="010066"/>
    <a:srgbClr val="DA1F28"/>
    <a:srgbClr val="4BC1DD"/>
    <a:srgbClr val="333F50"/>
    <a:srgbClr val="8A4795"/>
    <a:srgbClr val="82C0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9" autoAdjust="0"/>
    <p:restoredTop sz="96366" autoAdjust="0"/>
  </p:normalViewPr>
  <p:slideViewPr>
    <p:cSldViewPr>
      <p:cViewPr varScale="1">
        <p:scale>
          <a:sx n="108" d="100"/>
          <a:sy n="108" d="100"/>
        </p:scale>
        <p:origin x="372" y="114"/>
      </p:cViewPr>
      <p:guideLst>
        <p:guide orient="horz" pos="328"/>
        <p:guide pos="4050"/>
        <p:guide pos="557"/>
        <p:guide orient="horz" pos="4183"/>
        <p:guide pos="7497"/>
        <p:guide pos="6908"/>
      </p:guideLst>
    </p:cSldViewPr>
  </p:slideViewPr>
  <p:outlineViewPr>
    <p:cViewPr>
      <p:scale>
        <a:sx n="100" d="100"/>
        <a:sy n="100" d="100"/>
      </p:scale>
      <p:origin x="0" y="-20556"/>
    </p:cViewPr>
  </p:outlineViewPr>
  <p:notesTextViewPr>
    <p:cViewPr>
      <p:scale>
        <a:sx n="1" d="1"/>
        <a:sy n="1" d="1"/>
      </p:scale>
      <p:origin x="0" y="0"/>
    </p:cViewPr>
  </p:notesTextViewPr>
  <p:sorterViewPr>
    <p:cViewPr>
      <p:scale>
        <a:sx n="33" d="100"/>
        <a:sy n="33" d="100"/>
      </p:scale>
      <p:origin x="0" y="0"/>
    </p:cViewPr>
  </p:sorterViewPr>
  <p:notesViewPr>
    <p:cSldViewPr>
      <p:cViewPr varScale="1">
        <p:scale>
          <a:sx n="65" d="100"/>
          <a:sy n="65" d="100"/>
        </p:scale>
        <p:origin x="2796"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9630DBF-D010-4114-9DE3-41E342A27C18}" type="datetimeFigureOut">
              <a:rPr lang="zh-CN" altLang="en-US" smtClean="0"/>
              <a:pPr/>
              <a:t>2020/5/30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4D1D107-4CC9-43CA-8CA8-36E1DF70D5F2}" type="slidenum">
              <a:rPr lang="zh-CN" altLang="en-US" smtClean="0"/>
              <a:pPr/>
              <a:t>‹#›</a:t>
            </a:fld>
            <a:endParaRPr lang="zh-CN" altLang="en-US"/>
          </a:p>
        </p:txBody>
      </p:sp>
    </p:spTree>
    <p:extLst>
      <p:ext uri="{BB962C8B-B14F-4D97-AF65-F5344CB8AC3E}">
        <p14:creationId xmlns:p14="http://schemas.microsoft.com/office/powerpoint/2010/main" val="17454674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6024D97-E667-405D-B634-E583E2108D71}" type="datetimeFigureOut">
              <a:rPr lang="zh-CN" altLang="en-US"/>
              <a:pPr>
                <a:defRPr/>
              </a:pPr>
              <a:t>2020/5/30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vl1pPr>
          </a:lstStyle>
          <a:p>
            <a:fld id="{418F03C3-53C1-4F10-8DAF-D1F318E96C6E}" type="slidenum">
              <a:rPr lang="zh-CN" altLang="en-US"/>
              <a:pPr/>
              <a:t>‹#›</a:t>
            </a:fld>
            <a:endParaRPr lang="zh-CN" altLang="en-US"/>
          </a:p>
        </p:txBody>
      </p:sp>
    </p:spTree>
    <p:extLst>
      <p:ext uri="{BB962C8B-B14F-4D97-AF65-F5344CB8AC3E}">
        <p14:creationId xmlns:p14="http://schemas.microsoft.com/office/powerpoint/2010/main" val="9859780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mn-lt"/>
        <a:ea typeface="+mn-ea"/>
        <a:cs typeface="+mn-cs"/>
      </a:defRPr>
    </a:lvl1pPr>
    <a:lvl2pPr marL="455930" algn="l" rtl="0" eaLnBrk="0" fontAlgn="base" hangingPunct="0">
      <a:spcBef>
        <a:spcPct val="30000"/>
      </a:spcBef>
      <a:spcAft>
        <a:spcPct val="0"/>
      </a:spcAft>
      <a:defRPr sz="1300" kern="1200">
        <a:solidFill>
          <a:schemeClr val="tx1"/>
        </a:solidFill>
        <a:latin typeface="+mn-lt"/>
        <a:ea typeface="+mn-ea"/>
        <a:cs typeface="+mn-cs"/>
      </a:defRPr>
    </a:lvl2pPr>
    <a:lvl3pPr marL="913130" algn="l" rtl="0" eaLnBrk="0" fontAlgn="base" hangingPunct="0">
      <a:spcBef>
        <a:spcPct val="30000"/>
      </a:spcBef>
      <a:spcAft>
        <a:spcPct val="0"/>
      </a:spcAft>
      <a:defRPr sz="1300" kern="1200">
        <a:solidFill>
          <a:schemeClr val="tx1"/>
        </a:solidFill>
        <a:latin typeface="+mn-lt"/>
        <a:ea typeface="+mn-ea"/>
        <a:cs typeface="+mn-cs"/>
      </a:defRPr>
    </a:lvl3pPr>
    <a:lvl4pPr marL="1370330" algn="l" rtl="0" eaLnBrk="0" fontAlgn="base" hangingPunct="0">
      <a:spcBef>
        <a:spcPct val="30000"/>
      </a:spcBef>
      <a:spcAft>
        <a:spcPct val="0"/>
      </a:spcAft>
      <a:defRPr sz="1300" kern="1200">
        <a:solidFill>
          <a:schemeClr val="tx1"/>
        </a:solidFill>
        <a:latin typeface="+mn-lt"/>
        <a:ea typeface="+mn-ea"/>
        <a:cs typeface="+mn-cs"/>
      </a:defRPr>
    </a:lvl4pPr>
    <a:lvl5pPr marL="1827530" algn="l" rtl="0" eaLnBrk="0" fontAlgn="base" hangingPunct="0">
      <a:spcBef>
        <a:spcPct val="30000"/>
      </a:spcBef>
      <a:spcAft>
        <a:spcPct val="0"/>
      </a:spcAft>
      <a:defRPr sz="1300" kern="1200">
        <a:solidFill>
          <a:schemeClr val="tx1"/>
        </a:solidFill>
        <a:latin typeface="+mn-lt"/>
        <a:ea typeface="+mn-ea"/>
        <a:cs typeface="+mn-cs"/>
      </a:defRPr>
    </a:lvl5pPr>
    <a:lvl6pPr marL="2285365" algn="l" defTabSz="913765" rtl="0" eaLnBrk="1" latinLnBrk="0" hangingPunct="1">
      <a:defRPr sz="1300" kern="1200">
        <a:solidFill>
          <a:schemeClr val="tx1"/>
        </a:solidFill>
        <a:latin typeface="+mn-lt"/>
        <a:ea typeface="+mn-ea"/>
        <a:cs typeface="+mn-cs"/>
      </a:defRPr>
    </a:lvl6pPr>
    <a:lvl7pPr marL="2742565" algn="l" defTabSz="913765" rtl="0" eaLnBrk="1" latinLnBrk="0" hangingPunct="1">
      <a:defRPr sz="1300" kern="1200">
        <a:solidFill>
          <a:schemeClr val="tx1"/>
        </a:solidFill>
        <a:latin typeface="+mn-lt"/>
        <a:ea typeface="+mn-ea"/>
        <a:cs typeface="+mn-cs"/>
      </a:defRPr>
    </a:lvl7pPr>
    <a:lvl8pPr marL="3199765" algn="l" defTabSz="913765" rtl="0" eaLnBrk="1" latinLnBrk="0" hangingPunct="1">
      <a:defRPr sz="1300" kern="1200">
        <a:solidFill>
          <a:schemeClr val="tx1"/>
        </a:solidFill>
        <a:latin typeface="+mn-lt"/>
        <a:ea typeface="+mn-ea"/>
        <a:cs typeface="+mn-cs"/>
      </a:defRPr>
    </a:lvl8pPr>
    <a:lvl9pPr marL="3656965" algn="l" defTabSz="913765"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亮亮图文旗舰店</a:t>
            </a:r>
          </a:p>
          <a:p>
            <a:r>
              <a:rPr lang="en-US" altLang="zh-CN" dirty="0"/>
              <a:t>https://liangliangtuwen.tmall.com</a:t>
            </a:r>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1</a:t>
            </a:fld>
            <a:endParaRPr lang="zh-CN" altLang="en-US"/>
          </a:p>
        </p:txBody>
      </p:sp>
    </p:spTree>
    <p:extLst>
      <p:ext uri="{BB962C8B-B14F-4D97-AF65-F5344CB8AC3E}">
        <p14:creationId xmlns:p14="http://schemas.microsoft.com/office/powerpoint/2010/main" val="11936950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EF2083-0386-4B43-BE3F-5071C6BB4FA7}" type="slidenum">
              <a:rPr lang="zh-CN" altLang="en-US" smtClean="0"/>
              <a:pPr/>
              <a:t>2</a:t>
            </a:fld>
            <a:endParaRPr lang="zh-CN" altLang="en-US"/>
          </a:p>
        </p:txBody>
      </p:sp>
    </p:spTree>
    <p:extLst>
      <p:ext uri="{BB962C8B-B14F-4D97-AF65-F5344CB8AC3E}">
        <p14:creationId xmlns:p14="http://schemas.microsoft.com/office/powerpoint/2010/main" val="2249755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3</a:t>
            </a:fld>
            <a:endParaRPr lang="zh-CN" altLang="en-US"/>
          </a:p>
        </p:txBody>
      </p:sp>
    </p:spTree>
    <p:extLst>
      <p:ext uri="{BB962C8B-B14F-4D97-AF65-F5344CB8AC3E}">
        <p14:creationId xmlns:p14="http://schemas.microsoft.com/office/powerpoint/2010/main" val="795547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pPr/>
              <a:t>4</a:t>
            </a:fld>
            <a:endParaRPr lang="zh-CN" altLang="en-US"/>
          </a:p>
        </p:txBody>
      </p:sp>
    </p:spTree>
    <p:extLst>
      <p:ext uri="{BB962C8B-B14F-4D97-AF65-F5344CB8AC3E}">
        <p14:creationId xmlns:p14="http://schemas.microsoft.com/office/powerpoint/2010/main" val="24503145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5</a:t>
            </a:fld>
            <a:endParaRPr lang="zh-CN" altLang="en-US"/>
          </a:p>
        </p:txBody>
      </p:sp>
    </p:spTree>
    <p:extLst>
      <p:ext uri="{BB962C8B-B14F-4D97-AF65-F5344CB8AC3E}">
        <p14:creationId xmlns:p14="http://schemas.microsoft.com/office/powerpoint/2010/main" val="8154101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7A595F-151A-46E4-9E47-C5DC07DD2024}" type="slidenum">
              <a:rPr lang="zh-CN" altLang="en-US" smtClean="0"/>
              <a:pPr/>
              <a:t>6</a:t>
            </a:fld>
            <a:endParaRPr lang="zh-CN" altLang="en-US"/>
          </a:p>
        </p:txBody>
      </p:sp>
    </p:spTree>
    <p:extLst>
      <p:ext uri="{BB962C8B-B14F-4D97-AF65-F5344CB8AC3E}">
        <p14:creationId xmlns:p14="http://schemas.microsoft.com/office/powerpoint/2010/main" val="26933433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7A595F-151A-46E4-9E47-C5DC07DD2024}" type="slidenum">
              <a:rPr lang="zh-CN" altLang="en-US" smtClean="0"/>
              <a:pPr/>
              <a:t>7</a:t>
            </a:fld>
            <a:endParaRPr lang="zh-CN" altLang="en-US"/>
          </a:p>
        </p:txBody>
      </p:sp>
    </p:spTree>
    <p:extLst>
      <p:ext uri="{BB962C8B-B14F-4D97-AF65-F5344CB8AC3E}">
        <p14:creationId xmlns:p14="http://schemas.microsoft.com/office/powerpoint/2010/main" val="32220332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7A595F-151A-46E4-9E47-C5DC07DD2024}" type="slidenum">
              <a:rPr lang="zh-CN" altLang="en-US" smtClean="0"/>
              <a:pPr/>
              <a:t>8</a:t>
            </a:fld>
            <a:endParaRPr lang="zh-CN" altLang="en-US"/>
          </a:p>
        </p:txBody>
      </p:sp>
    </p:spTree>
    <p:extLst>
      <p:ext uri="{BB962C8B-B14F-4D97-AF65-F5344CB8AC3E}">
        <p14:creationId xmlns:p14="http://schemas.microsoft.com/office/powerpoint/2010/main" val="4341703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7A595F-151A-46E4-9E47-C5DC07DD2024}" type="slidenum">
              <a:rPr lang="zh-CN" altLang="en-US" smtClean="0"/>
              <a:pPr/>
              <a:t>9</a:t>
            </a:fld>
            <a:endParaRPr lang="zh-CN" altLang="en-US"/>
          </a:p>
        </p:txBody>
      </p:sp>
    </p:spTree>
    <p:extLst>
      <p:ext uri="{BB962C8B-B14F-4D97-AF65-F5344CB8AC3E}">
        <p14:creationId xmlns:p14="http://schemas.microsoft.com/office/powerpoint/2010/main" val="17848309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7A595F-151A-46E4-9E47-C5DC07DD2024}" type="slidenum">
              <a:rPr lang="zh-CN" altLang="en-US" smtClean="0"/>
              <a:pPr/>
              <a:t>10</a:t>
            </a:fld>
            <a:endParaRPr lang="zh-CN" altLang="en-US"/>
          </a:p>
        </p:txBody>
      </p:sp>
    </p:spTree>
    <p:extLst>
      <p:ext uri="{BB962C8B-B14F-4D97-AF65-F5344CB8AC3E}">
        <p14:creationId xmlns:p14="http://schemas.microsoft.com/office/powerpoint/2010/main" val="10672506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11</a:t>
            </a:fld>
            <a:endParaRPr lang="zh-CN" altLang="en-US"/>
          </a:p>
        </p:txBody>
      </p:sp>
    </p:spTree>
    <p:extLst>
      <p:ext uri="{BB962C8B-B14F-4D97-AF65-F5344CB8AC3E}">
        <p14:creationId xmlns:p14="http://schemas.microsoft.com/office/powerpoint/2010/main" val="29559532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7A595F-151A-46E4-9E47-C5DC07DD2024}" type="slidenum">
              <a:rPr lang="zh-CN" altLang="en-US" smtClean="0"/>
              <a:pPr/>
              <a:t>12</a:t>
            </a:fld>
            <a:endParaRPr lang="zh-CN" altLang="en-US"/>
          </a:p>
        </p:txBody>
      </p:sp>
    </p:spTree>
    <p:extLst>
      <p:ext uri="{BB962C8B-B14F-4D97-AF65-F5344CB8AC3E}">
        <p14:creationId xmlns:p14="http://schemas.microsoft.com/office/powerpoint/2010/main" val="41168424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7A595F-151A-46E4-9E47-C5DC07DD2024}" type="slidenum">
              <a:rPr lang="zh-CN" altLang="en-US" smtClean="0"/>
              <a:pPr/>
              <a:t>13</a:t>
            </a:fld>
            <a:endParaRPr lang="zh-CN" altLang="en-US"/>
          </a:p>
        </p:txBody>
      </p:sp>
    </p:spTree>
    <p:extLst>
      <p:ext uri="{BB962C8B-B14F-4D97-AF65-F5344CB8AC3E}">
        <p14:creationId xmlns:p14="http://schemas.microsoft.com/office/powerpoint/2010/main" val="1348363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7A595F-151A-46E4-9E47-C5DC07DD2024}" type="slidenum">
              <a:rPr lang="zh-CN" altLang="en-US" smtClean="0"/>
              <a:pPr/>
              <a:t>14</a:t>
            </a:fld>
            <a:endParaRPr lang="zh-CN" altLang="en-US"/>
          </a:p>
        </p:txBody>
      </p:sp>
    </p:spTree>
    <p:extLst>
      <p:ext uri="{BB962C8B-B14F-4D97-AF65-F5344CB8AC3E}">
        <p14:creationId xmlns:p14="http://schemas.microsoft.com/office/powerpoint/2010/main" val="33467375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7A595F-151A-46E4-9E47-C5DC07DD2024}" type="slidenum">
              <a:rPr lang="zh-CN" altLang="en-US" smtClean="0"/>
              <a:pPr/>
              <a:t>15</a:t>
            </a:fld>
            <a:endParaRPr lang="zh-CN" altLang="en-US"/>
          </a:p>
        </p:txBody>
      </p:sp>
    </p:spTree>
    <p:extLst>
      <p:ext uri="{BB962C8B-B14F-4D97-AF65-F5344CB8AC3E}">
        <p14:creationId xmlns:p14="http://schemas.microsoft.com/office/powerpoint/2010/main" val="13558086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7A595F-151A-46E4-9E47-C5DC07DD2024}" type="slidenum">
              <a:rPr lang="zh-CN" altLang="en-US" smtClean="0"/>
              <a:pPr/>
              <a:t>16</a:t>
            </a:fld>
            <a:endParaRPr lang="zh-CN" altLang="en-US"/>
          </a:p>
        </p:txBody>
      </p:sp>
    </p:spTree>
    <p:extLst>
      <p:ext uri="{BB962C8B-B14F-4D97-AF65-F5344CB8AC3E}">
        <p14:creationId xmlns:p14="http://schemas.microsoft.com/office/powerpoint/2010/main" val="19370458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7A595F-151A-46E4-9E47-C5DC07DD2024}" type="slidenum">
              <a:rPr lang="zh-CN" altLang="en-US" smtClean="0"/>
              <a:pPr/>
              <a:t>17</a:t>
            </a:fld>
            <a:endParaRPr lang="zh-CN" altLang="en-US"/>
          </a:p>
        </p:txBody>
      </p:sp>
    </p:spTree>
    <p:extLst>
      <p:ext uri="{BB962C8B-B14F-4D97-AF65-F5344CB8AC3E}">
        <p14:creationId xmlns:p14="http://schemas.microsoft.com/office/powerpoint/2010/main" val="922008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7A595F-151A-46E4-9E47-C5DC07DD2024}" type="slidenum">
              <a:rPr lang="zh-CN" altLang="en-US" smtClean="0"/>
              <a:pPr/>
              <a:t>18</a:t>
            </a:fld>
            <a:endParaRPr lang="zh-CN" altLang="en-US"/>
          </a:p>
        </p:txBody>
      </p:sp>
    </p:spTree>
    <p:extLst>
      <p:ext uri="{BB962C8B-B14F-4D97-AF65-F5344CB8AC3E}">
        <p14:creationId xmlns:p14="http://schemas.microsoft.com/office/powerpoint/2010/main" val="21611314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7A595F-151A-46E4-9E47-C5DC07DD2024}" type="slidenum">
              <a:rPr lang="zh-CN" altLang="en-US" smtClean="0"/>
              <a:pPr/>
              <a:t>19</a:t>
            </a:fld>
            <a:endParaRPr lang="zh-CN" altLang="en-US"/>
          </a:p>
        </p:txBody>
      </p:sp>
    </p:spTree>
    <p:extLst>
      <p:ext uri="{BB962C8B-B14F-4D97-AF65-F5344CB8AC3E}">
        <p14:creationId xmlns:p14="http://schemas.microsoft.com/office/powerpoint/2010/main" val="3456106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7A595F-151A-46E4-9E47-C5DC07DD2024}" type="slidenum">
              <a:rPr lang="zh-CN" altLang="en-US" smtClean="0"/>
              <a:pPr/>
              <a:t>20</a:t>
            </a:fld>
            <a:endParaRPr lang="zh-CN" altLang="en-US"/>
          </a:p>
        </p:txBody>
      </p:sp>
    </p:spTree>
    <p:extLst>
      <p:ext uri="{BB962C8B-B14F-4D97-AF65-F5344CB8AC3E}">
        <p14:creationId xmlns:p14="http://schemas.microsoft.com/office/powerpoint/2010/main" val="21698431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7A595F-151A-46E4-9E47-C5DC07DD2024}" type="slidenum">
              <a:rPr lang="zh-CN" altLang="en-US" smtClean="0"/>
              <a:pPr/>
              <a:t>21</a:t>
            </a:fld>
            <a:endParaRPr lang="zh-CN" altLang="en-US"/>
          </a:p>
        </p:txBody>
      </p:sp>
    </p:spTree>
    <p:extLst>
      <p:ext uri="{BB962C8B-B14F-4D97-AF65-F5344CB8AC3E}">
        <p14:creationId xmlns:p14="http://schemas.microsoft.com/office/powerpoint/2010/main" val="33265696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7A595F-151A-46E4-9E47-C5DC07DD2024}" type="slidenum">
              <a:rPr lang="zh-CN" altLang="en-US" smtClean="0"/>
              <a:pPr/>
              <a:t>22</a:t>
            </a:fld>
            <a:endParaRPr lang="zh-CN" altLang="en-US"/>
          </a:p>
        </p:txBody>
      </p:sp>
    </p:spTree>
    <p:extLst>
      <p:ext uri="{BB962C8B-B14F-4D97-AF65-F5344CB8AC3E}">
        <p14:creationId xmlns:p14="http://schemas.microsoft.com/office/powerpoint/2010/main" val="14782883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23</a:t>
            </a:fld>
            <a:endParaRPr lang="zh-CN" altLang="en-US"/>
          </a:p>
        </p:txBody>
      </p:sp>
    </p:spTree>
    <p:extLst>
      <p:ext uri="{BB962C8B-B14F-4D97-AF65-F5344CB8AC3E}">
        <p14:creationId xmlns:p14="http://schemas.microsoft.com/office/powerpoint/2010/main" val="23317264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7A595F-151A-46E4-9E47-C5DC07DD2024}" type="slidenum">
              <a:rPr lang="zh-CN" altLang="en-US" smtClean="0"/>
              <a:pPr/>
              <a:t>24</a:t>
            </a:fld>
            <a:endParaRPr lang="zh-CN" altLang="en-US"/>
          </a:p>
        </p:txBody>
      </p:sp>
    </p:spTree>
    <p:extLst>
      <p:ext uri="{BB962C8B-B14F-4D97-AF65-F5344CB8AC3E}">
        <p14:creationId xmlns:p14="http://schemas.microsoft.com/office/powerpoint/2010/main" val="6735155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7A595F-151A-46E4-9E47-C5DC07DD2024}" type="slidenum">
              <a:rPr lang="zh-CN" altLang="en-US" smtClean="0"/>
              <a:pPr/>
              <a:t>25</a:t>
            </a:fld>
            <a:endParaRPr lang="zh-CN" altLang="en-US"/>
          </a:p>
        </p:txBody>
      </p:sp>
    </p:spTree>
    <p:extLst>
      <p:ext uri="{BB962C8B-B14F-4D97-AF65-F5344CB8AC3E}">
        <p14:creationId xmlns:p14="http://schemas.microsoft.com/office/powerpoint/2010/main" val="38799255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7A595F-151A-46E4-9E47-C5DC07DD2024}" type="slidenum">
              <a:rPr lang="zh-CN" altLang="en-US" smtClean="0"/>
              <a:pPr/>
              <a:t>26</a:t>
            </a:fld>
            <a:endParaRPr lang="zh-CN" altLang="en-US"/>
          </a:p>
        </p:txBody>
      </p:sp>
    </p:spTree>
    <p:extLst>
      <p:ext uri="{BB962C8B-B14F-4D97-AF65-F5344CB8AC3E}">
        <p14:creationId xmlns:p14="http://schemas.microsoft.com/office/powerpoint/2010/main" val="2698021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27</a:t>
            </a:fld>
            <a:endParaRPr lang="zh-CN" altLang="en-US"/>
          </a:p>
        </p:txBody>
      </p:sp>
    </p:spTree>
    <p:extLst>
      <p:ext uri="{BB962C8B-B14F-4D97-AF65-F5344CB8AC3E}">
        <p14:creationId xmlns:p14="http://schemas.microsoft.com/office/powerpoint/2010/main" val="41312124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7A595F-151A-46E4-9E47-C5DC07DD2024}" type="slidenum">
              <a:rPr lang="zh-CN" altLang="en-US" smtClean="0"/>
              <a:pPr/>
              <a:t>28</a:t>
            </a:fld>
            <a:endParaRPr lang="zh-CN" altLang="en-US"/>
          </a:p>
        </p:txBody>
      </p:sp>
    </p:spTree>
    <p:extLst>
      <p:ext uri="{BB962C8B-B14F-4D97-AF65-F5344CB8AC3E}">
        <p14:creationId xmlns:p14="http://schemas.microsoft.com/office/powerpoint/2010/main" val="40556850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F7A595F-151A-46E4-9E47-C5DC07DD2024}" type="slidenum">
              <a:rPr lang="zh-CN" altLang="en-US" smtClean="0"/>
              <a:pPr/>
              <a:t>29</a:t>
            </a:fld>
            <a:endParaRPr lang="zh-CN" altLang="en-US"/>
          </a:p>
        </p:txBody>
      </p:sp>
    </p:spTree>
    <p:extLst>
      <p:ext uri="{BB962C8B-B14F-4D97-AF65-F5344CB8AC3E}">
        <p14:creationId xmlns:p14="http://schemas.microsoft.com/office/powerpoint/2010/main" val="41617363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B912BD4-E37A-481F-A112-C0A86B1F4E6E}" type="slidenum">
              <a:rPr lang="zh-CN" altLang="en-US" smtClean="0"/>
              <a:pPr/>
              <a:t>30</a:t>
            </a:fld>
            <a:endParaRPr lang="zh-CN" altLang="en-US"/>
          </a:p>
        </p:txBody>
      </p:sp>
    </p:spTree>
    <p:extLst>
      <p:ext uri="{BB962C8B-B14F-4D97-AF65-F5344CB8AC3E}">
        <p14:creationId xmlns:p14="http://schemas.microsoft.com/office/powerpoint/2010/main" val="1482687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2BF82D2-7A68-459D-A996-9BDDA2518FA4}" type="datetimeFigureOut">
              <a:rPr lang="zh-CN" altLang="en-US" smtClean="0"/>
              <a:pPr/>
              <a:t>2020/5/30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E01EE5D-26FB-46D5-A381-ECFB35BF1D34}"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6" name="圆角矩形 5"/>
          <p:cNvSpPr/>
          <p:nvPr userDrawn="1"/>
        </p:nvSpPr>
        <p:spPr>
          <a:xfrm>
            <a:off x="0" y="1888133"/>
            <a:ext cx="12858750" cy="2088232"/>
          </a:xfrm>
          <a:prstGeom prst="roundRect">
            <a:avLst>
              <a:gd name="adj" fmla="val 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userDrawn="1"/>
        </p:nvSpPr>
        <p:spPr>
          <a:xfrm>
            <a:off x="1100783" y="1024037"/>
            <a:ext cx="3852428" cy="3852428"/>
          </a:xfrm>
          <a:prstGeom prst="ellipse">
            <a:avLst/>
          </a:prstGeom>
          <a:ln>
            <a:noFill/>
          </a:ln>
          <a:effectLst>
            <a:outerShdw blurRad="419100" dist="419100" dir="5400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椭圆 7"/>
          <p:cNvSpPr/>
          <p:nvPr userDrawn="1"/>
        </p:nvSpPr>
        <p:spPr>
          <a:xfrm>
            <a:off x="1784859" y="1672109"/>
            <a:ext cx="2520280" cy="2520280"/>
          </a:xfrm>
          <a:prstGeom prst="ellipse">
            <a:avLst/>
          </a:prstGeom>
          <a:solidFill>
            <a:schemeClr val="bg1"/>
          </a:solidFill>
          <a:ln>
            <a:noFill/>
          </a:ln>
          <a:effectLst>
            <a:outerShdw blurRad="419100" dist="419100" dir="5400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占位符 9"/>
          <p:cNvSpPr>
            <a:spLocks noGrp="1"/>
          </p:cNvSpPr>
          <p:nvPr>
            <p:ph type="body" sz="quarter" idx="10" hasCustomPrompt="1"/>
          </p:nvPr>
        </p:nvSpPr>
        <p:spPr>
          <a:xfrm>
            <a:off x="1981486" y="2140161"/>
            <a:ext cx="2127025" cy="1584176"/>
          </a:xfrm>
          <a:effectLst>
            <a:outerShdw blurRad="419100" dist="419100" dir="5400000" algn="ctr" rotWithShape="0">
              <a:srgbClr val="000000">
                <a:alpha val="43137"/>
              </a:srgbClr>
            </a:outerShdw>
          </a:effectLst>
        </p:spPr>
        <p:txBody>
          <a:bodyPr anchor="ctr">
            <a:noAutofit/>
          </a:bodyPr>
          <a:lstStyle>
            <a:lvl1pPr marL="0" indent="0" algn="ctr">
              <a:buNone/>
              <a:defRPr sz="13800">
                <a:solidFill>
                  <a:srgbClr val="0070C0"/>
                </a:solidFill>
                <a:latin typeface="Impact" panose="020B0806030902050204" pitchFamily="34" charset="0"/>
              </a:defRPr>
            </a:lvl1pPr>
          </a:lstStyle>
          <a:p>
            <a:pPr lvl="0"/>
            <a:r>
              <a:rPr lang="en-US" altLang="zh-CN" dirty="0"/>
              <a:t>01</a:t>
            </a:r>
            <a:endParaRPr lang="zh-CN" altLang="en-US" dirty="0"/>
          </a:p>
        </p:txBody>
      </p:sp>
      <p:sp>
        <p:nvSpPr>
          <p:cNvPr id="12" name="文本占位符 9"/>
          <p:cNvSpPr>
            <a:spLocks noGrp="1"/>
          </p:cNvSpPr>
          <p:nvPr>
            <p:ph type="body" sz="quarter" idx="12" hasCustomPrompt="1"/>
          </p:nvPr>
        </p:nvSpPr>
        <p:spPr>
          <a:xfrm>
            <a:off x="5317392" y="2032149"/>
            <a:ext cx="7344188" cy="1584176"/>
          </a:xfrm>
          <a:effectLst>
            <a:outerShdw blurRad="419100" dist="419100" dir="5400000" algn="ctr" rotWithShape="0">
              <a:srgbClr val="000000">
                <a:alpha val="43137"/>
              </a:srgbClr>
            </a:outerShdw>
          </a:effectLst>
        </p:spPr>
        <p:txBody>
          <a:bodyPr anchor="ctr">
            <a:noAutofit/>
          </a:bodyPr>
          <a:lstStyle>
            <a:lvl1pPr marL="0" indent="0" algn="ctr">
              <a:buNone/>
              <a:defRPr sz="6000">
                <a:solidFill>
                  <a:schemeClr val="bg1"/>
                </a:solidFill>
                <a:latin typeface="Impact" panose="020B0806030902050204" pitchFamily="34" charset="0"/>
              </a:defRPr>
            </a:lvl1pPr>
          </a:lstStyle>
          <a:p>
            <a:pPr lvl="0"/>
            <a:r>
              <a:rPr lang="zh-CN" altLang="en-US" dirty="0"/>
              <a:t>点击输入章节标题</a:t>
            </a:r>
          </a:p>
        </p:txBody>
      </p:sp>
      <p:sp>
        <p:nvSpPr>
          <p:cNvPr id="13" name="文本占位符 9"/>
          <p:cNvSpPr>
            <a:spLocks noGrp="1"/>
          </p:cNvSpPr>
          <p:nvPr>
            <p:ph type="body" sz="quarter" idx="13" hasCustomPrompt="1"/>
          </p:nvPr>
        </p:nvSpPr>
        <p:spPr>
          <a:xfrm>
            <a:off x="6089998" y="4005810"/>
            <a:ext cx="2664296" cy="702078"/>
          </a:xfrm>
          <a:effectLst/>
        </p:spPr>
        <p:txBody>
          <a:bodyPr anchor="t">
            <a:noAutofit/>
          </a:bodyPr>
          <a:lstStyle>
            <a:lvl1pPr marL="342900" indent="-342900" algn="ctr">
              <a:buFont typeface="Wingdings" panose="05000000000000000000" pitchFamily="2" charset="2"/>
              <a:buChar char="ü"/>
              <a:defRPr sz="2400">
                <a:solidFill>
                  <a:schemeClr val="tx1">
                    <a:lumMod val="65000"/>
                    <a:lumOff val="35000"/>
                  </a:schemeClr>
                </a:solidFill>
                <a:latin typeface="Impact" panose="020B0806030902050204" pitchFamily="34" charset="0"/>
              </a:defRPr>
            </a:lvl1pPr>
          </a:lstStyle>
          <a:p>
            <a:pPr lvl="0"/>
            <a:r>
              <a:rPr lang="zh-CN" altLang="en-US" dirty="0"/>
              <a:t>输入副标题</a:t>
            </a:r>
          </a:p>
        </p:txBody>
      </p:sp>
      <p:sp>
        <p:nvSpPr>
          <p:cNvPr id="14" name="文本占位符 9"/>
          <p:cNvSpPr>
            <a:spLocks noGrp="1"/>
          </p:cNvSpPr>
          <p:nvPr>
            <p:ph type="body" sz="quarter" idx="14" hasCustomPrompt="1"/>
          </p:nvPr>
        </p:nvSpPr>
        <p:spPr>
          <a:xfrm>
            <a:off x="9207005" y="4005810"/>
            <a:ext cx="2664296" cy="702078"/>
          </a:xfrm>
          <a:effectLst/>
        </p:spPr>
        <p:txBody>
          <a:bodyPr anchor="t">
            <a:noAutofit/>
          </a:bodyPr>
          <a:lstStyle>
            <a:lvl1pPr marL="342900" indent="-342900" algn="ctr">
              <a:buFont typeface="Wingdings" panose="05000000000000000000" pitchFamily="2" charset="2"/>
              <a:buChar char="ü"/>
              <a:defRPr sz="2400">
                <a:solidFill>
                  <a:schemeClr val="tx1">
                    <a:lumMod val="65000"/>
                    <a:lumOff val="35000"/>
                  </a:schemeClr>
                </a:solidFill>
                <a:latin typeface="Impact" panose="020B0806030902050204" pitchFamily="34" charset="0"/>
              </a:defRPr>
            </a:lvl1pPr>
          </a:lstStyle>
          <a:p>
            <a:pPr lvl="0"/>
            <a:r>
              <a:rPr lang="zh-CN" altLang="en-US" dirty="0"/>
              <a:t>输入副标题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1500"/>
                            </p:stCondLst>
                            <p:childTnLst>
                              <p:par>
                                <p:cTn id="21" presetID="56" presetClass="entr" presetSubtype="0" fill="hold" grpId="0" nodeType="afterEffect">
                                  <p:stCondLst>
                                    <p:cond delay="0"/>
                                  </p:stCondLst>
                                  <p:iterate type="lt">
                                    <p:tmPct val="10000"/>
                                  </p:iterate>
                                  <p:childTnLst>
                                    <p:set>
                                      <p:cBhvr>
                                        <p:cTn id="22" dur="1" fill="hold">
                                          <p:stCondLst>
                                            <p:cond delay="0"/>
                                          </p:stCondLst>
                                        </p:cTn>
                                        <p:tgtEl>
                                          <p:spTgt spid="10">
                                            <p:txEl>
                                              <p:pRg st="0" end="0"/>
                                            </p:txEl>
                                          </p:spTgt>
                                        </p:tgtEl>
                                        <p:attrNameLst>
                                          <p:attrName>style.visibility</p:attrName>
                                        </p:attrNameLst>
                                      </p:cBhvr>
                                      <p:to>
                                        <p:strVal val="visible"/>
                                      </p:to>
                                    </p:set>
                                    <p:anim by="(-#ppt_w*2)" calcmode="lin" valueType="num">
                                      <p:cBhvr rctx="PPT">
                                        <p:cTn id="23" dur="500" autoRev="1" fill="hold">
                                          <p:stCondLst>
                                            <p:cond delay="0"/>
                                          </p:stCondLst>
                                        </p:cTn>
                                        <p:tgtEl>
                                          <p:spTgt spid="10">
                                            <p:txEl>
                                              <p:pRg st="0" end="0"/>
                                            </p:txEl>
                                          </p:spTgt>
                                        </p:tgtEl>
                                        <p:attrNameLst>
                                          <p:attrName>ppt_w</p:attrName>
                                        </p:attrNameLst>
                                      </p:cBhvr>
                                    </p:anim>
                                    <p:anim by="(#ppt_w*0.50)" calcmode="lin" valueType="num">
                                      <p:cBhvr>
                                        <p:cTn id="24" dur="500" decel="50000" autoRev="1" fill="hold">
                                          <p:stCondLst>
                                            <p:cond delay="0"/>
                                          </p:stCondLst>
                                        </p:cTn>
                                        <p:tgtEl>
                                          <p:spTgt spid="10">
                                            <p:txEl>
                                              <p:pRg st="0" end="0"/>
                                            </p:txEl>
                                          </p:spTgt>
                                        </p:tgtEl>
                                        <p:attrNameLst>
                                          <p:attrName>ppt_x</p:attrName>
                                        </p:attrNameLst>
                                      </p:cBhvr>
                                    </p:anim>
                                    <p:anim from="(-#ppt_h/2)" to="(#ppt_y)" calcmode="lin" valueType="num">
                                      <p:cBhvr>
                                        <p:cTn id="25" dur="1000" fill="hold">
                                          <p:stCondLst>
                                            <p:cond delay="0"/>
                                          </p:stCondLst>
                                        </p:cTn>
                                        <p:tgtEl>
                                          <p:spTgt spid="10">
                                            <p:txEl>
                                              <p:pRg st="0" end="0"/>
                                            </p:txEl>
                                          </p:spTgt>
                                        </p:tgtEl>
                                        <p:attrNameLst>
                                          <p:attrName>ppt_y</p:attrName>
                                        </p:attrNameLst>
                                      </p:cBhvr>
                                    </p:anim>
                                    <p:animRot by="21600000">
                                      <p:cBhvr>
                                        <p:cTn id="26" dur="1000" fill="hold">
                                          <p:stCondLst>
                                            <p:cond delay="0"/>
                                          </p:stCondLst>
                                        </p:cTn>
                                        <p:tgtEl>
                                          <p:spTgt spid="10">
                                            <p:txEl>
                                              <p:pRg st="0" end="0"/>
                                            </p:txEl>
                                          </p:spTgt>
                                        </p:tgtEl>
                                        <p:attrNameLst>
                                          <p:attrName>r</p:attrName>
                                        </p:attrNameLst>
                                      </p:cBhvr>
                                    </p:animRot>
                                  </p:childTnLst>
                                </p:cTn>
                              </p:par>
                            </p:childTnLst>
                          </p:cTn>
                        </p:par>
                        <p:par>
                          <p:cTn id="27" fill="hold">
                            <p:stCondLst>
                              <p:cond delay="2599"/>
                            </p:stCondLst>
                            <p:childTnLst>
                              <p:par>
                                <p:cTn id="28" presetID="41" presetClass="entr" presetSubtype="0" fill="hold" grpId="0" nodeType="afterEffect">
                                  <p:stCondLst>
                                    <p:cond delay="0"/>
                                  </p:stCondLst>
                                  <p:iterate type="lt">
                                    <p:tmPct val="10000"/>
                                  </p:iterate>
                                  <p:childTnLst>
                                    <p:set>
                                      <p:cBhvr>
                                        <p:cTn id="29" dur="1" fill="hold">
                                          <p:stCondLst>
                                            <p:cond delay="0"/>
                                          </p:stCondLst>
                                        </p:cTn>
                                        <p:tgtEl>
                                          <p:spTgt spid="12">
                                            <p:txEl>
                                              <p:pRg st="0" end="0"/>
                                            </p:txEl>
                                          </p:spTgt>
                                        </p:tgtEl>
                                        <p:attrNameLst>
                                          <p:attrName>style.visibility</p:attrName>
                                        </p:attrNameLst>
                                      </p:cBhvr>
                                      <p:to>
                                        <p:strVal val="visible"/>
                                      </p:to>
                                    </p:set>
                                    <p:anim calcmode="lin" valueType="num">
                                      <p:cBhvr>
                                        <p:cTn id="30" dur="500" fill="hold"/>
                                        <p:tgtEl>
                                          <p:spTgt spid="12">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31" dur="500" fill="hold"/>
                                        <p:tgtEl>
                                          <p:spTgt spid="12">
                                            <p:txEl>
                                              <p:pRg st="0" end="0"/>
                                            </p:txEl>
                                          </p:spTgt>
                                        </p:tgtEl>
                                        <p:attrNameLst>
                                          <p:attrName>ppt_y</p:attrName>
                                        </p:attrNameLst>
                                      </p:cBhvr>
                                      <p:tavLst>
                                        <p:tav tm="0">
                                          <p:val>
                                            <p:strVal val="#ppt_y"/>
                                          </p:val>
                                        </p:tav>
                                        <p:tav tm="100000">
                                          <p:val>
                                            <p:strVal val="#ppt_y"/>
                                          </p:val>
                                        </p:tav>
                                      </p:tavLst>
                                    </p:anim>
                                    <p:anim calcmode="lin" valueType="num">
                                      <p:cBhvr>
                                        <p:cTn id="32" dur="500" fill="hold"/>
                                        <p:tgtEl>
                                          <p:spTgt spid="12">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3" dur="500" fill="hold"/>
                                        <p:tgtEl>
                                          <p:spTgt spid="12">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4" dur="500" tmFilter="0,0; .5, 1; 1, 1"/>
                                        <p:tgtEl>
                                          <p:spTgt spid="12">
                                            <p:txEl>
                                              <p:pRg st="0" end="0"/>
                                            </p:txEl>
                                          </p:spTgt>
                                        </p:tgtEl>
                                      </p:cBhvr>
                                    </p:animEffect>
                                  </p:childTnLst>
                                </p:cTn>
                              </p:par>
                            </p:childTnLst>
                          </p:cTn>
                        </p:par>
                        <p:par>
                          <p:cTn id="35" fill="hold">
                            <p:stCondLst>
                              <p:cond delay="3450"/>
                            </p:stCondLst>
                            <p:childTnLst>
                              <p:par>
                                <p:cTn id="36" presetID="22" presetClass="entr" presetSubtype="1" fill="hold" grpId="0" nodeType="afterEffect">
                                  <p:stCondLst>
                                    <p:cond delay="0"/>
                                  </p:stCondLst>
                                  <p:childTnLst>
                                    <p:set>
                                      <p:cBhvr>
                                        <p:cTn id="37" dur="1" fill="hold">
                                          <p:stCondLst>
                                            <p:cond delay="0"/>
                                          </p:stCondLst>
                                        </p:cTn>
                                        <p:tgtEl>
                                          <p:spTgt spid="13">
                                            <p:txEl>
                                              <p:pRg st="0" end="0"/>
                                            </p:txEl>
                                          </p:spTgt>
                                        </p:tgtEl>
                                        <p:attrNameLst>
                                          <p:attrName>style.visibility</p:attrName>
                                        </p:attrNameLst>
                                      </p:cBhvr>
                                      <p:to>
                                        <p:strVal val="visible"/>
                                      </p:to>
                                    </p:set>
                                    <p:animEffect transition="in" filter="wipe(up)">
                                      <p:cBhvr>
                                        <p:cTn id="38" dur="500"/>
                                        <p:tgtEl>
                                          <p:spTgt spid="13">
                                            <p:txEl>
                                              <p:pRg st="0" end="0"/>
                                            </p:txEl>
                                          </p:spTgt>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14">
                                            <p:txEl>
                                              <p:pRg st="0" end="0"/>
                                            </p:txEl>
                                          </p:spTgt>
                                        </p:tgtEl>
                                        <p:attrNameLst>
                                          <p:attrName>style.visibility</p:attrName>
                                        </p:attrNameLst>
                                      </p:cBhvr>
                                      <p:to>
                                        <p:strVal val="visible"/>
                                      </p:to>
                                    </p:set>
                                    <p:animEffect transition="in" filter="wipe(up)">
                                      <p:cBhvr>
                                        <p:cTn id="41"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build="p">
        <p:tmplLst>
          <p:tmpl lvl="1">
            <p:tnLst>
              <p:par>
                <p:cTn presetID="56" presetClass="entr" presetSubtype="0" fill="hold" nodeType="afterEffect">
                  <p:stCondLst>
                    <p:cond delay="0"/>
                  </p:stCondLst>
                  <p:iterate type="lt">
                    <p:tmPct val="10000"/>
                  </p:iterate>
                  <p:childTnLst>
                    <p:set>
                      <p:cBhvr>
                        <p:cTn dur="1" fill="hold">
                          <p:stCondLst>
                            <p:cond delay="0"/>
                          </p:stCondLst>
                        </p:cTn>
                        <p:tgtEl>
                          <p:spTgt spid="10"/>
                        </p:tgtEl>
                        <p:attrNameLst>
                          <p:attrName>style.visibility</p:attrName>
                        </p:attrNameLst>
                      </p:cBhvr>
                      <p:to>
                        <p:strVal val="visible"/>
                      </p:to>
                    </p:set>
                    <p:anim by="(-#ppt_w*2)" calcmode="lin" valueType="num">
                      <p:cBhvr rctx="PPT">
                        <p:cTn dur="500" autoRev="1" fill="hold">
                          <p:stCondLst>
                            <p:cond delay="0"/>
                          </p:stCondLst>
                        </p:cTn>
                        <p:tgtEl>
                          <p:spTgt spid="10"/>
                        </p:tgtEl>
                        <p:attrNameLst>
                          <p:attrName>ppt_w</p:attrName>
                        </p:attrNameLst>
                      </p:cBhvr>
                    </p:anim>
                    <p:anim by="(#ppt_w*0.50)" calcmode="lin" valueType="num">
                      <p:cBhvr>
                        <p:cTn dur="500" decel="50000" autoRev="1" fill="hold">
                          <p:stCondLst>
                            <p:cond delay="0"/>
                          </p:stCondLst>
                        </p:cTn>
                        <p:tgtEl>
                          <p:spTgt spid="10"/>
                        </p:tgtEl>
                        <p:attrNameLst>
                          <p:attrName>ppt_x</p:attrName>
                        </p:attrNameLst>
                      </p:cBhvr>
                    </p:anim>
                    <p:anim from="(-#ppt_h/2)" to="(#ppt_y)" calcmode="lin" valueType="num">
                      <p:cBhvr>
                        <p:cTn dur="1000" fill="hold">
                          <p:stCondLst>
                            <p:cond delay="0"/>
                          </p:stCondLst>
                        </p:cTn>
                        <p:tgtEl>
                          <p:spTgt spid="10"/>
                        </p:tgtEl>
                        <p:attrNameLst>
                          <p:attrName>ppt_y</p:attrName>
                        </p:attrNameLst>
                      </p:cBhvr>
                    </p:anim>
                    <p:animRot by="21600000">
                      <p:cBhvr>
                        <p:cTn dur="1000" fill="hold">
                          <p:stCondLst>
                            <p:cond delay="0"/>
                          </p:stCondLst>
                        </p:cTn>
                        <p:tgtEl>
                          <p:spTgt spid="10"/>
                        </p:tgtEl>
                        <p:attrNameLst>
                          <p:attrName>r</p:attrName>
                        </p:attrNameLst>
                      </p:cBhvr>
                    </p:animRot>
                  </p:childTnLst>
                </p:cTn>
              </p:par>
            </p:tnLst>
          </p:tmpl>
        </p:tmplLst>
      </p:bldP>
      <p:bldP spid="12" grpId="0" build="p">
        <p:tmplLst>
          <p:tmpl lvl="1">
            <p:tnLst>
              <p:par>
                <p:cTn presetID="41" presetClass="entr" presetSubtype="0" fill="hold" nodeType="afterEffect">
                  <p:stCondLst>
                    <p:cond delay="0"/>
                  </p:stCondLst>
                  <p:iterate type="lt">
                    <p:tmPct val="10000"/>
                  </p:iterate>
                  <p:childTnLst>
                    <p:set>
                      <p:cBhvr>
                        <p:cTn dur="1" fill="hold">
                          <p:stCondLst>
                            <p:cond delay="0"/>
                          </p:stCondLst>
                        </p:cTn>
                        <p:tgtEl>
                          <p:spTgt spid="12"/>
                        </p:tgtEl>
                        <p:attrNameLst>
                          <p:attrName>style.visibility</p:attrName>
                        </p:attrNameLst>
                      </p:cBhvr>
                      <p:to>
                        <p:strVal val="visible"/>
                      </p:to>
                    </p:set>
                    <p:anim calcmode="lin" valueType="num">
                      <p:cBhvr>
                        <p:cTn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dur="500" fill="hold"/>
                        <p:tgtEl>
                          <p:spTgt spid="12"/>
                        </p:tgtEl>
                        <p:attrNameLst>
                          <p:attrName>ppt_y</p:attrName>
                        </p:attrNameLst>
                      </p:cBhvr>
                      <p:tavLst>
                        <p:tav tm="0">
                          <p:val>
                            <p:strVal val="#ppt_y"/>
                          </p:val>
                        </p:tav>
                        <p:tav tm="100000">
                          <p:val>
                            <p:strVal val="#ppt_y"/>
                          </p:val>
                        </p:tav>
                      </p:tavLst>
                    </p:anim>
                    <p:anim calcmode="lin" valueType="num">
                      <p:cBhvr>
                        <p:cTn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dur="500" tmFilter="0,0; .5, 1; 1, 1"/>
                        <p:tgtEl>
                          <p:spTgt spid="12"/>
                        </p:tgtEl>
                      </p:cBhvr>
                    </p:animEffect>
                  </p:childTnLst>
                </p:cTn>
              </p:par>
            </p:tnLst>
          </p:tmpl>
        </p:tmplLst>
      </p:bldP>
      <p:bldP spid="13" grpId="0" build="p">
        <p:tmplLst>
          <p:tmpl lvl="1">
            <p:tnLst>
              <p:par>
                <p:cTn presetID="22" presetClass="entr" presetSubtype="1"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wipe(up)">
                      <p:cBhvr>
                        <p:cTn dur="500"/>
                        <p:tgtEl>
                          <p:spTgt spid="13"/>
                        </p:tgtEl>
                      </p:cBhvr>
                    </p:animEffect>
                  </p:childTnLst>
                </p:cTn>
              </p:par>
            </p:tnLst>
          </p:tmpl>
        </p:tmplLst>
      </p:bldP>
      <p:bldP spid="14" grpId="0" build="p">
        <p:tmplLst>
          <p:tmpl lvl="1">
            <p:tnLst>
              <p:par>
                <p:cTn presetID="22" presetClass="entr" presetSubtype="1" fill="hold" nodeType="with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wipe(up)">
                      <p:cBhvr>
                        <p:cTn dur="500"/>
                        <p:tgtEl>
                          <p:spTgt spid="14"/>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6" name="圆角矩形 5"/>
          <p:cNvSpPr/>
          <p:nvPr userDrawn="1"/>
        </p:nvSpPr>
        <p:spPr>
          <a:xfrm>
            <a:off x="0" y="375965"/>
            <a:ext cx="12858750" cy="698195"/>
          </a:xfrm>
          <a:prstGeom prst="roundRect">
            <a:avLst>
              <a:gd name="adj" fmla="val 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userDrawn="1"/>
        </p:nvSpPr>
        <p:spPr>
          <a:xfrm>
            <a:off x="146156" y="55258"/>
            <a:ext cx="1260000" cy="1260000"/>
          </a:xfrm>
          <a:prstGeom prst="ellipse">
            <a:avLst/>
          </a:prstGeom>
          <a:ln>
            <a:noFill/>
          </a:ln>
          <a:effectLst>
            <a:outerShdw blurRad="419100" dist="419100" dir="5400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椭圆 7"/>
          <p:cNvSpPr/>
          <p:nvPr userDrawn="1"/>
        </p:nvSpPr>
        <p:spPr>
          <a:xfrm>
            <a:off x="326156" y="235258"/>
            <a:ext cx="900000" cy="900000"/>
          </a:xfrm>
          <a:prstGeom prst="ellipse">
            <a:avLst/>
          </a:prstGeom>
          <a:solidFill>
            <a:schemeClr val="bg1"/>
          </a:solidFill>
          <a:ln>
            <a:noFill/>
          </a:ln>
          <a:effectLst>
            <a:outerShdw blurRad="419100" dist="419100" dir="5400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dirty="0">
              <a:solidFill>
                <a:srgbClr val="0070C0"/>
              </a:solidFill>
            </a:endParaRPr>
          </a:p>
        </p:txBody>
      </p:sp>
      <p:sp>
        <p:nvSpPr>
          <p:cNvPr id="10" name="文本占位符 9"/>
          <p:cNvSpPr>
            <a:spLocks noGrp="1"/>
          </p:cNvSpPr>
          <p:nvPr>
            <p:ph type="body" sz="quarter" idx="13" hasCustomPrompt="1"/>
          </p:nvPr>
        </p:nvSpPr>
        <p:spPr>
          <a:xfrm>
            <a:off x="1768476" y="454672"/>
            <a:ext cx="3168922" cy="503560"/>
          </a:xfrm>
        </p:spPr>
        <p:txBody>
          <a:bodyPr anchor="ctr">
            <a:normAutofit/>
          </a:bodyPr>
          <a:lstStyle>
            <a:lvl1pPr marL="0" indent="0">
              <a:buNone/>
              <a:defRPr sz="2400">
                <a:solidFill>
                  <a:schemeClr val="bg1"/>
                </a:solidFill>
              </a:defRPr>
            </a:lvl1pPr>
          </a:lstStyle>
          <a:p>
            <a:pPr lvl="0"/>
            <a:r>
              <a:rPr lang="zh-CN" altLang="en-US" dirty="0"/>
              <a:t>点击输入标题内容</a:t>
            </a:r>
          </a:p>
        </p:txBody>
      </p:sp>
      <p:pic>
        <p:nvPicPr>
          <p:cNvPr id="11" name="Picture 2" descr="F:\0PPT素材\北京大学3.png"/>
          <p:cNvPicPr>
            <a:picLocks noChangeAspect="1" noChangeArrowheads="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88853" y="301308"/>
            <a:ext cx="774607" cy="767901"/>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46CC13AD-E506-4252-A1B6-CD651EE30F8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1559" y="153775"/>
            <a:ext cx="1029194" cy="106296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84238" y="385763"/>
            <a:ext cx="11090275" cy="1397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84238" y="1925638"/>
            <a:ext cx="11090275" cy="458946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84238" y="6704013"/>
            <a:ext cx="2892425" cy="384175"/>
          </a:xfrm>
          <a:prstGeom prst="rect">
            <a:avLst/>
          </a:prstGeom>
        </p:spPr>
        <p:txBody>
          <a:bodyPr vert="horz" lIns="91440" tIns="45720" rIns="91440" bIns="45720" rtlCol="0" anchor="ctr"/>
          <a:lstStyle>
            <a:lvl1pPr algn="l">
              <a:defRPr sz="1200">
                <a:solidFill>
                  <a:schemeClr val="tx1">
                    <a:tint val="75000"/>
                  </a:schemeClr>
                </a:solidFill>
              </a:defRPr>
            </a:lvl1pPr>
          </a:lstStyle>
          <a:p>
            <a:fld id="{32BF82D2-7A68-459D-A996-9BDDA2518FA4}" type="datetimeFigureOut">
              <a:rPr lang="zh-CN" altLang="en-US" smtClean="0"/>
              <a:pPr/>
              <a:t>2020/5/30</a:t>
            </a:fld>
            <a:endParaRPr lang="zh-CN" altLang="en-US"/>
          </a:p>
        </p:txBody>
      </p:sp>
      <p:sp>
        <p:nvSpPr>
          <p:cNvPr id="5" name="页脚占位符 4"/>
          <p:cNvSpPr>
            <a:spLocks noGrp="1"/>
          </p:cNvSpPr>
          <p:nvPr>
            <p:ph type="ftr" sz="quarter" idx="3"/>
          </p:nvPr>
        </p:nvSpPr>
        <p:spPr>
          <a:xfrm>
            <a:off x="4259263" y="6704013"/>
            <a:ext cx="4340225" cy="38417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082088" y="6704013"/>
            <a:ext cx="2892425" cy="384175"/>
          </a:xfrm>
          <a:prstGeom prst="rect">
            <a:avLst/>
          </a:prstGeom>
        </p:spPr>
        <p:txBody>
          <a:bodyPr vert="horz" lIns="91440" tIns="45720" rIns="91440" bIns="45720" rtlCol="0" anchor="ctr"/>
          <a:lstStyle>
            <a:lvl1pPr algn="r">
              <a:defRPr sz="1200">
                <a:solidFill>
                  <a:schemeClr val="tx1">
                    <a:tint val="75000"/>
                  </a:schemeClr>
                </a:solidFill>
              </a:defRPr>
            </a:lvl1pPr>
          </a:lstStyle>
          <a:p>
            <a:fld id="{3E01EE5D-26FB-46D5-A381-ECFB35BF1D34}"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notesSlide" Target="../notesSlides/notesSlide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1.xml"/><Relationship Id="rId5" Type="http://schemas.openxmlformats.org/officeDocument/2006/relationships/tags" Target="../tags/tag5.xml"/><Relationship Id="rId4" Type="http://schemas.openxmlformats.org/officeDocument/2006/relationships/tags" Target="../tags/tag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15.tiff"/><Relationship Id="rId3" Type="http://schemas.openxmlformats.org/officeDocument/2006/relationships/image" Target="../media/image10.tiff"/><Relationship Id="rId7" Type="http://schemas.openxmlformats.org/officeDocument/2006/relationships/image" Target="../media/image14.tiff"/><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3.tiff"/><Relationship Id="rId5" Type="http://schemas.openxmlformats.org/officeDocument/2006/relationships/image" Target="../media/image12.tiff"/><Relationship Id="rId4" Type="http://schemas.openxmlformats.org/officeDocument/2006/relationships/image" Target="../media/image11.tiff"/></Relationships>
</file>

<file path=ppt/slides/_rels/slide13.xml.rels><?xml version="1.0" encoding="UTF-8" standalone="yes"?>
<Relationships xmlns="http://schemas.openxmlformats.org/package/2006/relationships"><Relationship Id="rId8" Type="http://schemas.openxmlformats.org/officeDocument/2006/relationships/image" Target="../media/image21.tiff"/><Relationship Id="rId13" Type="http://schemas.openxmlformats.org/officeDocument/2006/relationships/image" Target="../media/image26.tiff"/><Relationship Id="rId3" Type="http://schemas.openxmlformats.org/officeDocument/2006/relationships/image" Target="../media/image16.tiff"/><Relationship Id="rId7" Type="http://schemas.openxmlformats.org/officeDocument/2006/relationships/image" Target="../media/image20.tiff"/><Relationship Id="rId12" Type="http://schemas.openxmlformats.org/officeDocument/2006/relationships/image" Target="../media/image25.tiff"/><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19.tiff"/><Relationship Id="rId11" Type="http://schemas.openxmlformats.org/officeDocument/2006/relationships/image" Target="../media/image24.tiff"/><Relationship Id="rId5" Type="http://schemas.openxmlformats.org/officeDocument/2006/relationships/image" Target="../media/image18.tiff"/><Relationship Id="rId10" Type="http://schemas.openxmlformats.org/officeDocument/2006/relationships/image" Target="../media/image23.tiff"/><Relationship Id="rId4" Type="http://schemas.openxmlformats.org/officeDocument/2006/relationships/image" Target="../media/image17.tiff"/><Relationship Id="rId9" Type="http://schemas.openxmlformats.org/officeDocument/2006/relationships/image" Target="../media/image22.tiff"/><Relationship Id="rId14" Type="http://schemas.openxmlformats.org/officeDocument/2006/relationships/image" Target="../media/image27.tiff"/></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29.tiff"/><Relationship Id="rId4" Type="http://schemas.openxmlformats.org/officeDocument/2006/relationships/image" Target="../media/image28.tiff"/></Relationships>
</file>

<file path=ppt/slides/_rels/slide15.xml.rels><?xml version="1.0" encoding="UTF-8" standalone="yes"?>
<Relationships xmlns="http://schemas.openxmlformats.org/package/2006/relationships"><Relationship Id="rId8" Type="http://schemas.openxmlformats.org/officeDocument/2006/relationships/image" Target="../media/image11.tiff"/><Relationship Id="rId3" Type="http://schemas.openxmlformats.org/officeDocument/2006/relationships/image" Target="../media/image30.tiff"/><Relationship Id="rId7" Type="http://schemas.openxmlformats.org/officeDocument/2006/relationships/image" Target="../media/image10.tiff"/><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33.tiff"/><Relationship Id="rId5" Type="http://schemas.openxmlformats.org/officeDocument/2006/relationships/image" Target="../media/image32.tiff"/><Relationship Id="rId4" Type="http://schemas.openxmlformats.org/officeDocument/2006/relationships/image" Target="../media/image31.tiff"/></Relationships>
</file>

<file path=ppt/slides/_rels/slide16.xml.rels><?xml version="1.0" encoding="UTF-8" standalone="yes"?>
<Relationships xmlns="http://schemas.openxmlformats.org/package/2006/relationships"><Relationship Id="rId8" Type="http://schemas.openxmlformats.org/officeDocument/2006/relationships/image" Target="../media/image39.tiff"/><Relationship Id="rId3" Type="http://schemas.openxmlformats.org/officeDocument/2006/relationships/image" Target="../media/image34.tiff"/><Relationship Id="rId7" Type="http://schemas.openxmlformats.org/officeDocument/2006/relationships/image" Target="../media/image38.tiff"/><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37.tiff"/><Relationship Id="rId5" Type="http://schemas.openxmlformats.org/officeDocument/2006/relationships/image" Target="../media/image36.tiff"/><Relationship Id="rId4" Type="http://schemas.openxmlformats.org/officeDocument/2006/relationships/image" Target="../media/image35.tiff"/></Relationships>
</file>

<file path=ppt/slides/_rels/slide17.xml.rels><?xml version="1.0" encoding="UTF-8" standalone="yes"?>
<Relationships xmlns="http://schemas.openxmlformats.org/package/2006/relationships"><Relationship Id="rId8" Type="http://schemas.openxmlformats.org/officeDocument/2006/relationships/image" Target="../media/image13.tiff"/><Relationship Id="rId3" Type="http://schemas.openxmlformats.org/officeDocument/2006/relationships/image" Target="../media/image40.tiff"/><Relationship Id="rId7" Type="http://schemas.openxmlformats.org/officeDocument/2006/relationships/image" Target="../media/image12.tiff"/><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43.tiff"/><Relationship Id="rId5" Type="http://schemas.openxmlformats.org/officeDocument/2006/relationships/image" Target="../media/image42.tiff"/><Relationship Id="rId4" Type="http://schemas.openxmlformats.org/officeDocument/2006/relationships/image" Target="../media/image41.tiff"/></Relationships>
</file>

<file path=ppt/slides/_rels/slide18.xml.rels><?xml version="1.0" encoding="UTF-8" standalone="yes"?>
<Relationships xmlns="http://schemas.openxmlformats.org/package/2006/relationships"><Relationship Id="rId8" Type="http://schemas.openxmlformats.org/officeDocument/2006/relationships/image" Target="../media/image49.tiff"/><Relationship Id="rId13" Type="http://schemas.openxmlformats.org/officeDocument/2006/relationships/image" Target="../media/image54.tiff"/><Relationship Id="rId3" Type="http://schemas.openxmlformats.org/officeDocument/2006/relationships/image" Target="../media/image44.tiff"/><Relationship Id="rId7" Type="http://schemas.openxmlformats.org/officeDocument/2006/relationships/image" Target="../media/image48.tiff"/><Relationship Id="rId12" Type="http://schemas.openxmlformats.org/officeDocument/2006/relationships/image" Target="../media/image53.tiff"/><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47.tiff"/><Relationship Id="rId11" Type="http://schemas.openxmlformats.org/officeDocument/2006/relationships/image" Target="../media/image52.tiff"/><Relationship Id="rId5" Type="http://schemas.openxmlformats.org/officeDocument/2006/relationships/image" Target="../media/image46.tiff"/><Relationship Id="rId10" Type="http://schemas.openxmlformats.org/officeDocument/2006/relationships/image" Target="../media/image51.tiff"/><Relationship Id="rId4" Type="http://schemas.openxmlformats.org/officeDocument/2006/relationships/image" Target="../media/image45.tiff"/><Relationship Id="rId9" Type="http://schemas.openxmlformats.org/officeDocument/2006/relationships/image" Target="../media/image50.tiff"/><Relationship Id="rId14" Type="http://schemas.openxmlformats.org/officeDocument/2006/relationships/image" Target="../media/image55.tiff"/></Relationships>
</file>

<file path=ppt/slides/_rels/slide19.xml.rels><?xml version="1.0" encoding="UTF-8" standalone="yes"?>
<Relationships xmlns="http://schemas.openxmlformats.org/package/2006/relationships"><Relationship Id="rId3" Type="http://schemas.openxmlformats.org/officeDocument/2006/relationships/image" Target="../media/image56.tiff"/><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57.tiff"/><Relationship Id="rId5" Type="http://schemas.openxmlformats.org/officeDocument/2006/relationships/image" Target="../media/image26.png"/></Relationships>
</file>

<file path=ppt/slides/_rels/slide20.xml.rels><?xml version="1.0" encoding="UTF-8" standalone="yes"?>
<Relationships xmlns="http://schemas.openxmlformats.org/package/2006/relationships"><Relationship Id="rId8" Type="http://schemas.openxmlformats.org/officeDocument/2006/relationships/image" Target="../media/image63.tiff"/><Relationship Id="rId3" Type="http://schemas.openxmlformats.org/officeDocument/2006/relationships/image" Target="../media/image58.tiff"/><Relationship Id="rId7" Type="http://schemas.openxmlformats.org/officeDocument/2006/relationships/image" Target="../media/image62.tiff"/><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61.tiff"/><Relationship Id="rId5" Type="http://schemas.openxmlformats.org/officeDocument/2006/relationships/image" Target="../media/image60.tiff"/><Relationship Id="rId4" Type="http://schemas.openxmlformats.org/officeDocument/2006/relationships/image" Target="../media/image59.tiff"/></Relationships>
</file>

<file path=ppt/slides/_rels/slide21.xml.rels><?xml version="1.0" encoding="UTF-8" standalone="yes"?>
<Relationships xmlns="http://schemas.openxmlformats.org/package/2006/relationships"><Relationship Id="rId8" Type="http://schemas.openxmlformats.org/officeDocument/2006/relationships/image" Target="../media/image69.tiff"/><Relationship Id="rId13" Type="http://schemas.openxmlformats.org/officeDocument/2006/relationships/image" Target="../media/image74.tiff"/><Relationship Id="rId3" Type="http://schemas.openxmlformats.org/officeDocument/2006/relationships/image" Target="../media/image64.tiff"/><Relationship Id="rId7" Type="http://schemas.openxmlformats.org/officeDocument/2006/relationships/image" Target="../media/image68.tiff"/><Relationship Id="rId12" Type="http://schemas.openxmlformats.org/officeDocument/2006/relationships/image" Target="../media/image73.tiff"/><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67.tiff"/><Relationship Id="rId11" Type="http://schemas.openxmlformats.org/officeDocument/2006/relationships/image" Target="../media/image72.tiff"/><Relationship Id="rId5" Type="http://schemas.openxmlformats.org/officeDocument/2006/relationships/image" Target="../media/image66.tiff"/><Relationship Id="rId10" Type="http://schemas.openxmlformats.org/officeDocument/2006/relationships/image" Target="../media/image71.tiff"/><Relationship Id="rId4" Type="http://schemas.openxmlformats.org/officeDocument/2006/relationships/image" Target="../media/image65.tiff"/><Relationship Id="rId9" Type="http://schemas.openxmlformats.org/officeDocument/2006/relationships/image" Target="../media/image70.tiff"/><Relationship Id="rId14" Type="http://schemas.openxmlformats.org/officeDocument/2006/relationships/image" Target="../media/image75.tiff"/></Relationships>
</file>

<file path=ppt/slides/_rels/slide22.xml.rels><?xml version="1.0" encoding="UTF-8" standalone="yes"?>
<Relationships xmlns="http://schemas.openxmlformats.org/package/2006/relationships"><Relationship Id="rId3" Type="http://schemas.openxmlformats.org/officeDocument/2006/relationships/image" Target="../media/image76.tiff"/><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77.tiff"/><Relationship Id="rId5" Type="http://schemas.openxmlformats.org/officeDocument/2006/relationships/image" Target="../media/image2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image" Target="../media/image83.tiff"/><Relationship Id="rId3" Type="http://schemas.openxmlformats.org/officeDocument/2006/relationships/image" Target="../media/image78.tiff"/><Relationship Id="rId7" Type="http://schemas.openxmlformats.org/officeDocument/2006/relationships/image" Target="../media/image82.tiff"/><Relationship Id="rId12" Type="http://schemas.openxmlformats.org/officeDocument/2006/relationships/image" Target="../media/image87.tiff"/><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81.tiff"/><Relationship Id="rId11" Type="http://schemas.openxmlformats.org/officeDocument/2006/relationships/image" Target="../media/image86.tiff"/><Relationship Id="rId5" Type="http://schemas.openxmlformats.org/officeDocument/2006/relationships/image" Target="../media/image80.tiff"/><Relationship Id="rId10" Type="http://schemas.openxmlformats.org/officeDocument/2006/relationships/image" Target="../media/image85.tiff"/><Relationship Id="rId4" Type="http://schemas.openxmlformats.org/officeDocument/2006/relationships/image" Target="../media/image79.tiff"/><Relationship Id="rId9" Type="http://schemas.openxmlformats.org/officeDocument/2006/relationships/image" Target="../media/image84.tiff"/></Relationships>
</file>

<file path=ppt/slides/_rels/slide2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5.xml"/><Relationship Id="rId1" Type="http://schemas.openxmlformats.org/officeDocument/2006/relationships/slideLayout" Target="../slideLayouts/slideLayout4.xml"/><Relationship Id="rId5" Type="http://schemas.openxmlformats.org/officeDocument/2006/relationships/image" Target="../media/image90.png"/><Relationship Id="rId4" Type="http://schemas.openxmlformats.org/officeDocument/2006/relationships/image" Target="../media/image89.png"/></Relationships>
</file>

<file path=ppt/slides/_rels/slide2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6.xml"/><Relationship Id="rId1" Type="http://schemas.openxmlformats.org/officeDocument/2006/relationships/slideLayout" Target="../slideLayouts/slideLayout4.xml"/><Relationship Id="rId5" Type="http://schemas.openxmlformats.org/officeDocument/2006/relationships/image" Target="../media/image93.png"/><Relationship Id="rId4" Type="http://schemas.openxmlformats.org/officeDocument/2006/relationships/image" Target="../media/image9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任意多边形 22"/>
          <p:cNvSpPr/>
          <p:nvPr/>
        </p:nvSpPr>
        <p:spPr bwMode="auto">
          <a:xfrm>
            <a:off x="0" y="1"/>
            <a:ext cx="8805639" cy="7232649"/>
          </a:xfrm>
          <a:custGeom>
            <a:avLst/>
            <a:gdLst>
              <a:gd name="connsiteX0" fmla="*/ 0 w 9922865"/>
              <a:gd name="connsiteY0" fmla="*/ 0 h 7492075"/>
              <a:gd name="connsiteX1" fmla="*/ 9922865 w 9922865"/>
              <a:gd name="connsiteY1" fmla="*/ 0 h 7492075"/>
              <a:gd name="connsiteX2" fmla="*/ 1647718 w 9922865"/>
              <a:gd name="connsiteY2" fmla="*/ 7492075 h 7492075"/>
              <a:gd name="connsiteX3" fmla="*/ 0 w 9922865"/>
              <a:gd name="connsiteY3" fmla="*/ 7492075 h 7492075"/>
            </a:gdLst>
            <a:ahLst/>
            <a:cxnLst>
              <a:cxn ang="0">
                <a:pos x="connsiteX0" y="connsiteY0"/>
              </a:cxn>
              <a:cxn ang="0">
                <a:pos x="connsiteX1" y="connsiteY1"/>
              </a:cxn>
              <a:cxn ang="0">
                <a:pos x="connsiteX2" y="connsiteY2"/>
              </a:cxn>
              <a:cxn ang="0">
                <a:pos x="connsiteX3" y="connsiteY3"/>
              </a:cxn>
            </a:cxnLst>
            <a:rect l="l" t="t" r="r" b="b"/>
            <a:pathLst>
              <a:path w="9922865" h="7492075">
                <a:moveTo>
                  <a:pt x="0" y="0"/>
                </a:moveTo>
                <a:lnTo>
                  <a:pt x="9922865" y="0"/>
                </a:lnTo>
                <a:lnTo>
                  <a:pt x="1647718" y="7492075"/>
                </a:lnTo>
                <a:lnTo>
                  <a:pt x="0" y="7492075"/>
                </a:lnTo>
                <a:close/>
              </a:path>
            </a:pathLst>
          </a:custGeom>
          <a:solidFill>
            <a:schemeClr val="tx1">
              <a:lumMod val="50000"/>
              <a:lumOff val="50000"/>
            </a:schemeClr>
          </a:solidFill>
          <a:ln w="0">
            <a:noFill/>
            <a:prstDash val="solid"/>
            <a:round/>
          </a:ln>
        </p:spPr>
        <p:txBody>
          <a:bodyPr vert="horz" wrap="square" lIns="128580" tIns="64290" rIns="128580" bIns="64290" numCol="1" anchor="t" anchorCtr="0" compatLnSpc="1">
            <a:noAutofit/>
          </a:bodyPr>
          <a:lstStyle/>
          <a:p>
            <a:endParaRPr lang="zh-CN" altLang="en-US">
              <a:latin typeface="+mn-lt"/>
              <a:ea typeface="+mn-ea"/>
              <a:cs typeface="+mn-ea"/>
              <a:sym typeface="+mn-lt"/>
            </a:endParaRPr>
          </a:p>
        </p:txBody>
      </p:sp>
      <p:sp>
        <p:nvSpPr>
          <p:cNvPr id="25" name="任意多边形 24"/>
          <p:cNvSpPr/>
          <p:nvPr/>
        </p:nvSpPr>
        <p:spPr bwMode="auto">
          <a:xfrm>
            <a:off x="-11013" y="1"/>
            <a:ext cx="8181122" cy="7232650"/>
          </a:xfrm>
          <a:custGeom>
            <a:avLst/>
            <a:gdLst>
              <a:gd name="connsiteX0" fmla="*/ 0 w 9219111"/>
              <a:gd name="connsiteY0" fmla="*/ 0 h 7492076"/>
              <a:gd name="connsiteX1" fmla="*/ 9219111 w 9219111"/>
              <a:gd name="connsiteY1" fmla="*/ 0 h 7492076"/>
              <a:gd name="connsiteX2" fmla="*/ 948639 w 9219111"/>
              <a:gd name="connsiteY2" fmla="*/ 7492076 h 7492076"/>
              <a:gd name="connsiteX3" fmla="*/ 0 w 9219111"/>
              <a:gd name="connsiteY3" fmla="*/ 7492076 h 7492076"/>
            </a:gdLst>
            <a:ahLst/>
            <a:cxnLst>
              <a:cxn ang="0">
                <a:pos x="connsiteX0" y="connsiteY0"/>
              </a:cxn>
              <a:cxn ang="0">
                <a:pos x="connsiteX1" y="connsiteY1"/>
              </a:cxn>
              <a:cxn ang="0">
                <a:pos x="connsiteX2" y="connsiteY2"/>
              </a:cxn>
              <a:cxn ang="0">
                <a:pos x="connsiteX3" y="connsiteY3"/>
              </a:cxn>
            </a:cxnLst>
            <a:rect l="l" t="t" r="r" b="b"/>
            <a:pathLst>
              <a:path w="9219111" h="7492076">
                <a:moveTo>
                  <a:pt x="0" y="0"/>
                </a:moveTo>
                <a:lnTo>
                  <a:pt x="9219111" y="0"/>
                </a:lnTo>
                <a:lnTo>
                  <a:pt x="948639" y="7492076"/>
                </a:lnTo>
                <a:lnTo>
                  <a:pt x="0" y="7492076"/>
                </a:lnTo>
                <a:close/>
              </a:path>
            </a:pathLst>
          </a:custGeom>
          <a:solidFill>
            <a:srgbClr val="0070C0"/>
          </a:solidFill>
          <a:ln w="0">
            <a:noFill/>
            <a:prstDash val="solid"/>
            <a:round/>
          </a:ln>
          <a:effectLst>
            <a:outerShdw blurRad="50800" dist="38100" dir="2700000" algn="tl" rotWithShape="0">
              <a:prstClr val="black">
                <a:alpha val="40000"/>
              </a:prstClr>
            </a:outerShdw>
          </a:effectLst>
        </p:spPr>
        <p:txBody>
          <a:bodyPr vert="horz" wrap="square" lIns="128580" tIns="64290" rIns="128580" bIns="64290" numCol="1" anchor="t" anchorCtr="0" compatLnSpc="1">
            <a:noAutofit/>
          </a:bodyPr>
          <a:lstStyle/>
          <a:p>
            <a:endParaRPr lang="zh-CN" altLang="en-US">
              <a:latin typeface="+mn-lt"/>
              <a:ea typeface="+mn-ea"/>
              <a:cs typeface="+mn-ea"/>
              <a:sym typeface="+mn-lt"/>
            </a:endParaRPr>
          </a:p>
        </p:txBody>
      </p:sp>
      <p:sp>
        <p:nvSpPr>
          <p:cNvPr id="12" name="Freeform 8"/>
          <p:cNvSpPr/>
          <p:nvPr/>
        </p:nvSpPr>
        <p:spPr bwMode="auto">
          <a:xfrm>
            <a:off x="3438871" y="523245"/>
            <a:ext cx="3787556" cy="3785769"/>
          </a:xfrm>
          <a:custGeom>
            <a:avLst/>
            <a:gdLst>
              <a:gd name="T0" fmla="*/ 1168 w 2120"/>
              <a:gd name="T1" fmla="*/ 5 h 2119"/>
              <a:gd name="T2" fmla="*/ 1374 w 2120"/>
              <a:gd name="T3" fmla="*/ 47 h 2119"/>
              <a:gd name="T4" fmla="*/ 1564 w 2120"/>
              <a:gd name="T5" fmla="*/ 127 h 2119"/>
              <a:gd name="T6" fmla="*/ 1734 w 2120"/>
              <a:gd name="T7" fmla="*/ 243 h 2119"/>
              <a:gd name="T8" fmla="*/ 1877 w 2120"/>
              <a:gd name="T9" fmla="*/ 386 h 2119"/>
              <a:gd name="T10" fmla="*/ 1991 w 2120"/>
              <a:gd name="T11" fmla="*/ 555 h 2119"/>
              <a:gd name="T12" fmla="*/ 2071 w 2120"/>
              <a:gd name="T13" fmla="*/ 743 h 2119"/>
              <a:gd name="T14" fmla="*/ 2114 w 2120"/>
              <a:gd name="T15" fmla="*/ 951 h 2119"/>
              <a:gd name="T16" fmla="*/ 2114 w 2120"/>
              <a:gd name="T17" fmla="*/ 1167 h 2119"/>
              <a:gd name="T18" fmla="*/ 2071 w 2120"/>
              <a:gd name="T19" fmla="*/ 1373 h 2119"/>
              <a:gd name="T20" fmla="*/ 1991 w 2120"/>
              <a:gd name="T21" fmla="*/ 1564 h 2119"/>
              <a:gd name="T22" fmla="*/ 1877 w 2120"/>
              <a:gd name="T23" fmla="*/ 1733 h 2119"/>
              <a:gd name="T24" fmla="*/ 1734 w 2120"/>
              <a:gd name="T25" fmla="*/ 1876 h 2119"/>
              <a:gd name="T26" fmla="*/ 1564 w 2120"/>
              <a:gd name="T27" fmla="*/ 1989 h 2119"/>
              <a:gd name="T28" fmla="*/ 1374 w 2120"/>
              <a:gd name="T29" fmla="*/ 2070 h 2119"/>
              <a:gd name="T30" fmla="*/ 1168 w 2120"/>
              <a:gd name="T31" fmla="*/ 2112 h 2119"/>
              <a:gd name="T32" fmla="*/ 952 w 2120"/>
              <a:gd name="T33" fmla="*/ 2112 h 2119"/>
              <a:gd name="T34" fmla="*/ 744 w 2120"/>
              <a:gd name="T35" fmla="*/ 2070 h 2119"/>
              <a:gd name="T36" fmla="*/ 555 w 2120"/>
              <a:gd name="T37" fmla="*/ 1989 h 2119"/>
              <a:gd name="T38" fmla="*/ 386 w 2120"/>
              <a:gd name="T39" fmla="*/ 1876 h 2119"/>
              <a:gd name="T40" fmla="*/ 243 w 2120"/>
              <a:gd name="T41" fmla="*/ 1733 h 2119"/>
              <a:gd name="T42" fmla="*/ 128 w 2120"/>
              <a:gd name="T43" fmla="*/ 1564 h 2119"/>
              <a:gd name="T44" fmla="*/ 47 w 2120"/>
              <a:gd name="T45" fmla="*/ 1373 h 2119"/>
              <a:gd name="T46" fmla="*/ 5 w 2120"/>
              <a:gd name="T47" fmla="*/ 1167 h 2119"/>
              <a:gd name="T48" fmla="*/ 5 w 2120"/>
              <a:gd name="T49" fmla="*/ 951 h 2119"/>
              <a:gd name="T50" fmla="*/ 47 w 2120"/>
              <a:gd name="T51" fmla="*/ 743 h 2119"/>
              <a:gd name="T52" fmla="*/ 128 w 2120"/>
              <a:gd name="T53" fmla="*/ 555 h 2119"/>
              <a:gd name="T54" fmla="*/ 243 w 2120"/>
              <a:gd name="T55" fmla="*/ 386 h 2119"/>
              <a:gd name="T56" fmla="*/ 386 w 2120"/>
              <a:gd name="T57" fmla="*/ 243 h 2119"/>
              <a:gd name="T58" fmla="*/ 555 w 2120"/>
              <a:gd name="T59" fmla="*/ 127 h 2119"/>
              <a:gd name="T60" fmla="*/ 744 w 2120"/>
              <a:gd name="T61" fmla="*/ 47 h 2119"/>
              <a:gd name="T62" fmla="*/ 952 w 2120"/>
              <a:gd name="T63" fmla="*/ 5 h 2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20" h="2119">
                <a:moveTo>
                  <a:pt x="1060" y="0"/>
                </a:moveTo>
                <a:lnTo>
                  <a:pt x="1168" y="5"/>
                </a:lnTo>
                <a:lnTo>
                  <a:pt x="1273" y="21"/>
                </a:lnTo>
                <a:lnTo>
                  <a:pt x="1374" y="47"/>
                </a:lnTo>
                <a:lnTo>
                  <a:pt x="1472" y="84"/>
                </a:lnTo>
                <a:lnTo>
                  <a:pt x="1564" y="127"/>
                </a:lnTo>
                <a:lnTo>
                  <a:pt x="1652" y="181"/>
                </a:lnTo>
                <a:lnTo>
                  <a:pt x="1734" y="243"/>
                </a:lnTo>
                <a:lnTo>
                  <a:pt x="1809" y="311"/>
                </a:lnTo>
                <a:lnTo>
                  <a:pt x="1877" y="386"/>
                </a:lnTo>
                <a:lnTo>
                  <a:pt x="1938" y="466"/>
                </a:lnTo>
                <a:lnTo>
                  <a:pt x="1991" y="555"/>
                </a:lnTo>
                <a:lnTo>
                  <a:pt x="2036" y="647"/>
                </a:lnTo>
                <a:lnTo>
                  <a:pt x="2071" y="743"/>
                </a:lnTo>
                <a:lnTo>
                  <a:pt x="2097" y="845"/>
                </a:lnTo>
                <a:lnTo>
                  <a:pt x="2114" y="951"/>
                </a:lnTo>
                <a:lnTo>
                  <a:pt x="2120" y="1059"/>
                </a:lnTo>
                <a:lnTo>
                  <a:pt x="2114" y="1167"/>
                </a:lnTo>
                <a:lnTo>
                  <a:pt x="2097" y="1272"/>
                </a:lnTo>
                <a:lnTo>
                  <a:pt x="2071" y="1373"/>
                </a:lnTo>
                <a:lnTo>
                  <a:pt x="2036" y="1471"/>
                </a:lnTo>
                <a:lnTo>
                  <a:pt x="1991" y="1564"/>
                </a:lnTo>
                <a:lnTo>
                  <a:pt x="1938" y="1651"/>
                </a:lnTo>
                <a:lnTo>
                  <a:pt x="1877" y="1733"/>
                </a:lnTo>
                <a:lnTo>
                  <a:pt x="1809" y="1808"/>
                </a:lnTo>
                <a:lnTo>
                  <a:pt x="1734" y="1876"/>
                </a:lnTo>
                <a:lnTo>
                  <a:pt x="1652" y="1937"/>
                </a:lnTo>
                <a:lnTo>
                  <a:pt x="1564" y="1989"/>
                </a:lnTo>
                <a:lnTo>
                  <a:pt x="1472" y="2035"/>
                </a:lnTo>
                <a:lnTo>
                  <a:pt x="1374" y="2070"/>
                </a:lnTo>
                <a:lnTo>
                  <a:pt x="1273" y="2096"/>
                </a:lnTo>
                <a:lnTo>
                  <a:pt x="1168" y="2112"/>
                </a:lnTo>
                <a:lnTo>
                  <a:pt x="1060" y="2119"/>
                </a:lnTo>
                <a:lnTo>
                  <a:pt x="952" y="2112"/>
                </a:lnTo>
                <a:lnTo>
                  <a:pt x="847" y="2096"/>
                </a:lnTo>
                <a:lnTo>
                  <a:pt x="744" y="2070"/>
                </a:lnTo>
                <a:lnTo>
                  <a:pt x="648" y="2035"/>
                </a:lnTo>
                <a:lnTo>
                  <a:pt x="555" y="1989"/>
                </a:lnTo>
                <a:lnTo>
                  <a:pt x="468" y="1937"/>
                </a:lnTo>
                <a:lnTo>
                  <a:pt x="386" y="1876"/>
                </a:lnTo>
                <a:lnTo>
                  <a:pt x="311" y="1808"/>
                </a:lnTo>
                <a:lnTo>
                  <a:pt x="243" y="1733"/>
                </a:lnTo>
                <a:lnTo>
                  <a:pt x="182" y="1651"/>
                </a:lnTo>
                <a:lnTo>
                  <a:pt x="128" y="1564"/>
                </a:lnTo>
                <a:lnTo>
                  <a:pt x="84" y="1471"/>
                </a:lnTo>
                <a:lnTo>
                  <a:pt x="47" y="1373"/>
                </a:lnTo>
                <a:lnTo>
                  <a:pt x="21" y="1272"/>
                </a:lnTo>
                <a:lnTo>
                  <a:pt x="5" y="1167"/>
                </a:lnTo>
                <a:lnTo>
                  <a:pt x="0" y="1059"/>
                </a:lnTo>
                <a:lnTo>
                  <a:pt x="5" y="951"/>
                </a:lnTo>
                <a:lnTo>
                  <a:pt x="21" y="845"/>
                </a:lnTo>
                <a:lnTo>
                  <a:pt x="47" y="743"/>
                </a:lnTo>
                <a:lnTo>
                  <a:pt x="84" y="647"/>
                </a:lnTo>
                <a:lnTo>
                  <a:pt x="128" y="555"/>
                </a:lnTo>
                <a:lnTo>
                  <a:pt x="182" y="466"/>
                </a:lnTo>
                <a:lnTo>
                  <a:pt x="243" y="386"/>
                </a:lnTo>
                <a:lnTo>
                  <a:pt x="311" y="311"/>
                </a:lnTo>
                <a:lnTo>
                  <a:pt x="386" y="243"/>
                </a:lnTo>
                <a:lnTo>
                  <a:pt x="468" y="181"/>
                </a:lnTo>
                <a:lnTo>
                  <a:pt x="555" y="127"/>
                </a:lnTo>
                <a:lnTo>
                  <a:pt x="648" y="84"/>
                </a:lnTo>
                <a:lnTo>
                  <a:pt x="744" y="47"/>
                </a:lnTo>
                <a:lnTo>
                  <a:pt x="847" y="21"/>
                </a:lnTo>
                <a:lnTo>
                  <a:pt x="952" y="5"/>
                </a:lnTo>
                <a:lnTo>
                  <a:pt x="1060" y="0"/>
                </a:lnTo>
                <a:close/>
              </a:path>
            </a:pathLst>
          </a:custGeom>
          <a:solidFill>
            <a:schemeClr val="bg1"/>
          </a:solidFill>
          <a:ln w="0">
            <a:noFill/>
            <a:prstDash val="solid"/>
            <a:round/>
          </a:ln>
          <a:effectLst>
            <a:outerShdw blurRad="444500" dist="127000" dir="2700000" algn="tl" rotWithShape="0">
              <a:prstClr val="black">
                <a:alpha val="40000"/>
              </a:prstClr>
            </a:outerShdw>
          </a:effectLst>
        </p:spPr>
        <p:txBody>
          <a:bodyPr vert="horz" wrap="square" lIns="128580" tIns="64290" rIns="128580" bIns="64290" numCol="1" anchor="t" anchorCtr="0" compatLnSpc="1"/>
          <a:lstStyle/>
          <a:p>
            <a:endParaRPr lang="zh-CN" altLang="en-US">
              <a:latin typeface="+mn-lt"/>
              <a:ea typeface="+mn-ea"/>
              <a:cs typeface="+mn-ea"/>
              <a:sym typeface="+mn-lt"/>
            </a:endParaRPr>
          </a:p>
        </p:txBody>
      </p:sp>
      <p:sp>
        <p:nvSpPr>
          <p:cNvPr id="13" name="Freeform 9"/>
          <p:cNvSpPr/>
          <p:nvPr/>
        </p:nvSpPr>
        <p:spPr bwMode="auto">
          <a:xfrm>
            <a:off x="3694351" y="798856"/>
            <a:ext cx="3276595" cy="3273021"/>
          </a:xfrm>
          <a:custGeom>
            <a:avLst/>
            <a:gdLst>
              <a:gd name="T0" fmla="*/ 917 w 1834"/>
              <a:gd name="T1" fmla="*/ 0 h 1832"/>
              <a:gd name="T2" fmla="*/ 1016 w 1834"/>
              <a:gd name="T3" fmla="*/ 5 h 1832"/>
              <a:gd name="T4" fmla="*/ 1112 w 1834"/>
              <a:gd name="T5" fmla="*/ 21 h 1832"/>
              <a:gd name="T6" fmla="*/ 1207 w 1834"/>
              <a:gd name="T7" fmla="*/ 47 h 1832"/>
              <a:gd name="T8" fmla="*/ 1296 w 1834"/>
              <a:gd name="T9" fmla="*/ 80 h 1832"/>
              <a:gd name="T10" fmla="*/ 1380 w 1834"/>
              <a:gd name="T11" fmla="*/ 124 h 1832"/>
              <a:gd name="T12" fmla="*/ 1458 w 1834"/>
              <a:gd name="T13" fmla="*/ 176 h 1832"/>
              <a:gd name="T14" fmla="*/ 1531 w 1834"/>
              <a:gd name="T15" fmla="*/ 236 h 1832"/>
              <a:gd name="T16" fmla="*/ 1598 w 1834"/>
              <a:gd name="T17" fmla="*/ 302 h 1832"/>
              <a:gd name="T18" fmla="*/ 1657 w 1834"/>
              <a:gd name="T19" fmla="*/ 375 h 1832"/>
              <a:gd name="T20" fmla="*/ 1708 w 1834"/>
              <a:gd name="T21" fmla="*/ 454 h 1832"/>
              <a:gd name="T22" fmla="*/ 1751 w 1834"/>
              <a:gd name="T23" fmla="*/ 538 h 1832"/>
              <a:gd name="T24" fmla="*/ 1786 w 1834"/>
              <a:gd name="T25" fmla="*/ 627 h 1832"/>
              <a:gd name="T26" fmla="*/ 1813 w 1834"/>
              <a:gd name="T27" fmla="*/ 719 h 1832"/>
              <a:gd name="T28" fmla="*/ 1828 w 1834"/>
              <a:gd name="T29" fmla="*/ 817 h 1832"/>
              <a:gd name="T30" fmla="*/ 1834 w 1834"/>
              <a:gd name="T31" fmla="*/ 916 h 1832"/>
              <a:gd name="T32" fmla="*/ 1828 w 1834"/>
              <a:gd name="T33" fmla="*/ 1016 h 1832"/>
              <a:gd name="T34" fmla="*/ 1813 w 1834"/>
              <a:gd name="T35" fmla="*/ 1112 h 1832"/>
              <a:gd name="T36" fmla="*/ 1786 w 1834"/>
              <a:gd name="T37" fmla="*/ 1206 h 1832"/>
              <a:gd name="T38" fmla="*/ 1751 w 1834"/>
              <a:gd name="T39" fmla="*/ 1295 h 1832"/>
              <a:gd name="T40" fmla="*/ 1708 w 1834"/>
              <a:gd name="T41" fmla="*/ 1379 h 1832"/>
              <a:gd name="T42" fmla="*/ 1657 w 1834"/>
              <a:gd name="T43" fmla="*/ 1457 h 1832"/>
              <a:gd name="T44" fmla="*/ 1598 w 1834"/>
              <a:gd name="T45" fmla="*/ 1529 h 1832"/>
              <a:gd name="T46" fmla="*/ 1531 w 1834"/>
              <a:gd name="T47" fmla="*/ 1595 h 1832"/>
              <a:gd name="T48" fmla="*/ 1458 w 1834"/>
              <a:gd name="T49" fmla="*/ 1654 h 1832"/>
              <a:gd name="T50" fmla="*/ 1380 w 1834"/>
              <a:gd name="T51" fmla="*/ 1707 h 1832"/>
              <a:gd name="T52" fmla="*/ 1296 w 1834"/>
              <a:gd name="T53" fmla="*/ 1750 h 1832"/>
              <a:gd name="T54" fmla="*/ 1207 w 1834"/>
              <a:gd name="T55" fmla="*/ 1785 h 1832"/>
              <a:gd name="T56" fmla="*/ 1112 w 1834"/>
              <a:gd name="T57" fmla="*/ 1811 h 1832"/>
              <a:gd name="T58" fmla="*/ 1016 w 1834"/>
              <a:gd name="T59" fmla="*/ 1827 h 1832"/>
              <a:gd name="T60" fmla="*/ 917 w 1834"/>
              <a:gd name="T61" fmla="*/ 1832 h 1832"/>
              <a:gd name="T62" fmla="*/ 817 w 1834"/>
              <a:gd name="T63" fmla="*/ 1827 h 1832"/>
              <a:gd name="T64" fmla="*/ 720 w 1834"/>
              <a:gd name="T65" fmla="*/ 1811 h 1832"/>
              <a:gd name="T66" fmla="*/ 627 w 1834"/>
              <a:gd name="T67" fmla="*/ 1785 h 1832"/>
              <a:gd name="T68" fmla="*/ 538 w 1834"/>
              <a:gd name="T69" fmla="*/ 1750 h 1832"/>
              <a:gd name="T70" fmla="*/ 454 w 1834"/>
              <a:gd name="T71" fmla="*/ 1707 h 1832"/>
              <a:gd name="T72" fmla="*/ 376 w 1834"/>
              <a:gd name="T73" fmla="*/ 1654 h 1832"/>
              <a:gd name="T74" fmla="*/ 302 w 1834"/>
              <a:gd name="T75" fmla="*/ 1595 h 1832"/>
              <a:gd name="T76" fmla="*/ 236 w 1834"/>
              <a:gd name="T77" fmla="*/ 1529 h 1832"/>
              <a:gd name="T78" fmla="*/ 177 w 1834"/>
              <a:gd name="T79" fmla="*/ 1457 h 1832"/>
              <a:gd name="T80" fmla="*/ 126 w 1834"/>
              <a:gd name="T81" fmla="*/ 1379 h 1832"/>
              <a:gd name="T82" fmla="*/ 82 w 1834"/>
              <a:gd name="T83" fmla="*/ 1295 h 1832"/>
              <a:gd name="T84" fmla="*/ 47 w 1834"/>
              <a:gd name="T85" fmla="*/ 1206 h 1832"/>
              <a:gd name="T86" fmla="*/ 21 w 1834"/>
              <a:gd name="T87" fmla="*/ 1112 h 1832"/>
              <a:gd name="T88" fmla="*/ 6 w 1834"/>
              <a:gd name="T89" fmla="*/ 1016 h 1832"/>
              <a:gd name="T90" fmla="*/ 0 w 1834"/>
              <a:gd name="T91" fmla="*/ 916 h 1832"/>
              <a:gd name="T92" fmla="*/ 6 w 1834"/>
              <a:gd name="T93" fmla="*/ 817 h 1832"/>
              <a:gd name="T94" fmla="*/ 21 w 1834"/>
              <a:gd name="T95" fmla="*/ 719 h 1832"/>
              <a:gd name="T96" fmla="*/ 47 w 1834"/>
              <a:gd name="T97" fmla="*/ 627 h 1832"/>
              <a:gd name="T98" fmla="*/ 82 w 1834"/>
              <a:gd name="T99" fmla="*/ 538 h 1832"/>
              <a:gd name="T100" fmla="*/ 126 w 1834"/>
              <a:gd name="T101" fmla="*/ 454 h 1832"/>
              <a:gd name="T102" fmla="*/ 177 w 1834"/>
              <a:gd name="T103" fmla="*/ 375 h 1832"/>
              <a:gd name="T104" fmla="*/ 236 w 1834"/>
              <a:gd name="T105" fmla="*/ 302 h 1832"/>
              <a:gd name="T106" fmla="*/ 302 w 1834"/>
              <a:gd name="T107" fmla="*/ 236 h 1832"/>
              <a:gd name="T108" fmla="*/ 376 w 1834"/>
              <a:gd name="T109" fmla="*/ 176 h 1832"/>
              <a:gd name="T110" fmla="*/ 454 w 1834"/>
              <a:gd name="T111" fmla="*/ 124 h 1832"/>
              <a:gd name="T112" fmla="*/ 538 w 1834"/>
              <a:gd name="T113" fmla="*/ 80 h 1832"/>
              <a:gd name="T114" fmla="*/ 627 w 1834"/>
              <a:gd name="T115" fmla="*/ 47 h 1832"/>
              <a:gd name="T116" fmla="*/ 720 w 1834"/>
              <a:gd name="T117" fmla="*/ 21 h 1832"/>
              <a:gd name="T118" fmla="*/ 817 w 1834"/>
              <a:gd name="T119" fmla="*/ 5 h 1832"/>
              <a:gd name="T120" fmla="*/ 917 w 1834"/>
              <a:gd name="T121" fmla="*/ 0 h 1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834" h="1832">
                <a:moveTo>
                  <a:pt x="917" y="0"/>
                </a:moveTo>
                <a:lnTo>
                  <a:pt x="1016" y="5"/>
                </a:lnTo>
                <a:lnTo>
                  <a:pt x="1112" y="21"/>
                </a:lnTo>
                <a:lnTo>
                  <a:pt x="1207" y="47"/>
                </a:lnTo>
                <a:lnTo>
                  <a:pt x="1296" y="80"/>
                </a:lnTo>
                <a:lnTo>
                  <a:pt x="1380" y="124"/>
                </a:lnTo>
                <a:lnTo>
                  <a:pt x="1458" y="176"/>
                </a:lnTo>
                <a:lnTo>
                  <a:pt x="1531" y="236"/>
                </a:lnTo>
                <a:lnTo>
                  <a:pt x="1598" y="302"/>
                </a:lnTo>
                <a:lnTo>
                  <a:pt x="1657" y="375"/>
                </a:lnTo>
                <a:lnTo>
                  <a:pt x="1708" y="454"/>
                </a:lnTo>
                <a:lnTo>
                  <a:pt x="1751" y="538"/>
                </a:lnTo>
                <a:lnTo>
                  <a:pt x="1786" y="627"/>
                </a:lnTo>
                <a:lnTo>
                  <a:pt x="1813" y="719"/>
                </a:lnTo>
                <a:lnTo>
                  <a:pt x="1828" y="817"/>
                </a:lnTo>
                <a:lnTo>
                  <a:pt x="1834" y="916"/>
                </a:lnTo>
                <a:lnTo>
                  <a:pt x="1828" y="1016"/>
                </a:lnTo>
                <a:lnTo>
                  <a:pt x="1813" y="1112"/>
                </a:lnTo>
                <a:lnTo>
                  <a:pt x="1786" y="1206"/>
                </a:lnTo>
                <a:lnTo>
                  <a:pt x="1751" y="1295"/>
                </a:lnTo>
                <a:lnTo>
                  <a:pt x="1708" y="1379"/>
                </a:lnTo>
                <a:lnTo>
                  <a:pt x="1657" y="1457"/>
                </a:lnTo>
                <a:lnTo>
                  <a:pt x="1598" y="1529"/>
                </a:lnTo>
                <a:lnTo>
                  <a:pt x="1531" y="1595"/>
                </a:lnTo>
                <a:lnTo>
                  <a:pt x="1458" y="1654"/>
                </a:lnTo>
                <a:lnTo>
                  <a:pt x="1380" y="1707"/>
                </a:lnTo>
                <a:lnTo>
                  <a:pt x="1296" y="1750"/>
                </a:lnTo>
                <a:lnTo>
                  <a:pt x="1207" y="1785"/>
                </a:lnTo>
                <a:lnTo>
                  <a:pt x="1112" y="1811"/>
                </a:lnTo>
                <a:lnTo>
                  <a:pt x="1016" y="1827"/>
                </a:lnTo>
                <a:lnTo>
                  <a:pt x="917" y="1832"/>
                </a:lnTo>
                <a:lnTo>
                  <a:pt x="817" y="1827"/>
                </a:lnTo>
                <a:lnTo>
                  <a:pt x="720" y="1811"/>
                </a:lnTo>
                <a:lnTo>
                  <a:pt x="627" y="1785"/>
                </a:lnTo>
                <a:lnTo>
                  <a:pt x="538" y="1750"/>
                </a:lnTo>
                <a:lnTo>
                  <a:pt x="454" y="1707"/>
                </a:lnTo>
                <a:lnTo>
                  <a:pt x="376" y="1654"/>
                </a:lnTo>
                <a:lnTo>
                  <a:pt x="302" y="1595"/>
                </a:lnTo>
                <a:lnTo>
                  <a:pt x="236" y="1529"/>
                </a:lnTo>
                <a:lnTo>
                  <a:pt x="177" y="1457"/>
                </a:lnTo>
                <a:lnTo>
                  <a:pt x="126" y="1379"/>
                </a:lnTo>
                <a:lnTo>
                  <a:pt x="82" y="1295"/>
                </a:lnTo>
                <a:lnTo>
                  <a:pt x="47" y="1206"/>
                </a:lnTo>
                <a:lnTo>
                  <a:pt x="21" y="1112"/>
                </a:lnTo>
                <a:lnTo>
                  <a:pt x="6" y="1016"/>
                </a:lnTo>
                <a:lnTo>
                  <a:pt x="0" y="916"/>
                </a:lnTo>
                <a:lnTo>
                  <a:pt x="6" y="817"/>
                </a:lnTo>
                <a:lnTo>
                  <a:pt x="21" y="719"/>
                </a:lnTo>
                <a:lnTo>
                  <a:pt x="47" y="627"/>
                </a:lnTo>
                <a:lnTo>
                  <a:pt x="82" y="538"/>
                </a:lnTo>
                <a:lnTo>
                  <a:pt x="126" y="454"/>
                </a:lnTo>
                <a:lnTo>
                  <a:pt x="177" y="375"/>
                </a:lnTo>
                <a:lnTo>
                  <a:pt x="236" y="302"/>
                </a:lnTo>
                <a:lnTo>
                  <a:pt x="302" y="236"/>
                </a:lnTo>
                <a:lnTo>
                  <a:pt x="376" y="176"/>
                </a:lnTo>
                <a:lnTo>
                  <a:pt x="454" y="124"/>
                </a:lnTo>
                <a:lnTo>
                  <a:pt x="538" y="80"/>
                </a:lnTo>
                <a:lnTo>
                  <a:pt x="627" y="47"/>
                </a:lnTo>
                <a:lnTo>
                  <a:pt x="720" y="21"/>
                </a:lnTo>
                <a:lnTo>
                  <a:pt x="817" y="5"/>
                </a:lnTo>
                <a:lnTo>
                  <a:pt x="917" y="0"/>
                </a:lnTo>
                <a:close/>
              </a:path>
            </a:pathLst>
          </a:custGeom>
          <a:solidFill>
            <a:srgbClr val="0070C0"/>
          </a:solidFill>
          <a:ln w="0">
            <a:noFill/>
            <a:prstDash val="solid"/>
            <a:round/>
          </a:ln>
        </p:spPr>
        <p:txBody>
          <a:bodyPr vert="horz" wrap="square" lIns="128580" tIns="64290" rIns="128580" bIns="64290" numCol="1" anchor="t" anchorCtr="0" compatLnSpc="1"/>
          <a:lstStyle/>
          <a:p>
            <a:endParaRPr lang="zh-CN" altLang="en-US">
              <a:latin typeface="+mn-lt"/>
              <a:ea typeface="+mn-ea"/>
              <a:cs typeface="+mn-ea"/>
              <a:sym typeface="+mn-lt"/>
            </a:endParaRPr>
          </a:p>
        </p:txBody>
      </p:sp>
      <p:sp>
        <p:nvSpPr>
          <p:cNvPr id="14" name="矩形 259"/>
          <p:cNvSpPr>
            <a:spLocks noChangeArrowheads="1"/>
          </p:cNvSpPr>
          <p:nvPr/>
        </p:nvSpPr>
        <p:spPr bwMode="auto">
          <a:xfrm>
            <a:off x="5929980" y="4275599"/>
            <a:ext cx="6958869" cy="135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zh-CN" altLang="en-US" sz="4400" cap="all" dirty="0">
                <a:solidFill>
                  <a:schemeClr val="bg1">
                    <a:lumMod val="65000"/>
                  </a:schemeClr>
                </a:solidFill>
                <a:latin typeface="+mn-lt"/>
                <a:ea typeface="+mn-ea"/>
                <a:cs typeface="+mn-ea"/>
              </a:rPr>
              <a:t>基于稳健主成分分析的地震数据噪音压制</a:t>
            </a:r>
            <a:endParaRPr lang="zh-CN" altLang="en-US" sz="4400" cap="all" dirty="0">
              <a:solidFill>
                <a:schemeClr val="bg1">
                  <a:lumMod val="65000"/>
                </a:schemeClr>
              </a:solidFill>
              <a:latin typeface="+mn-lt"/>
              <a:ea typeface="+mn-ea"/>
              <a:cs typeface="+mn-ea"/>
              <a:sym typeface="+mn-lt"/>
            </a:endParaRPr>
          </a:p>
        </p:txBody>
      </p:sp>
      <p:sp>
        <p:nvSpPr>
          <p:cNvPr id="11" name="矩形 259"/>
          <p:cNvSpPr>
            <a:spLocks noChangeArrowheads="1"/>
          </p:cNvSpPr>
          <p:nvPr/>
        </p:nvSpPr>
        <p:spPr bwMode="auto">
          <a:xfrm>
            <a:off x="6790833" y="5866953"/>
            <a:ext cx="523716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dist">
              <a:buNone/>
            </a:pPr>
            <a:r>
              <a:rPr lang="zh-CN" altLang="en-US" sz="2000" dirty="0">
                <a:solidFill>
                  <a:schemeClr val="bg1">
                    <a:lumMod val="65000"/>
                  </a:schemeClr>
                </a:solidFill>
                <a:latin typeface="+mn-lt"/>
                <a:ea typeface="+mn-ea"/>
                <a:cs typeface="+mn-ea"/>
                <a:sym typeface="+mn-lt"/>
              </a:rPr>
              <a:t>答辩人：贾昊   指导老师：高建军</a:t>
            </a:r>
          </a:p>
        </p:txBody>
      </p:sp>
      <p:pic>
        <p:nvPicPr>
          <p:cNvPr id="2" name="Could This Be Love">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cstate="print"/>
          <a:stretch>
            <a:fillRect/>
          </a:stretch>
        </p:blipFill>
        <p:spPr>
          <a:xfrm>
            <a:off x="6124575" y="-1722423"/>
            <a:ext cx="609600" cy="609600"/>
          </a:xfrm>
          <a:prstGeom prst="rect">
            <a:avLst/>
          </a:prstGeom>
        </p:spPr>
      </p:pic>
      <p:pic>
        <p:nvPicPr>
          <p:cNvPr id="3" name="图片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74462" y="930554"/>
            <a:ext cx="2916371" cy="3012064"/>
          </a:xfrm>
          <a:prstGeom prst="rect">
            <a:avLst/>
          </a:prstGeom>
        </p:spPr>
      </p:pic>
    </p:spTree>
  </p:cSld>
  <p:clrMapOvr>
    <a:masterClrMapping/>
  </p:clrMapOvr>
  <p:transition spd="slow" advTm="11172">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fill="hold"/>
                                        <p:tgtEl>
                                          <p:spTgt spid="25"/>
                                        </p:tgtEl>
                                        <p:attrNameLst>
                                          <p:attrName>ppt_x</p:attrName>
                                        </p:attrNameLst>
                                      </p:cBhvr>
                                      <p:tavLst>
                                        <p:tav tm="0">
                                          <p:val>
                                            <p:strVal val="0-#ppt_w/2"/>
                                          </p:val>
                                        </p:tav>
                                        <p:tav tm="100000">
                                          <p:val>
                                            <p:strVal val="#ppt_x"/>
                                          </p:val>
                                        </p:tav>
                                      </p:tavLst>
                                    </p:anim>
                                    <p:anim calcmode="lin" valueType="num">
                                      <p:cBhvr additive="base">
                                        <p:cTn id="13" dur="500" fill="hold"/>
                                        <p:tgtEl>
                                          <p:spTgt spid="25"/>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ppt_w</p:attrName>
                                        </p:attrNameLst>
                                      </p:cBhvr>
                                      <p:tavLst>
                                        <p:tav tm="0">
                                          <p:val>
                                            <p:fltVal val="0"/>
                                          </p:val>
                                        </p:tav>
                                        <p:tav tm="100000">
                                          <p:val>
                                            <p:strVal val="#ppt_w"/>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animEffect transition="in" filter="fade">
                                      <p:cBhvr>
                                        <p:cTn id="19" dur="500"/>
                                        <p:tgtEl>
                                          <p:spTgt spid="12"/>
                                        </p:tgtEl>
                                      </p:cBhvr>
                                    </p:animEffect>
                                  </p:childTnLst>
                                </p:cTn>
                              </p:par>
                            </p:childTnLst>
                          </p:cTn>
                        </p:par>
                        <p:par>
                          <p:cTn id="20" fill="hold">
                            <p:stCondLst>
                              <p:cond delay="1500"/>
                            </p:stCondLst>
                            <p:childTnLst>
                              <p:par>
                                <p:cTn id="21" presetID="53" presetClass="entr" presetSubtype="16"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p:cTn id="23" dur="500" fill="hold"/>
                                        <p:tgtEl>
                                          <p:spTgt spid="13"/>
                                        </p:tgtEl>
                                        <p:attrNameLst>
                                          <p:attrName>ppt_w</p:attrName>
                                        </p:attrNameLst>
                                      </p:cBhvr>
                                      <p:tavLst>
                                        <p:tav tm="0">
                                          <p:val>
                                            <p:fltVal val="0"/>
                                          </p:val>
                                        </p:tav>
                                        <p:tav tm="100000">
                                          <p:val>
                                            <p:strVal val="#ppt_w"/>
                                          </p:val>
                                        </p:tav>
                                      </p:tavLst>
                                    </p:anim>
                                    <p:anim calcmode="lin" valueType="num">
                                      <p:cBhvr>
                                        <p:cTn id="24" dur="500" fill="hold"/>
                                        <p:tgtEl>
                                          <p:spTgt spid="13"/>
                                        </p:tgtEl>
                                        <p:attrNameLst>
                                          <p:attrName>ppt_h</p:attrName>
                                        </p:attrNameLst>
                                      </p:cBhvr>
                                      <p:tavLst>
                                        <p:tav tm="0">
                                          <p:val>
                                            <p:fltVal val="0"/>
                                          </p:val>
                                        </p:tav>
                                        <p:tav tm="100000">
                                          <p:val>
                                            <p:strVal val="#ppt_h"/>
                                          </p:val>
                                        </p:tav>
                                      </p:tavLst>
                                    </p:anim>
                                    <p:animEffect transition="in" filter="fade">
                                      <p:cBhvr>
                                        <p:cTn id="25" dur="500"/>
                                        <p:tgtEl>
                                          <p:spTgt spid="13"/>
                                        </p:tgtEl>
                                      </p:cBhvr>
                                    </p:animEffect>
                                  </p:childTnLst>
                                </p:cTn>
                              </p:par>
                            </p:childTnLst>
                          </p:cTn>
                        </p:par>
                        <p:par>
                          <p:cTn id="26" fill="hold">
                            <p:stCondLst>
                              <p:cond delay="2000"/>
                            </p:stCondLst>
                            <p:childTnLst>
                              <p:par>
                                <p:cTn id="27" presetID="41" presetClass="entr" presetSubtype="0" fill="hold" grpId="0" nodeType="afterEffect">
                                  <p:stCondLst>
                                    <p:cond delay="0"/>
                                  </p:stCondLst>
                                  <p:iterate type="lt">
                                    <p:tmPct val="10000"/>
                                  </p:iterate>
                                  <p:childTnLst>
                                    <p:set>
                                      <p:cBhvr>
                                        <p:cTn id="28" dur="1" fill="hold">
                                          <p:stCondLst>
                                            <p:cond delay="0"/>
                                          </p:stCondLst>
                                        </p:cTn>
                                        <p:tgtEl>
                                          <p:spTgt spid="14"/>
                                        </p:tgtEl>
                                        <p:attrNameLst>
                                          <p:attrName>style.visibility</p:attrName>
                                        </p:attrNameLst>
                                      </p:cBhvr>
                                      <p:to>
                                        <p:strVal val="visible"/>
                                      </p:to>
                                    </p:set>
                                    <p:anim calcmode="lin" valueType="num">
                                      <p:cBhvr>
                                        <p:cTn id="29" dur="50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30" dur="500" fill="hold"/>
                                        <p:tgtEl>
                                          <p:spTgt spid="14"/>
                                        </p:tgtEl>
                                        <p:attrNameLst>
                                          <p:attrName>ppt_y</p:attrName>
                                        </p:attrNameLst>
                                      </p:cBhvr>
                                      <p:tavLst>
                                        <p:tav tm="0">
                                          <p:val>
                                            <p:strVal val="#ppt_y"/>
                                          </p:val>
                                        </p:tav>
                                        <p:tav tm="100000">
                                          <p:val>
                                            <p:strVal val="#ppt_y"/>
                                          </p:val>
                                        </p:tav>
                                      </p:tavLst>
                                    </p:anim>
                                    <p:anim calcmode="lin" valueType="num">
                                      <p:cBhvr>
                                        <p:cTn id="31" dur="50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32" dur="500" fill="hold"/>
                                        <p:tgtEl>
                                          <p:spTgt spid="14"/>
                                        </p:tgtEl>
                                        <p:attrNameLst>
                                          <p:attrName>ppt_w</p:attrName>
                                        </p:attrNameLst>
                                      </p:cBhvr>
                                      <p:tavLst>
                                        <p:tav tm="0">
                                          <p:val>
                                            <p:strVal val="#ppt_w/10"/>
                                          </p:val>
                                        </p:tav>
                                        <p:tav tm="50000">
                                          <p:val>
                                            <p:strVal val="#ppt_w+.01"/>
                                          </p:val>
                                        </p:tav>
                                        <p:tav tm="100000">
                                          <p:val>
                                            <p:strVal val="#ppt_w"/>
                                          </p:val>
                                        </p:tav>
                                      </p:tavLst>
                                    </p:anim>
                                    <p:animEffect transition="in" filter="fade">
                                      <p:cBhvr>
                                        <p:cTn id="33" dur="500" tmFilter="0,0; .5, 1; 1, 1"/>
                                        <p:tgtEl>
                                          <p:spTgt spid="14"/>
                                        </p:tgtEl>
                                      </p:cBhvr>
                                    </p:animEffect>
                                  </p:childTnLst>
                                </p:cTn>
                              </p:par>
                            </p:childTnLst>
                          </p:cTn>
                        </p:par>
                        <p:par>
                          <p:cTn id="34" fill="hold">
                            <p:stCondLst>
                              <p:cond delay="3350"/>
                            </p:stCondLst>
                            <p:childTnLst>
                              <p:par>
                                <p:cTn id="35" presetID="26" presetClass="emph" presetSubtype="0" fill="hold" grpId="1" nodeType="afterEffect">
                                  <p:stCondLst>
                                    <p:cond delay="0"/>
                                  </p:stCondLst>
                                  <p:iterate type="lt">
                                    <p:tmPct val="0"/>
                                  </p:iterate>
                                  <p:childTnLst>
                                    <p:animEffect transition="out" filter="fade">
                                      <p:cBhvr>
                                        <p:cTn id="36" dur="500" tmFilter="0, 0; .2, .5; .8, .5; 1, 0"/>
                                        <p:tgtEl>
                                          <p:spTgt spid="14"/>
                                        </p:tgtEl>
                                      </p:cBhvr>
                                    </p:animEffect>
                                    <p:animScale>
                                      <p:cBhvr>
                                        <p:cTn id="37" dur="250" autoRev="1" fill="hold"/>
                                        <p:tgtEl>
                                          <p:spTgt spid="14"/>
                                        </p:tgtEl>
                                      </p:cBhvr>
                                      <p:by x="105000" y="105000"/>
                                    </p:animScale>
                                  </p:childTnLst>
                                </p:cTn>
                              </p:par>
                            </p:childTnLst>
                          </p:cTn>
                        </p:par>
                        <p:par>
                          <p:cTn id="38" fill="hold">
                            <p:stCondLst>
                              <p:cond delay="3850"/>
                            </p:stCondLst>
                            <p:childTnLst>
                              <p:par>
                                <p:cTn id="39" presetID="41" presetClass="entr" presetSubtype="0" fill="hold" grpId="0" nodeType="afterEffect">
                                  <p:stCondLst>
                                    <p:cond delay="0"/>
                                  </p:stCondLst>
                                  <p:iterate type="lt">
                                    <p:tmPct val="10000"/>
                                  </p:iterate>
                                  <p:childTnLst>
                                    <p:set>
                                      <p:cBhvr>
                                        <p:cTn id="40" dur="1" fill="hold">
                                          <p:stCondLst>
                                            <p:cond delay="0"/>
                                          </p:stCondLst>
                                        </p:cTn>
                                        <p:tgtEl>
                                          <p:spTgt spid="11"/>
                                        </p:tgtEl>
                                        <p:attrNameLst>
                                          <p:attrName>style.visibility</p:attrName>
                                        </p:attrNameLst>
                                      </p:cBhvr>
                                      <p:to>
                                        <p:strVal val="visible"/>
                                      </p:to>
                                    </p:set>
                                    <p:anim calcmode="lin" valueType="num">
                                      <p:cBhvr>
                                        <p:cTn id="41" dur="500" fill="hold"/>
                                        <p:tgtEl>
                                          <p:spTgt spid="11"/>
                                        </p:tgtEl>
                                        <p:attrNameLst>
                                          <p:attrName>ppt_x</p:attrName>
                                        </p:attrNameLst>
                                      </p:cBhvr>
                                      <p:tavLst>
                                        <p:tav tm="0">
                                          <p:val>
                                            <p:strVal val="#ppt_x"/>
                                          </p:val>
                                        </p:tav>
                                        <p:tav tm="50000">
                                          <p:val>
                                            <p:strVal val="#ppt_x+.1"/>
                                          </p:val>
                                        </p:tav>
                                        <p:tav tm="100000">
                                          <p:val>
                                            <p:strVal val="#ppt_x"/>
                                          </p:val>
                                        </p:tav>
                                      </p:tavLst>
                                    </p:anim>
                                    <p:anim calcmode="lin" valueType="num">
                                      <p:cBhvr>
                                        <p:cTn id="42" dur="500" fill="hold"/>
                                        <p:tgtEl>
                                          <p:spTgt spid="11"/>
                                        </p:tgtEl>
                                        <p:attrNameLst>
                                          <p:attrName>ppt_y</p:attrName>
                                        </p:attrNameLst>
                                      </p:cBhvr>
                                      <p:tavLst>
                                        <p:tav tm="0">
                                          <p:val>
                                            <p:strVal val="#ppt_y"/>
                                          </p:val>
                                        </p:tav>
                                        <p:tav tm="100000">
                                          <p:val>
                                            <p:strVal val="#ppt_y"/>
                                          </p:val>
                                        </p:tav>
                                      </p:tavLst>
                                    </p:anim>
                                    <p:anim calcmode="lin" valueType="num">
                                      <p:cBhvr>
                                        <p:cTn id="43" dur="500" fill="hold"/>
                                        <p:tgtEl>
                                          <p:spTgt spid="11"/>
                                        </p:tgtEl>
                                        <p:attrNameLst>
                                          <p:attrName>ppt_h</p:attrName>
                                        </p:attrNameLst>
                                      </p:cBhvr>
                                      <p:tavLst>
                                        <p:tav tm="0">
                                          <p:val>
                                            <p:strVal val="#ppt_h/10"/>
                                          </p:val>
                                        </p:tav>
                                        <p:tav tm="50000">
                                          <p:val>
                                            <p:strVal val="#ppt_h+.01"/>
                                          </p:val>
                                        </p:tav>
                                        <p:tav tm="100000">
                                          <p:val>
                                            <p:strVal val="#ppt_h"/>
                                          </p:val>
                                        </p:tav>
                                      </p:tavLst>
                                    </p:anim>
                                    <p:anim calcmode="lin" valueType="num">
                                      <p:cBhvr>
                                        <p:cTn id="44" dur="500" fill="hold"/>
                                        <p:tgtEl>
                                          <p:spTgt spid="11"/>
                                        </p:tgtEl>
                                        <p:attrNameLst>
                                          <p:attrName>ppt_w</p:attrName>
                                        </p:attrNameLst>
                                      </p:cBhvr>
                                      <p:tavLst>
                                        <p:tav tm="0">
                                          <p:val>
                                            <p:strVal val="#ppt_w/10"/>
                                          </p:val>
                                        </p:tav>
                                        <p:tav tm="50000">
                                          <p:val>
                                            <p:strVal val="#ppt_w+.01"/>
                                          </p:val>
                                        </p:tav>
                                        <p:tav tm="100000">
                                          <p:val>
                                            <p:strVal val="#ppt_w"/>
                                          </p:val>
                                        </p:tav>
                                      </p:tavLst>
                                    </p:anim>
                                    <p:animEffect transition="in" filter="fade">
                                      <p:cBhvr>
                                        <p:cTn id="45" dur="500" tmFilter="0,0; .5, 1; 1, 1"/>
                                        <p:tgtEl>
                                          <p:spTgt spid="11"/>
                                        </p:tgtEl>
                                      </p:cBhvr>
                                    </p:animEffect>
                                  </p:childTnLst>
                                </p:cTn>
                              </p:par>
                            </p:childTnLst>
                          </p:cTn>
                        </p:par>
                        <p:par>
                          <p:cTn id="46" fill="hold">
                            <p:stCondLst>
                              <p:cond delay="5000"/>
                            </p:stCondLst>
                            <p:childTnLst>
                              <p:par>
                                <p:cTn id="47" presetID="26" presetClass="emph" presetSubtype="0" fill="hold" grpId="1" nodeType="afterEffect">
                                  <p:stCondLst>
                                    <p:cond delay="0"/>
                                  </p:stCondLst>
                                  <p:iterate type="lt">
                                    <p:tmPct val="0"/>
                                  </p:iterate>
                                  <p:childTnLst>
                                    <p:animEffect transition="out" filter="fade">
                                      <p:cBhvr>
                                        <p:cTn id="48" dur="500" tmFilter="0, 0; .2, .5; .8, .5; 1, 0"/>
                                        <p:tgtEl>
                                          <p:spTgt spid="11"/>
                                        </p:tgtEl>
                                      </p:cBhvr>
                                    </p:animEffect>
                                    <p:animScale>
                                      <p:cBhvr>
                                        <p:cTn id="49" dur="250" autoRev="1" fill="hold"/>
                                        <p:tgtEl>
                                          <p:spTgt spid="1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50" repeatCount="indefinite" fill="remove" display="0">
                  <p:stCondLst>
                    <p:cond delay="indefinite"/>
                  </p:stCondLst>
                  <p:endCondLst>
                    <p:cond evt="onStopAudio" delay="0">
                      <p:tgtEl>
                        <p:sldTgt/>
                      </p:tgtEl>
                    </p:cond>
                  </p:endCondLst>
                </p:cTn>
                <p:tgtEl>
                  <p:spTgt spid="2"/>
                </p:tgtEl>
              </p:cMediaNode>
            </p:audio>
          </p:childTnLst>
        </p:cTn>
      </p:par>
    </p:tnLst>
    <p:bldLst>
      <p:bldP spid="23" grpId="0" animBg="1"/>
      <p:bldP spid="25" grpId="0" animBg="1"/>
      <p:bldP spid="12" grpId="0" animBg="1"/>
      <p:bldP spid="13" grpId="0" animBg="1"/>
      <p:bldP spid="14" grpId="0"/>
      <p:bldP spid="14" grpId="1"/>
      <p:bldP spid="11" grpId="0"/>
      <p:bldP spid="11"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6429375" y="1220420"/>
            <a:ext cx="4854342" cy="755777"/>
            <a:chOff x="5844664" y="1806352"/>
            <a:chExt cx="4854342" cy="755777"/>
          </a:xfrm>
        </p:grpSpPr>
        <p:sp>
          <p:nvSpPr>
            <p:cNvPr id="4" name="圆角矩形 3"/>
            <p:cNvSpPr/>
            <p:nvPr/>
          </p:nvSpPr>
          <p:spPr>
            <a:xfrm>
              <a:off x="5844664" y="1806352"/>
              <a:ext cx="4854342" cy="755777"/>
            </a:xfrm>
            <a:prstGeom prst="roundRect">
              <a:avLst>
                <a:gd name="adj" fmla="val 50000"/>
              </a:avLst>
            </a:prstGeom>
            <a:noFill/>
            <a:ln>
              <a:solidFill>
                <a:schemeClr val="accent1"/>
              </a:solidFill>
            </a:ln>
            <a:effectLst>
              <a:outerShdw blurRad="419100" dist="419100" dir="5400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lIns="72728" tIns="36364" rIns="72728" bIns="36364" rtlCol="0" anchor="ctr"/>
            <a:lstStyle/>
            <a:p>
              <a:pPr algn="ctr"/>
              <a:endParaRPr lang="zh-CN" altLang="en-US" sz="1510">
                <a:cs typeface="+mn-ea"/>
                <a:sym typeface="+mn-lt"/>
              </a:endParaRPr>
            </a:p>
          </p:txBody>
        </p:sp>
        <p:sp>
          <p:nvSpPr>
            <p:cNvPr id="5" name="椭圆 4"/>
            <p:cNvSpPr/>
            <p:nvPr/>
          </p:nvSpPr>
          <p:spPr>
            <a:xfrm>
              <a:off x="5979977" y="1902970"/>
              <a:ext cx="562540" cy="562540"/>
            </a:xfrm>
            <a:prstGeom prst="ellipse">
              <a:avLst/>
            </a:prstGeom>
            <a:solidFill>
              <a:schemeClr val="accent1"/>
            </a:solidFill>
            <a:ln>
              <a:noFill/>
            </a:ln>
            <a:effectLst>
              <a:outerShdw blurRad="419100" dist="419100" dir="5400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lIns="72728" tIns="36364" rIns="72728" bIns="36364" rtlCol="0" anchor="ctr"/>
            <a:lstStyle/>
            <a:p>
              <a:pPr algn="ctr"/>
              <a:r>
                <a:rPr lang="en-US" altLang="zh-CN" sz="1510" dirty="0">
                  <a:cs typeface="+mn-ea"/>
                  <a:sym typeface="+mn-lt"/>
                </a:rPr>
                <a:t>01</a:t>
              </a:r>
              <a:endParaRPr lang="zh-CN" altLang="en-US" sz="1510" dirty="0">
                <a:cs typeface="+mn-ea"/>
                <a:sym typeface="+mn-lt"/>
              </a:endParaRPr>
            </a:p>
          </p:txBody>
        </p:sp>
        <p:sp>
          <p:nvSpPr>
            <p:cNvPr id="40" name="MH_Entry_1"/>
            <p:cNvSpPr/>
            <p:nvPr>
              <p:custDataLst>
                <p:tags r:id="rId5"/>
              </p:custDataLst>
            </p:nvPr>
          </p:nvSpPr>
          <p:spPr>
            <a:xfrm>
              <a:off x="7036905" y="1968468"/>
              <a:ext cx="3167713" cy="430887"/>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algn="ctr"/>
              <a:r>
                <a:rPr lang="zh-CN" altLang="en-US" sz="2800" dirty="0">
                  <a:solidFill>
                    <a:schemeClr val="bg1">
                      <a:lumMod val="50000"/>
                    </a:schemeClr>
                  </a:solidFill>
                  <a:cs typeface="+mn-ea"/>
                  <a:sym typeface="+mn-lt"/>
                </a:rPr>
                <a:t>研究目的及意义</a:t>
              </a:r>
            </a:p>
          </p:txBody>
        </p:sp>
      </p:grpSp>
      <p:grpSp>
        <p:nvGrpSpPr>
          <p:cNvPr id="6" name="组合 5"/>
          <p:cNvGrpSpPr/>
          <p:nvPr/>
        </p:nvGrpSpPr>
        <p:grpSpPr>
          <a:xfrm>
            <a:off x="6429375" y="2277695"/>
            <a:ext cx="4854342" cy="755777"/>
            <a:chOff x="5844664" y="2863627"/>
            <a:chExt cx="4854342" cy="755777"/>
          </a:xfrm>
        </p:grpSpPr>
        <p:sp>
          <p:nvSpPr>
            <p:cNvPr id="28" name="圆角矩形 27"/>
            <p:cNvSpPr/>
            <p:nvPr/>
          </p:nvSpPr>
          <p:spPr>
            <a:xfrm>
              <a:off x="5844664" y="2863627"/>
              <a:ext cx="4854342" cy="755777"/>
            </a:xfrm>
            <a:prstGeom prst="roundRect">
              <a:avLst>
                <a:gd name="adj" fmla="val 50000"/>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72728" tIns="36364" rIns="72728" bIns="36364" rtlCol="0" anchor="ctr"/>
            <a:lstStyle/>
            <a:p>
              <a:pPr algn="ctr"/>
              <a:endParaRPr lang="zh-CN" altLang="en-US" sz="1510">
                <a:cs typeface="+mn-ea"/>
                <a:sym typeface="+mn-lt"/>
              </a:endParaRPr>
            </a:p>
          </p:txBody>
        </p:sp>
        <p:sp>
          <p:nvSpPr>
            <p:cNvPr id="29" name="椭圆 28"/>
            <p:cNvSpPr/>
            <p:nvPr/>
          </p:nvSpPr>
          <p:spPr>
            <a:xfrm>
              <a:off x="5979977" y="2936432"/>
              <a:ext cx="562540" cy="562540"/>
            </a:xfrm>
            <a:prstGeom prst="ellipse">
              <a:avLst/>
            </a:prstGeom>
            <a:solidFill>
              <a:srgbClr val="0070C0"/>
            </a:solidFill>
            <a:ln>
              <a:noFill/>
            </a:ln>
            <a:effectLst>
              <a:outerShdw blurRad="419100" dist="419100" dir="5400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lIns="72728" tIns="36364" rIns="72728" bIns="36364" rtlCol="0" anchor="ctr"/>
            <a:lstStyle/>
            <a:p>
              <a:pPr algn="ctr"/>
              <a:r>
                <a:rPr lang="en-US" altLang="zh-CN" sz="1510" dirty="0">
                  <a:cs typeface="+mn-ea"/>
                  <a:sym typeface="+mn-lt"/>
                </a:rPr>
                <a:t>02</a:t>
              </a:r>
              <a:endParaRPr lang="zh-CN" altLang="en-US" sz="1510" dirty="0">
                <a:cs typeface="+mn-ea"/>
                <a:sym typeface="+mn-lt"/>
              </a:endParaRPr>
            </a:p>
          </p:txBody>
        </p:sp>
        <p:sp>
          <p:nvSpPr>
            <p:cNvPr id="41" name="MH_Entry_2"/>
            <p:cNvSpPr/>
            <p:nvPr>
              <p:custDataLst>
                <p:tags r:id="rId4"/>
              </p:custDataLst>
            </p:nvPr>
          </p:nvSpPr>
          <p:spPr>
            <a:xfrm>
              <a:off x="6928892" y="3002258"/>
              <a:ext cx="3383737" cy="430887"/>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lvl="0" algn="ctr"/>
              <a:r>
                <a:rPr lang="zh-CN" altLang="en-US" sz="2800" dirty="0">
                  <a:solidFill>
                    <a:schemeClr val="bg1">
                      <a:lumMod val="50000"/>
                    </a:schemeClr>
                  </a:solidFill>
                  <a:cs typeface="+mn-ea"/>
                  <a:sym typeface="+mn-lt"/>
                </a:rPr>
                <a:t>论文的方法原理</a:t>
              </a:r>
            </a:p>
          </p:txBody>
        </p:sp>
      </p:grpSp>
      <p:grpSp>
        <p:nvGrpSpPr>
          <p:cNvPr id="8" name="组合 7"/>
          <p:cNvGrpSpPr/>
          <p:nvPr/>
        </p:nvGrpSpPr>
        <p:grpSpPr>
          <a:xfrm>
            <a:off x="6429375" y="3299251"/>
            <a:ext cx="4854342" cy="755777"/>
            <a:chOff x="5844664" y="3885183"/>
            <a:chExt cx="4854342" cy="755777"/>
          </a:xfrm>
        </p:grpSpPr>
        <p:sp>
          <p:nvSpPr>
            <p:cNvPr id="31" name="圆角矩形 30"/>
            <p:cNvSpPr/>
            <p:nvPr/>
          </p:nvSpPr>
          <p:spPr>
            <a:xfrm>
              <a:off x="5844664" y="3885183"/>
              <a:ext cx="4854342" cy="755777"/>
            </a:xfrm>
            <a:prstGeom prst="roundRect">
              <a:avLst>
                <a:gd name="adj" fmla="val 50000"/>
              </a:avLst>
            </a:prstGeom>
            <a:noFill/>
            <a:ln>
              <a:solidFill>
                <a:schemeClr val="accent1"/>
              </a:solidFill>
            </a:ln>
            <a:effectLst>
              <a:outerShdw blurRad="419100" dist="419100" dir="5400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lIns="72728" tIns="36364" rIns="72728" bIns="36364" rtlCol="0" anchor="ctr"/>
            <a:lstStyle/>
            <a:p>
              <a:pPr algn="ctr"/>
              <a:endParaRPr lang="zh-CN" altLang="en-US" sz="1510">
                <a:cs typeface="+mn-ea"/>
                <a:sym typeface="+mn-lt"/>
              </a:endParaRPr>
            </a:p>
          </p:txBody>
        </p:sp>
        <p:sp>
          <p:nvSpPr>
            <p:cNvPr id="32" name="椭圆 31"/>
            <p:cNvSpPr/>
            <p:nvPr/>
          </p:nvSpPr>
          <p:spPr>
            <a:xfrm>
              <a:off x="5979977" y="3981801"/>
              <a:ext cx="562540" cy="562540"/>
            </a:xfrm>
            <a:prstGeom prst="ellipse">
              <a:avLst/>
            </a:prstGeom>
            <a:solidFill>
              <a:schemeClr val="accent1"/>
            </a:solidFill>
            <a:ln>
              <a:noFill/>
            </a:ln>
            <a:effectLst>
              <a:outerShdw blurRad="419100" dist="419100" dir="5400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lIns="72728" tIns="36364" rIns="72728" bIns="36364" rtlCol="0" anchor="ctr"/>
            <a:lstStyle/>
            <a:p>
              <a:pPr algn="ctr"/>
              <a:r>
                <a:rPr lang="en-US" altLang="zh-CN" sz="1510" dirty="0">
                  <a:cs typeface="+mn-ea"/>
                  <a:sym typeface="+mn-lt"/>
                </a:rPr>
                <a:t>03</a:t>
              </a:r>
              <a:endParaRPr lang="zh-CN" altLang="en-US" sz="1510" dirty="0">
                <a:cs typeface="+mn-ea"/>
                <a:sym typeface="+mn-lt"/>
              </a:endParaRPr>
            </a:p>
          </p:txBody>
        </p:sp>
        <p:sp>
          <p:nvSpPr>
            <p:cNvPr id="42" name="MH_Entry_3"/>
            <p:cNvSpPr/>
            <p:nvPr>
              <p:custDataLst>
                <p:tags r:id="rId3"/>
              </p:custDataLst>
            </p:nvPr>
          </p:nvSpPr>
          <p:spPr>
            <a:xfrm>
              <a:off x="7125180" y="4047627"/>
              <a:ext cx="2991163" cy="430887"/>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lvl="0" algn="ctr"/>
              <a:r>
                <a:rPr lang="zh-CN" altLang="en-US" sz="2800" dirty="0">
                  <a:solidFill>
                    <a:schemeClr val="bg1">
                      <a:lumMod val="50000"/>
                    </a:schemeClr>
                  </a:solidFill>
                  <a:cs typeface="+mn-ea"/>
                  <a:sym typeface="+mn-lt"/>
                </a:rPr>
                <a:t>模型数据处理</a:t>
              </a:r>
            </a:p>
          </p:txBody>
        </p:sp>
      </p:grpSp>
      <p:grpSp>
        <p:nvGrpSpPr>
          <p:cNvPr id="7" name="组合 6"/>
          <p:cNvGrpSpPr/>
          <p:nvPr/>
        </p:nvGrpSpPr>
        <p:grpSpPr>
          <a:xfrm>
            <a:off x="6429375" y="4320807"/>
            <a:ext cx="4854342" cy="755777"/>
            <a:chOff x="5844664" y="4906739"/>
            <a:chExt cx="4854342" cy="755777"/>
          </a:xfrm>
        </p:grpSpPr>
        <p:sp>
          <p:nvSpPr>
            <p:cNvPr id="34" name="圆角矩形 33"/>
            <p:cNvSpPr/>
            <p:nvPr/>
          </p:nvSpPr>
          <p:spPr>
            <a:xfrm>
              <a:off x="5844664" y="4906739"/>
              <a:ext cx="4854342" cy="755777"/>
            </a:xfrm>
            <a:prstGeom prst="roundRect">
              <a:avLst>
                <a:gd name="adj" fmla="val 50000"/>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72728" tIns="36364" rIns="72728" bIns="36364" rtlCol="0" anchor="ctr"/>
            <a:lstStyle/>
            <a:p>
              <a:pPr algn="ctr"/>
              <a:endParaRPr lang="zh-CN" altLang="en-US" sz="1510">
                <a:cs typeface="+mn-ea"/>
                <a:sym typeface="+mn-lt"/>
              </a:endParaRPr>
            </a:p>
          </p:txBody>
        </p:sp>
        <p:sp>
          <p:nvSpPr>
            <p:cNvPr id="35" name="椭圆 34"/>
            <p:cNvSpPr/>
            <p:nvPr/>
          </p:nvSpPr>
          <p:spPr>
            <a:xfrm>
              <a:off x="5979977" y="5003357"/>
              <a:ext cx="562540" cy="562540"/>
            </a:xfrm>
            <a:prstGeom prst="ellipse">
              <a:avLst/>
            </a:prstGeom>
            <a:solidFill>
              <a:srgbClr val="0070C0"/>
            </a:solidFill>
            <a:ln>
              <a:noFill/>
            </a:ln>
            <a:effectLst>
              <a:outerShdw blurRad="419100" dist="419100" dir="5400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lIns="72728" tIns="36364" rIns="72728" bIns="36364" rtlCol="0" anchor="ctr"/>
            <a:lstStyle/>
            <a:p>
              <a:pPr algn="ctr"/>
              <a:r>
                <a:rPr lang="en-US" altLang="zh-CN" sz="1510" dirty="0">
                  <a:cs typeface="+mn-ea"/>
                  <a:sym typeface="+mn-lt"/>
                </a:rPr>
                <a:t>04</a:t>
              </a:r>
              <a:endParaRPr lang="zh-CN" altLang="en-US" sz="1510" dirty="0">
                <a:cs typeface="+mn-ea"/>
                <a:sym typeface="+mn-lt"/>
              </a:endParaRPr>
            </a:p>
          </p:txBody>
        </p:sp>
        <p:sp>
          <p:nvSpPr>
            <p:cNvPr id="43" name="MH_Entry_4"/>
            <p:cNvSpPr/>
            <p:nvPr>
              <p:custDataLst>
                <p:tags r:id="rId2"/>
              </p:custDataLst>
            </p:nvPr>
          </p:nvSpPr>
          <p:spPr>
            <a:xfrm>
              <a:off x="7339946" y="5003357"/>
              <a:ext cx="2561630" cy="430887"/>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lvl="0" algn="ctr"/>
              <a:r>
                <a:rPr lang="zh-CN" altLang="en-US" sz="2800" dirty="0">
                  <a:solidFill>
                    <a:schemeClr val="bg1">
                      <a:lumMod val="50000"/>
                    </a:schemeClr>
                  </a:solidFill>
                  <a:cs typeface="+mn-ea"/>
                  <a:sym typeface="+mn-lt"/>
                </a:rPr>
                <a:t>实际数据处理</a:t>
              </a:r>
            </a:p>
          </p:txBody>
        </p:sp>
      </p:grpSp>
      <p:grpSp>
        <p:nvGrpSpPr>
          <p:cNvPr id="30" name="组合 29"/>
          <p:cNvGrpSpPr/>
          <p:nvPr/>
        </p:nvGrpSpPr>
        <p:grpSpPr>
          <a:xfrm>
            <a:off x="194372" y="-19571"/>
            <a:ext cx="5564065" cy="7232650"/>
            <a:chOff x="0" y="-14713"/>
            <a:chExt cx="5564065" cy="7232650"/>
          </a:xfrm>
          <a:solidFill>
            <a:schemeClr val="tx1">
              <a:lumMod val="65000"/>
              <a:lumOff val="35000"/>
            </a:schemeClr>
          </a:solidFill>
        </p:grpSpPr>
        <p:sp>
          <p:nvSpPr>
            <p:cNvPr id="33" name="等腰三角形 32"/>
            <p:cNvSpPr/>
            <p:nvPr/>
          </p:nvSpPr>
          <p:spPr>
            <a:xfrm rot="5400000">
              <a:off x="5171328" y="1205572"/>
              <a:ext cx="421829" cy="363645"/>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72728" tIns="36364" rIns="72728" bIns="36364" rtlCol="0" anchor="ctr"/>
            <a:lstStyle/>
            <a:p>
              <a:pPr algn="ctr"/>
              <a:endParaRPr lang="zh-CN" altLang="en-US" sz="1510">
                <a:cs typeface="+mn-ea"/>
                <a:sym typeface="+mn-lt"/>
              </a:endParaRPr>
            </a:p>
          </p:txBody>
        </p:sp>
        <p:sp>
          <p:nvSpPr>
            <p:cNvPr id="36" name="矩形 35"/>
            <p:cNvSpPr/>
            <p:nvPr/>
          </p:nvSpPr>
          <p:spPr>
            <a:xfrm>
              <a:off x="0" y="-14713"/>
              <a:ext cx="5200420" cy="72326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72728" tIns="36364" rIns="72728" bIns="36364" rtlCol="0" anchor="ctr"/>
            <a:lstStyle/>
            <a:p>
              <a:pPr algn="ctr"/>
              <a:endParaRPr lang="zh-CN" altLang="en-US" sz="1510">
                <a:cs typeface="+mn-ea"/>
                <a:sym typeface="+mn-lt"/>
              </a:endParaRPr>
            </a:p>
          </p:txBody>
        </p:sp>
      </p:grpSp>
      <p:grpSp>
        <p:nvGrpSpPr>
          <p:cNvPr id="2" name="组合 1"/>
          <p:cNvGrpSpPr/>
          <p:nvPr/>
        </p:nvGrpSpPr>
        <p:grpSpPr>
          <a:xfrm>
            <a:off x="0" y="-14713"/>
            <a:ext cx="5564065" cy="7232650"/>
            <a:chOff x="0" y="-14713"/>
            <a:chExt cx="5564065" cy="7232650"/>
          </a:xfrm>
          <a:effectLst>
            <a:outerShdw blurRad="419100" dist="419100" dir="5400000" algn="ctr" rotWithShape="0">
              <a:srgbClr val="000000">
                <a:alpha val="43137"/>
              </a:srgbClr>
            </a:outerShdw>
          </a:effectLst>
        </p:grpSpPr>
        <p:sp>
          <p:nvSpPr>
            <p:cNvPr id="13" name="等腰三角形 12"/>
            <p:cNvSpPr/>
            <p:nvPr/>
          </p:nvSpPr>
          <p:spPr>
            <a:xfrm rot="5400000">
              <a:off x="5171328" y="1205572"/>
              <a:ext cx="421829" cy="36364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728" tIns="36364" rIns="72728" bIns="36364" rtlCol="0" anchor="ctr"/>
            <a:lstStyle/>
            <a:p>
              <a:pPr algn="ctr"/>
              <a:endParaRPr lang="zh-CN" altLang="en-US" sz="1510">
                <a:effectLst>
                  <a:outerShdw blurRad="419100" dist="419100" dir="5400000" algn="ctr" rotWithShape="0">
                    <a:srgbClr val="000000">
                      <a:alpha val="43137"/>
                    </a:srgbClr>
                  </a:outerShdw>
                </a:effectLst>
                <a:cs typeface="+mn-ea"/>
                <a:sym typeface="+mn-lt"/>
              </a:endParaRPr>
            </a:p>
          </p:txBody>
        </p:sp>
        <p:sp>
          <p:nvSpPr>
            <p:cNvPr id="12" name="矩形 11"/>
            <p:cNvSpPr/>
            <p:nvPr/>
          </p:nvSpPr>
          <p:spPr>
            <a:xfrm>
              <a:off x="0" y="-14713"/>
              <a:ext cx="5200420" cy="723265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72728" tIns="36364" rIns="72728" bIns="36364" rtlCol="0" anchor="ctr"/>
            <a:lstStyle/>
            <a:p>
              <a:pPr algn="ctr"/>
              <a:endParaRPr lang="zh-CN" altLang="en-US" sz="1510">
                <a:effectLst>
                  <a:outerShdw blurRad="419100" dist="419100" dir="5400000" algn="ctr" rotWithShape="0">
                    <a:srgbClr val="000000">
                      <a:alpha val="43137"/>
                    </a:srgbClr>
                  </a:outerShdw>
                </a:effectLst>
                <a:cs typeface="+mn-ea"/>
                <a:sym typeface="+mn-lt"/>
              </a:endParaRPr>
            </a:p>
          </p:txBody>
        </p:sp>
      </p:grpSp>
      <p:sp>
        <p:nvSpPr>
          <p:cNvPr id="25" name="椭圆 24"/>
          <p:cNvSpPr/>
          <p:nvPr/>
        </p:nvSpPr>
        <p:spPr>
          <a:xfrm>
            <a:off x="1612653" y="2523796"/>
            <a:ext cx="1588559" cy="1588559"/>
          </a:xfrm>
          <a:prstGeom prst="ellipse">
            <a:avLst/>
          </a:prstGeom>
          <a:solidFill>
            <a:schemeClr val="bg1"/>
          </a:solidFill>
          <a:ln>
            <a:noFill/>
          </a:ln>
          <a:effectLst>
            <a:outerShdw blurRad="419100" dist="419100" dir="5400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lIns="72728" tIns="36364" rIns="72728" bIns="36364" rtlCol="0" anchor="ctr"/>
          <a:lstStyle/>
          <a:p>
            <a:pPr algn="ctr"/>
            <a:r>
              <a:rPr lang="zh-CN" altLang="en-US" sz="3600" b="1" dirty="0">
                <a:solidFill>
                  <a:srgbClr val="0070C0"/>
                </a:solidFill>
                <a:cs typeface="+mn-ea"/>
                <a:sym typeface="+mn-lt"/>
              </a:rPr>
              <a:t>目录</a:t>
            </a:r>
          </a:p>
        </p:txBody>
      </p:sp>
      <p:sp>
        <p:nvSpPr>
          <p:cNvPr id="22" name="同心圆 21"/>
          <p:cNvSpPr/>
          <p:nvPr/>
        </p:nvSpPr>
        <p:spPr>
          <a:xfrm>
            <a:off x="755437" y="1673859"/>
            <a:ext cx="3302992" cy="3302992"/>
          </a:xfrm>
          <a:prstGeom prst="donut">
            <a:avLst>
              <a:gd name="adj" fmla="val 15195"/>
            </a:avLst>
          </a:prstGeom>
          <a:solidFill>
            <a:schemeClr val="bg1"/>
          </a:solidFill>
          <a:ln>
            <a:noFill/>
          </a:ln>
          <a:effectLst>
            <a:outerShdw blurRad="419100" dist="419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728" tIns="36364" rIns="72728" bIns="36364" rtlCol="0" anchor="ctr"/>
          <a:lstStyle/>
          <a:p>
            <a:pPr algn="ctr"/>
            <a:endParaRPr lang="zh-CN" altLang="en-US" sz="3600" b="1" dirty="0">
              <a:solidFill>
                <a:schemeClr val="bg1">
                  <a:lumMod val="50000"/>
                </a:schemeClr>
              </a:solidFill>
              <a:cs typeface="+mn-ea"/>
              <a:sym typeface="+mn-lt"/>
            </a:endParaRPr>
          </a:p>
        </p:txBody>
      </p:sp>
      <p:grpSp>
        <p:nvGrpSpPr>
          <p:cNvPr id="26" name="组合 25">
            <a:extLst>
              <a:ext uri="{FF2B5EF4-FFF2-40B4-BE49-F238E27FC236}">
                <a16:creationId xmlns:a16="http://schemas.microsoft.com/office/drawing/2014/main" id="{FF930E15-0470-45A7-8843-1AFF1DB8F4A7}"/>
              </a:ext>
            </a:extLst>
          </p:cNvPr>
          <p:cNvGrpSpPr/>
          <p:nvPr/>
        </p:nvGrpSpPr>
        <p:grpSpPr>
          <a:xfrm>
            <a:off x="6429375" y="5342363"/>
            <a:ext cx="4854342" cy="755777"/>
            <a:chOff x="5844664" y="4906739"/>
            <a:chExt cx="4854342" cy="755777"/>
          </a:xfrm>
        </p:grpSpPr>
        <p:sp>
          <p:nvSpPr>
            <p:cNvPr id="27" name="圆角矩形 33">
              <a:extLst>
                <a:ext uri="{FF2B5EF4-FFF2-40B4-BE49-F238E27FC236}">
                  <a16:creationId xmlns:a16="http://schemas.microsoft.com/office/drawing/2014/main" id="{9D535232-5653-4A3B-B509-3B4282C92B33}"/>
                </a:ext>
              </a:extLst>
            </p:cNvPr>
            <p:cNvSpPr/>
            <p:nvPr/>
          </p:nvSpPr>
          <p:spPr>
            <a:xfrm>
              <a:off x="5844664" y="4906739"/>
              <a:ext cx="4854342" cy="755777"/>
            </a:xfrm>
            <a:prstGeom prst="roundRect">
              <a:avLst>
                <a:gd name="adj" fmla="val 50000"/>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72728" tIns="36364" rIns="72728" bIns="36364" rtlCol="0" anchor="ctr"/>
            <a:lstStyle/>
            <a:p>
              <a:pPr algn="ctr"/>
              <a:endParaRPr lang="zh-CN" altLang="en-US" sz="1510">
                <a:cs typeface="+mn-ea"/>
                <a:sym typeface="+mn-lt"/>
              </a:endParaRPr>
            </a:p>
          </p:txBody>
        </p:sp>
        <p:sp>
          <p:nvSpPr>
            <p:cNvPr id="37" name="椭圆 36">
              <a:extLst>
                <a:ext uri="{FF2B5EF4-FFF2-40B4-BE49-F238E27FC236}">
                  <a16:creationId xmlns:a16="http://schemas.microsoft.com/office/drawing/2014/main" id="{56116B06-FEE8-4C00-989E-82A4F2BD2026}"/>
                </a:ext>
              </a:extLst>
            </p:cNvPr>
            <p:cNvSpPr/>
            <p:nvPr/>
          </p:nvSpPr>
          <p:spPr>
            <a:xfrm>
              <a:off x="5979977" y="5003357"/>
              <a:ext cx="562540" cy="562540"/>
            </a:xfrm>
            <a:prstGeom prst="ellipse">
              <a:avLst/>
            </a:prstGeom>
            <a:solidFill>
              <a:srgbClr val="0070C0"/>
            </a:solidFill>
            <a:ln>
              <a:noFill/>
            </a:ln>
            <a:effectLst>
              <a:outerShdw blurRad="419100" dist="419100" dir="5400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lIns="72728" tIns="36364" rIns="72728" bIns="36364" rtlCol="0" anchor="ctr"/>
            <a:lstStyle/>
            <a:p>
              <a:pPr algn="ctr"/>
              <a:r>
                <a:rPr lang="en-US" altLang="zh-CN" sz="1510" dirty="0">
                  <a:cs typeface="+mn-ea"/>
                  <a:sym typeface="+mn-lt"/>
                </a:rPr>
                <a:t>05</a:t>
              </a:r>
              <a:endParaRPr lang="zh-CN" altLang="en-US" sz="1510" dirty="0">
                <a:cs typeface="+mn-ea"/>
                <a:sym typeface="+mn-lt"/>
              </a:endParaRPr>
            </a:p>
          </p:txBody>
        </p:sp>
        <p:sp>
          <p:nvSpPr>
            <p:cNvPr id="38" name="MH_Entry_4">
              <a:extLst>
                <a:ext uri="{FF2B5EF4-FFF2-40B4-BE49-F238E27FC236}">
                  <a16:creationId xmlns:a16="http://schemas.microsoft.com/office/drawing/2014/main" id="{8C439EE9-9056-4EEE-B2E6-1049B6179750}"/>
                </a:ext>
              </a:extLst>
            </p:cNvPr>
            <p:cNvSpPr/>
            <p:nvPr>
              <p:custDataLst>
                <p:tags r:id="rId1"/>
              </p:custDataLst>
            </p:nvPr>
          </p:nvSpPr>
          <p:spPr>
            <a:xfrm>
              <a:off x="7339946" y="5003357"/>
              <a:ext cx="2561630" cy="430887"/>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lvl="0" algn="ctr"/>
              <a:r>
                <a:rPr lang="zh-CN" altLang="en-US" sz="2800" dirty="0">
                  <a:solidFill>
                    <a:schemeClr val="bg1">
                      <a:lumMod val="50000"/>
                    </a:schemeClr>
                  </a:solidFill>
                  <a:cs typeface="+mn-ea"/>
                  <a:sym typeface="+mn-lt"/>
                </a:rPr>
                <a:t>结论与展望</a:t>
              </a:r>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11643">
        <p15:prstTrans prst="pageCurlDouble"/>
      </p:transition>
    </mc:Choice>
    <mc:Fallback xmlns="">
      <p:transition spd="slow" advTm="11643">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down)">
                                          <p:cBhvr>
                                            <p:cTn id="7" dur="500"/>
                                            <p:tgtEl>
                                              <p:spTgt spid="30"/>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down)">
                                          <p:cBhvr>
                                            <p:cTn id="11" dur="500"/>
                                            <p:tgtEl>
                                              <p:spTgt spid="2"/>
                                            </p:tgtEl>
                                          </p:cBhvr>
                                        </p:animEffect>
                                      </p:childTnLst>
                                    </p:cTn>
                                  </p:par>
                                </p:childTnLst>
                              </p:cTn>
                            </p:par>
                            <p:par>
                              <p:cTn id="12" fill="hold">
                                <p:stCondLst>
                                  <p:cond delay="1000"/>
                                </p:stCondLst>
                                <p:childTnLst>
                                  <p:par>
                                    <p:cTn id="13" presetID="42" presetClass="entr" presetSubtype="0"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1000"/>
                                            <p:tgtEl>
                                              <p:spTgt spid="22"/>
                                            </p:tgtEl>
                                          </p:cBhvr>
                                        </p:animEffect>
                                        <p:anim calcmode="lin" valueType="num">
                                          <p:cBhvr>
                                            <p:cTn id="16" dur="1000" fill="hold"/>
                                            <p:tgtEl>
                                              <p:spTgt spid="22"/>
                                            </p:tgtEl>
                                            <p:attrNameLst>
                                              <p:attrName>ppt_x</p:attrName>
                                            </p:attrNameLst>
                                          </p:cBhvr>
                                          <p:tavLst>
                                            <p:tav tm="0">
                                              <p:val>
                                                <p:strVal val="#ppt_x"/>
                                              </p:val>
                                            </p:tav>
                                            <p:tav tm="100000">
                                              <p:val>
                                                <p:strVal val="#ppt_x"/>
                                              </p:val>
                                            </p:tav>
                                          </p:tavLst>
                                        </p:anim>
                                        <p:anim calcmode="lin" valueType="num">
                                          <p:cBhvr>
                                            <p:cTn id="17" dur="1000" fill="hold"/>
                                            <p:tgtEl>
                                              <p:spTgt spid="22"/>
                                            </p:tgtEl>
                                            <p:attrNameLst>
                                              <p:attrName>ppt_y</p:attrName>
                                            </p:attrNameLst>
                                          </p:cBhvr>
                                          <p:tavLst>
                                            <p:tav tm="0">
                                              <p:val>
                                                <p:strVal val="#ppt_y+.1"/>
                                              </p:val>
                                            </p:tav>
                                            <p:tav tm="100000">
                                              <p:val>
                                                <p:strVal val="#ppt_y"/>
                                              </p:val>
                                            </p:tav>
                                          </p:tavLst>
                                        </p:anim>
                                      </p:childTnLst>
                                    </p:cTn>
                                  </p:par>
                                </p:childTnLst>
                              </p:cTn>
                            </p:par>
                            <p:par>
                              <p:cTn id="18" fill="hold">
                                <p:stCondLst>
                                  <p:cond delay="2000"/>
                                </p:stCondLst>
                                <p:childTnLst>
                                  <p:par>
                                    <p:cTn id="19" presetID="42" presetClass="entr" presetSubtype="0"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1000"/>
                                            <p:tgtEl>
                                              <p:spTgt spid="25"/>
                                            </p:tgtEl>
                                          </p:cBhvr>
                                        </p:animEffect>
                                        <p:anim calcmode="lin" valueType="num">
                                          <p:cBhvr>
                                            <p:cTn id="22" dur="1000" fill="hold"/>
                                            <p:tgtEl>
                                              <p:spTgt spid="25"/>
                                            </p:tgtEl>
                                            <p:attrNameLst>
                                              <p:attrName>ppt_x</p:attrName>
                                            </p:attrNameLst>
                                          </p:cBhvr>
                                          <p:tavLst>
                                            <p:tav tm="0">
                                              <p:val>
                                                <p:strVal val="#ppt_x"/>
                                              </p:val>
                                            </p:tav>
                                            <p:tav tm="100000">
                                              <p:val>
                                                <p:strVal val="#ppt_x"/>
                                              </p:val>
                                            </p:tav>
                                          </p:tavLst>
                                        </p:anim>
                                        <p:anim calcmode="lin" valueType="num">
                                          <p:cBhvr>
                                            <p:cTn id="23" dur="1000" fill="hold"/>
                                            <p:tgtEl>
                                              <p:spTgt spid="25"/>
                                            </p:tgtEl>
                                            <p:attrNameLst>
                                              <p:attrName>ppt_y</p:attrName>
                                            </p:attrNameLst>
                                          </p:cBhvr>
                                          <p:tavLst>
                                            <p:tav tm="0">
                                              <p:val>
                                                <p:strVal val="#ppt_y+.1"/>
                                              </p:val>
                                            </p:tav>
                                            <p:tav tm="100000">
                                              <p:val>
                                                <p:strVal val="#ppt_y"/>
                                              </p:val>
                                            </p:tav>
                                          </p:tavLst>
                                        </p:anim>
                                      </p:childTnLst>
                                    </p:cTn>
                                  </p:par>
                                </p:childTnLst>
                              </p:cTn>
                            </p:par>
                            <p:par>
                              <p:cTn id="24" fill="hold">
                                <p:stCondLst>
                                  <p:cond delay="3000"/>
                                </p:stCondLst>
                                <p:childTnLst>
                                  <p:par>
                                    <p:cTn id="25" presetID="2" presetClass="entr" presetSubtype="8" accel="40000" fill="hold" nodeType="afterEffect" p14:presetBounceEnd="40000">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14:bounceEnd="40000">
                                          <p:cBhvr additive="base">
                                            <p:cTn id="27" dur="1500" fill="hold"/>
                                            <p:tgtEl>
                                              <p:spTgt spid="3"/>
                                            </p:tgtEl>
                                            <p:attrNameLst>
                                              <p:attrName>ppt_x</p:attrName>
                                            </p:attrNameLst>
                                          </p:cBhvr>
                                          <p:tavLst>
                                            <p:tav tm="0">
                                              <p:val>
                                                <p:strVal val="0-#ppt_w/2"/>
                                              </p:val>
                                            </p:tav>
                                            <p:tav tm="100000">
                                              <p:val>
                                                <p:strVal val="#ppt_x"/>
                                              </p:val>
                                            </p:tav>
                                          </p:tavLst>
                                        </p:anim>
                                        <p:anim calcmode="lin" valueType="num" p14:bounceEnd="40000">
                                          <p:cBhvr additive="base">
                                            <p:cTn id="28" dur="1500" fill="hold"/>
                                            <p:tgtEl>
                                              <p:spTgt spid="3"/>
                                            </p:tgtEl>
                                            <p:attrNameLst>
                                              <p:attrName>ppt_y</p:attrName>
                                            </p:attrNameLst>
                                          </p:cBhvr>
                                          <p:tavLst>
                                            <p:tav tm="0">
                                              <p:val>
                                                <p:strVal val="#ppt_y"/>
                                              </p:val>
                                            </p:tav>
                                            <p:tav tm="100000">
                                              <p:val>
                                                <p:strVal val="#ppt_y"/>
                                              </p:val>
                                            </p:tav>
                                          </p:tavLst>
                                        </p:anim>
                                      </p:childTnLst>
                                    </p:cTn>
                                  </p:par>
                                </p:childTnLst>
                              </p:cTn>
                            </p:par>
                            <p:par>
                              <p:cTn id="29" fill="hold">
                                <p:stCondLst>
                                  <p:cond delay="4500"/>
                                </p:stCondLst>
                                <p:childTnLst>
                                  <p:par>
                                    <p:cTn id="30" presetID="2" presetClass="entr" presetSubtype="8" accel="40000" fill="hold" nodeType="afterEffect" p14:presetBounceEnd="40000">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14:bounceEnd="40000">
                                          <p:cBhvr additive="base">
                                            <p:cTn id="32" dur="1500" fill="hold"/>
                                            <p:tgtEl>
                                              <p:spTgt spid="6"/>
                                            </p:tgtEl>
                                            <p:attrNameLst>
                                              <p:attrName>ppt_x</p:attrName>
                                            </p:attrNameLst>
                                          </p:cBhvr>
                                          <p:tavLst>
                                            <p:tav tm="0">
                                              <p:val>
                                                <p:strVal val="0-#ppt_w/2"/>
                                              </p:val>
                                            </p:tav>
                                            <p:tav tm="100000">
                                              <p:val>
                                                <p:strVal val="#ppt_x"/>
                                              </p:val>
                                            </p:tav>
                                          </p:tavLst>
                                        </p:anim>
                                        <p:anim calcmode="lin" valueType="num" p14:bounceEnd="40000">
                                          <p:cBhvr additive="base">
                                            <p:cTn id="33" dur="1500" fill="hold"/>
                                            <p:tgtEl>
                                              <p:spTgt spid="6"/>
                                            </p:tgtEl>
                                            <p:attrNameLst>
                                              <p:attrName>ppt_y</p:attrName>
                                            </p:attrNameLst>
                                          </p:cBhvr>
                                          <p:tavLst>
                                            <p:tav tm="0">
                                              <p:val>
                                                <p:strVal val="#ppt_y"/>
                                              </p:val>
                                            </p:tav>
                                            <p:tav tm="100000">
                                              <p:val>
                                                <p:strVal val="#ppt_y"/>
                                              </p:val>
                                            </p:tav>
                                          </p:tavLst>
                                        </p:anim>
                                      </p:childTnLst>
                                    </p:cTn>
                                  </p:par>
                                </p:childTnLst>
                              </p:cTn>
                            </p:par>
                            <p:par>
                              <p:cTn id="34" fill="hold">
                                <p:stCondLst>
                                  <p:cond delay="6000"/>
                                </p:stCondLst>
                                <p:childTnLst>
                                  <p:par>
                                    <p:cTn id="35" presetID="2" presetClass="entr" presetSubtype="8" accel="40000" fill="hold" nodeType="afterEffect" p14:presetBounceEnd="40000">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14:bounceEnd="40000">
                                          <p:cBhvr additive="base">
                                            <p:cTn id="37" dur="1500" fill="hold"/>
                                            <p:tgtEl>
                                              <p:spTgt spid="8"/>
                                            </p:tgtEl>
                                            <p:attrNameLst>
                                              <p:attrName>ppt_x</p:attrName>
                                            </p:attrNameLst>
                                          </p:cBhvr>
                                          <p:tavLst>
                                            <p:tav tm="0">
                                              <p:val>
                                                <p:strVal val="0-#ppt_w/2"/>
                                              </p:val>
                                            </p:tav>
                                            <p:tav tm="100000">
                                              <p:val>
                                                <p:strVal val="#ppt_x"/>
                                              </p:val>
                                            </p:tav>
                                          </p:tavLst>
                                        </p:anim>
                                        <p:anim calcmode="lin" valueType="num" p14:bounceEnd="40000">
                                          <p:cBhvr additive="base">
                                            <p:cTn id="38" dur="1500" fill="hold"/>
                                            <p:tgtEl>
                                              <p:spTgt spid="8"/>
                                            </p:tgtEl>
                                            <p:attrNameLst>
                                              <p:attrName>ppt_y</p:attrName>
                                            </p:attrNameLst>
                                          </p:cBhvr>
                                          <p:tavLst>
                                            <p:tav tm="0">
                                              <p:val>
                                                <p:strVal val="#ppt_y"/>
                                              </p:val>
                                            </p:tav>
                                            <p:tav tm="100000">
                                              <p:val>
                                                <p:strVal val="#ppt_y"/>
                                              </p:val>
                                            </p:tav>
                                          </p:tavLst>
                                        </p:anim>
                                      </p:childTnLst>
                                    </p:cTn>
                                  </p:par>
                                </p:childTnLst>
                              </p:cTn>
                            </p:par>
                            <p:par>
                              <p:cTn id="39" fill="hold">
                                <p:stCondLst>
                                  <p:cond delay="7500"/>
                                </p:stCondLst>
                                <p:childTnLst>
                                  <p:par>
                                    <p:cTn id="40" presetID="2" presetClass="entr" presetSubtype="8" accel="40000" fill="hold" nodeType="afterEffect" p14:presetBounceEnd="40000">
                                      <p:stCondLst>
                                        <p:cond delay="0"/>
                                      </p:stCondLst>
                                      <p:childTnLst>
                                        <p:set>
                                          <p:cBhvr>
                                            <p:cTn id="41" dur="1" fill="hold">
                                              <p:stCondLst>
                                                <p:cond delay="0"/>
                                              </p:stCondLst>
                                            </p:cTn>
                                            <p:tgtEl>
                                              <p:spTgt spid="7"/>
                                            </p:tgtEl>
                                            <p:attrNameLst>
                                              <p:attrName>style.visibility</p:attrName>
                                            </p:attrNameLst>
                                          </p:cBhvr>
                                          <p:to>
                                            <p:strVal val="visible"/>
                                          </p:to>
                                        </p:set>
                                        <p:anim calcmode="lin" valueType="num" p14:bounceEnd="40000">
                                          <p:cBhvr additive="base">
                                            <p:cTn id="42" dur="1500" fill="hold"/>
                                            <p:tgtEl>
                                              <p:spTgt spid="7"/>
                                            </p:tgtEl>
                                            <p:attrNameLst>
                                              <p:attrName>ppt_x</p:attrName>
                                            </p:attrNameLst>
                                          </p:cBhvr>
                                          <p:tavLst>
                                            <p:tav tm="0">
                                              <p:val>
                                                <p:strVal val="0-#ppt_w/2"/>
                                              </p:val>
                                            </p:tav>
                                            <p:tav tm="100000">
                                              <p:val>
                                                <p:strVal val="#ppt_x"/>
                                              </p:val>
                                            </p:tav>
                                          </p:tavLst>
                                        </p:anim>
                                        <p:anim calcmode="lin" valueType="num" p14:bounceEnd="40000">
                                          <p:cBhvr additive="base">
                                            <p:cTn id="43" dur="1500" fill="hold"/>
                                            <p:tgtEl>
                                              <p:spTgt spid="7"/>
                                            </p:tgtEl>
                                            <p:attrNameLst>
                                              <p:attrName>ppt_y</p:attrName>
                                            </p:attrNameLst>
                                          </p:cBhvr>
                                          <p:tavLst>
                                            <p:tav tm="0">
                                              <p:val>
                                                <p:strVal val="#ppt_y"/>
                                              </p:val>
                                            </p:tav>
                                            <p:tav tm="100000">
                                              <p:val>
                                                <p:strVal val="#ppt_y"/>
                                              </p:val>
                                            </p:tav>
                                          </p:tavLst>
                                        </p:anim>
                                      </p:childTnLst>
                                    </p:cTn>
                                  </p:par>
                                </p:childTnLst>
                              </p:cTn>
                            </p:par>
                            <p:par>
                              <p:cTn id="44" fill="hold">
                                <p:stCondLst>
                                  <p:cond delay="9000"/>
                                </p:stCondLst>
                                <p:childTnLst>
                                  <p:par>
                                    <p:cTn id="45" presetID="2" presetClass="entr" presetSubtype="8" accel="40000" fill="hold" nodeType="afterEffect" p14:presetBounceEnd="40000">
                                      <p:stCondLst>
                                        <p:cond delay="0"/>
                                      </p:stCondLst>
                                      <p:childTnLst>
                                        <p:set>
                                          <p:cBhvr>
                                            <p:cTn id="46" dur="1" fill="hold">
                                              <p:stCondLst>
                                                <p:cond delay="0"/>
                                              </p:stCondLst>
                                            </p:cTn>
                                            <p:tgtEl>
                                              <p:spTgt spid="26"/>
                                            </p:tgtEl>
                                            <p:attrNameLst>
                                              <p:attrName>style.visibility</p:attrName>
                                            </p:attrNameLst>
                                          </p:cBhvr>
                                          <p:to>
                                            <p:strVal val="visible"/>
                                          </p:to>
                                        </p:set>
                                        <p:anim calcmode="lin" valueType="num" p14:bounceEnd="40000">
                                          <p:cBhvr additive="base">
                                            <p:cTn id="47" dur="1500" fill="hold"/>
                                            <p:tgtEl>
                                              <p:spTgt spid="26"/>
                                            </p:tgtEl>
                                            <p:attrNameLst>
                                              <p:attrName>ppt_x</p:attrName>
                                            </p:attrNameLst>
                                          </p:cBhvr>
                                          <p:tavLst>
                                            <p:tav tm="0">
                                              <p:val>
                                                <p:strVal val="0-#ppt_w/2"/>
                                              </p:val>
                                            </p:tav>
                                            <p:tav tm="100000">
                                              <p:val>
                                                <p:strVal val="#ppt_x"/>
                                              </p:val>
                                            </p:tav>
                                          </p:tavLst>
                                        </p:anim>
                                        <p:anim calcmode="lin" valueType="num" p14:bounceEnd="40000">
                                          <p:cBhvr additive="base">
                                            <p:cTn id="48" dur="1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2"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down)">
                                          <p:cBhvr>
                                            <p:cTn id="7" dur="500"/>
                                            <p:tgtEl>
                                              <p:spTgt spid="30"/>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down)">
                                          <p:cBhvr>
                                            <p:cTn id="11" dur="500"/>
                                            <p:tgtEl>
                                              <p:spTgt spid="2"/>
                                            </p:tgtEl>
                                          </p:cBhvr>
                                        </p:animEffect>
                                      </p:childTnLst>
                                    </p:cTn>
                                  </p:par>
                                </p:childTnLst>
                              </p:cTn>
                            </p:par>
                            <p:par>
                              <p:cTn id="12" fill="hold">
                                <p:stCondLst>
                                  <p:cond delay="1000"/>
                                </p:stCondLst>
                                <p:childTnLst>
                                  <p:par>
                                    <p:cTn id="13" presetID="42" presetClass="entr" presetSubtype="0"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1000"/>
                                            <p:tgtEl>
                                              <p:spTgt spid="22"/>
                                            </p:tgtEl>
                                          </p:cBhvr>
                                        </p:animEffect>
                                        <p:anim calcmode="lin" valueType="num">
                                          <p:cBhvr>
                                            <p:cTn id="16" dur="1000" fill="hold"/>
                                            <p:tgtEl>
                                              <p:spTgt spid="22"/>
                                            </p:tgtEl>
                                            <p:attrNameLst>
                                              <p:attrName>ppt_x</p:attrName>
                                            </p:attrNameLst>
                                          </p:cBhvr>
                                          <p:tavLst>
                                            <p:tav tm="0">
                                              <p:val>
                                                <p:strVal val="#ppt_x"/>
                                              </p:val>
                                            </p:tav>
                                            <p:tav tm="100000">
                                              <p:val>
                                                <p:strVal val="#ppt_x"/>
                                              </p:val>
                                            </p:tav>
                                          </p:tavLst>
                                        </p:anim>
                                        <p:anim calcmode="lin" valueType="num">
                                          <p:cBhvr>
                                            <p:cTn id="17" dur="1000" fill="hold"/>
                                            <p:tgtEl>
                                              <p:spTgt spid="22"/>
                                            </p:tgtEl>
                                            <p:attrNameLst>
                                              <p:attrName>ppt_y</p:attrName>
                                            </p:attrNameLst>
                                          </p:cBhvr>
                                          <p:tavLst>
                                            <p:tav tm="0">
                                              <p:val>
                                                <p:strVal val="#ppt_y+.1"/>
                                              </p:val>
                                            </p:tav>
                                            <p:tav tm="100000">
                                              <p:val>
                                                <p:strVal val="#ppt_y"/>
                                              </p:val>
                                            </p:tav>
                                          </p:tavLst>
                                        </p:anim>
                                      </p:childTnLst>
                                    </p:cTn>
                                  </p:par>
                                </p:childTnLst>
                              </p:cTn>
                            </p:par>
                            <p:par>
                              <p:cTn id="18" fill="hold">
                                <p:stCondLst>
                                  <p:cond delay="2000"/>
                                </p:stCondLst>
                                <p:childTnLst>
                                  <p:par>
                                    <p:cTn id="19" presetID="42" presetClass="entr" presetSubtype="0"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1000"/>
                                            <p:tgtEl>
                                              <p:spTgt spid="25"/>
                                            </p:tgtEl>
                                          </p:cBhvr>
                                        </p:animEffect>
                                        <p:anim calcmode="lin" valueType="num">
                                          <p:cBhvr>
                                            <p:cTn id="22" dur="1000" fill="hold"/>
                                            <p:tgtEl>
                                              <p:spTgt spid="25"/>
                                            </p:tgtEl>
                                            <p:attrNameLst>
                                              <p:attrName>ppt_x</p:attrName>
                                            </p:attrNameLst>
                                          </p:cBhvr>
                                          <p:tavLst>
                                            <p:tav tm="0">
                                              <p:val>
                                                <p:strVal val="#ppt_x"/>
                                              </p:val>
                                            </p:tav>
                                            <p:tav tm="100000">
                                              <p:val>
                                                <p:strVal val="#ppt_x"/>
                                              </p:val>
                                            </p:tav>
                                          </p:tavLst>
                                        </p:anim>
                                        <p:anim calcmode="lin" valueType="num">
                                          <p:cBhvr>
                                            <p:cTn id="23" dur="1000" fill="hold"/>
                                            <p:tgtEl>
                                              <p:spTgt spid="25"/>
                                            </p:tgtEl>
                                            <p:attrNameLst>
                                              <p:attrName>ppt_y</p:attrName>
                                            </p:attrNameLst>
                                          </p:cBhvr>
                                          <p:tavLst>
                                            <p:tav tm="0">
                                              <p:val>
                                                <p:strVal val="#ppt_y+.1"/>
                                              </p:val>
                                            </p:tav>
                                            <p:tav tm="100000">
                                              <p:val>
                                                <p:strVal val="#ppt_y"/>
                                              </p:val>
                                            </p:tav>
                                          </p:tavLst>
                                        </p:anim>
                                      </p:childTnLst>
                                    </p:cTn>
                                  </p:par>
                                </p:childTnLst>
                              </p:cTn>
                            </p:par>
                            <p:par>
                              <p:cTn id="24" fill="hold">
                                <p:stCondLst>
                                  <p:cond delay="3000"/>
                                </p:stCondLst>
                                <p:childTnLst>
                                  <p:par>
                                    <p:cTn id="25" presetID="2" presetClass="entr" presetSubtype="8" accel="40000"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1500" fill="hold"/>
                                            <p:tgtEl>
                                              <p:spTgt spid="3"/>
                                            </p:tgtEl>
                                            <p:attrNameLst>
                                              <p:attrName>ppt_x</p:attrName>
                                            </p:attrNameLst>
                                          </p:cBhvr>
                                          <p:tavLst>
                                            <p:tav tm="0">
                                              <p:val>
                                                <p:strVal val="0-#ppt_w/2"/>
                                              </p:val>
                                            </p:tav>
                                            <p:tav tm="100000">
                                              <p:val>
                                                <p:strVal val="#ppt_x"/>
                                              </p:val>
                                            </p:tav>
                                          </p:tavLst>
                                        </p:anim>
                                        <p:anim calcmode="lin" valueType="num">
                                          <p:cBhvr additive="base">
                                            <p:cTn id="28" dur="1500" fill="hold"/>
                                            <p:tgtEl>
                                              <p:spTgt spid="3"/>
                                            </p:tgtEl>
                                            <p:attrNameLst>
                                              <p:attrName>ppt_y</p:attrName>
                                            </p:attrNameLst>
                                          </p:cBhvr>
                                          <p:tavLst>
                                            <p:tav tm="0">
                                              <p:val>
                                                <p:strVal val="#ppt_y"/>
                                              </p:val>
                                            </p:tav>
                                            <p:tav tm="100000">
                                              <p:val>
                                                <p:strVal val="#ppt_y"/>
                                              </p:val>
                                            </p:tav>
                                          </p:tavLst>
                                        </p:anim>
                                      </p:childTnLst>
                                    </p:cTn>
                                  </p:par>
                                </p:childTnLst>
                              </p:cTn>
                            </p:par>
                            <p:par>
                              <p:cTn id="29" fill="hold">
                                <p:stCondLst>
                                  <p:cond delay="4500"/>
                                </p:stCondLst>
                                <p:childTnLst>
                                  <p:par>
                                    <p:cTn id="30" presetID="2" presetClass="entr" presetSubtype="8" accel="40000" fill="hold" nodeType="after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additive="base">
                                            <p:cTn id="32" dur="1500" fill="hold"/>
                                            <p:tgtEl>
                                              <p:spTgt spid="6"/>
                                            </p:tgtEl>
                                            <p:attrNameLst>
                                              <p:attrName>ppt_x</p:attrName>
                                            </p:attrNameLst>
                                          </p:cBhvr>
                                          <p:tavLst>
                                            <p:tav tm="0">
                                              <p:val>
                                                <p:strVal val="0-#ppt_w/2"/>
                                              </p:val>
                                            </p:tav>
                                            <p:tav tm="100000">
                                              <p:val>
                                                <p:strVal val="#ppt_x"/>
                                              </p:val>
                                            </p:tav>
                                          </p:tavLst>
                                        </p:anim>
                                        <p:anim calcmode="lin" valueType="num">
                                          <p:cBhvr additive="base">
                                            <p:cTn id="33" dur="1500" fill="hold"/>
                                            <p:tgtEl>
                                              <p:spTgt spid="6"/>
                                            </p:tgtEl>
                                            <p:attrNameLst>
                                              <p:attrName>ppt_y</p:attrName>
                                            </p:attrNameLst>
                                          </p:cBhvr>
                                          <p:tavLst>
                                            <p:tav tm="0">
                                              <p:val>
                                                <p:strVal val="#ppt_y"/>
                                              </p:val>
                                            </p:tav>
                                            <p:tav tm="100000">
                                              <p:val>
                                                <p:strVal val="#ppt_y"/>
                                              </p:val>
                                            </p:tav>
                                          </p:tavLst>
                                        </p:anim>
                                      </p:childTnLst>
                                    </p:cTn>
                                  </p:par>
                                </p:childTnLst>
                              </p:cTn>
                            </p:par>
                            <p:par>
                              <p:cTn id="34" fill="hold">
                                <p:stCondLst>
                                  <p:cond delay="6000"/>
                                </p:stCondLst>
                                <p:childTnLst>
                                  <p:par>
                                    <p:cTn id="35" presetID="2" presetClass="entr" presetSubtype="8" accel="40000" fill="hold" nodeType="after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0" fill="hold"/>
                                            <p:tgtEl>
                                              <p:spTgt spid="8"/>
                                            </p:tgtEl>
                                            <p:attrNameLst>
                                              <p:attrName>ppt_x</p:attrName>
                                            </p:attrNameLst>
                                          </p:cBhvr>
                                          <p:tavLst>
                                            <p:tav tm="0">
                                              <p:val>
                                                <p:strVal val="0-#ppt_w/2"/>
                                              </p:val>
                                            </p:tav>
                                            <p:tav tm="100000">
                                              <p:val>
                                                <p:strVal val="#ppt_x"/>
                                              </p:val>
                                            </p:tav>
                                          </p:tavLst>
                                        </p:anim>
                                        <p:anim calcmode="lin" valueType="num">
                                          <p:cBhvr additive="base">
                                            <p:cTn id="38" dur="1500" fill="hold"/>
                                            <p:tgtEl>
                                              <p:spTgt spid="8"/>
                                            </p:tgtEl>
                                            <p:attrNameLst>
                                              <p:attrName>ppt_y</p:attrName>
                                            </p:attrNameLst>
                                          </p:cBhvr>
                                          <p:tavLst>
                                            <p:tav tm="0">
                                              <p:val>
                                                <p:strVal val="#ppt_y"/>
                                              </p:val>
                                            </p:tav>
                                            <p:tav tm="100000">
                                              <p:val>
                                                <p:strVal val="#ppt_y"/>
                                              </p:val>
                                            </p:tav>
                                          </p:tavLst>
                                        </p:anim>
                                      </p:childTnLst>
                                    </p:cTn>
                                  </p:par>
                                </p:childTnLst>
                              </p:cTn>
                            </p:par>
                            <p:par>
                              <p:cTn id="39" fill="hold">
                                <p:stCondLst>
                                  <p:cond delay="7500"/>
                                </p:stCondLst>
                                <p:childTnLst>
                                  <p:par>
                                    <p:cTn id="40" presetID="2" presetClass="entr" presetSubtype="8" accel="40000" fill="hold" nodeType="afterEffect">
                                      <p:stCondLst>
                                        <p:cond delay="0"/>
                                      </p:stCondLst>
                                      <p:childTnLst>
                                        <p:set>
                                          <p:cBhvr>
                                            <p:cTn id="41" dur="1" fill="hold">
                                              <p:stCondLst>
                                                <p:cond delay="0"/>
                                              </p:stCondLst>
                                            </p:cTn>
                                            <p:tgtEl>
                                              <p:spTgt spid="7"/>
                                            </p:tgtEl>
                                            <p:attrNameLst>
                                              <p:attrName>style.visibility</p:attrName>
                                            </p:attrNameLst>
                                          </p:cBhvr>
                                          <p:to>
                                            <p:strVal val="visible"/>
                                          </p:to>
                                        </p:set>
                                        <p:anim calcmode="lin" valueType="num">
                                          <p:cBhvr additive="base">
                                            <p:cTn id="42" dur="1500" fill="hold"/>
                                            <p:tgtEl>
                                              <p:spTgt spid="7"/>
                                            </p:tgtEl>
                                            <p:attrNameLst>
                                              <p:attrName>ppt_x</p:attrName>
                                            </p:attrNameLst>
                                          </p:cBhvr>
                                          <p:tavLst>
                                            <p:tav tm="0">
                                              <p:val>
                                                <p:strVal val="0-#ppt_w/2"/>
                                              </p:val>
                                            </p:tav>
                                            <p:tav tm="100000">
                                              <p:val>
                                                <p:strVal val="#ppt_x"/>
                                              </p:val>
                                            </p:tav>
                                          </p:tavLst>
                                        </p:anim>
                                        <p:anim calcmode="lin" valueType="num">
                                          <p:cBhvr additive="base">
                                            <p:cTn id="43" dur="1500" fill="hold"/>
                                            <p:tgtEl>
                                              <p:spTgt spid="7"/>
                                            </p:tgtEl>
                                            <p:attrNameLst>
                                              <p:attrName>ppt_y</p:attrName>
                                            </p:attrNameLst>
                                          </p:cBhvr>
                                          <p:tavLst>
                                            <p:tav tm="0">
                                              <p:val>
                                                <p:strVal val="#ppt_y"/>
                                              </p:val>
                                            </p:tav>
                                            <p:tav tm="100000">
                                              <p:val>
                                                <p:strVal val="#ppt_y"/>
                                              </p:val>
                                            </p:tav>
                                          </p:tavLst>
                                        </p:anim>
                                      </p:childTnLst>
                                    </p:cTn>
                                  </p:par>
                                </p:childTnLst>
                              </p:cTn>
                            </p:par>
                            <p:par>
                              <p:cTn id="44" fill="hold">
                                <p:stCondLst>
                                  <p:cond delay="9000"/>
                                </p:stCondLst>
                                <p:childTnLst>
                                  <p:par>
                                    <p:cTn id="45" presetID="2" presetClass="entr" presetSubtype="8" accel="40000" fill="hold" nodeType="afterEffect">
                                      <p:stCondLst>
                                        <p:cond delay="0"/>
                                      </p:stCondLst>
                                      <p:childTnLst>
                                        <p:set>
                                          <p:cBhvr>
                                            <p:cTn id="46" dur="1" fill="hold">
                                              <p:stCondLst>
                                                <p:cond delay="0"/>
                                              </p:stCondLst>
                                            </p:cTn>
                                            <p:tgtEl>
                                              <p:spTgt spid="26"/>
                                            </p:tgtEl>
                                            <p:attrNameLst>
                                              <p:attrName>style.visibility</p:attrName>
                                            </p:attrNameLst>
                                          </p:cBhvr>
                                          <p:to>
                                            <p:strVal val="visible"/>
                                          </p:to>
                                        </p:set>
                                        <p:anim calcmode="lin" valueType="num">
                                          <p:cBhvr additive="base">
                                            <p:cTn id="47" dur="1500" fill="hold"/>
                                            <p:tgtEl>
                                              <p:spTgt spid="26"/>
                                            </p:tgtEl>
                                            <p:attrNameLst>
                                              <p:attrName>ppt_x</p:attrName>
                                            </p:attrNameLst>
                                          </p:cBhvr>
                                          <p:tavLst>
                                            <p:tav tm="0">
                                              <p:val>
                                                <p:strVal val="0-#ppt_w/2"/>
                                              </p:val>
                                            </p:tav>
                                            <p:tav tm="100000">
                                              <p:val>
                                                <p:strVal val="#ppt_x"/>
                                              </p:val>
                                            </p:tav>
                                          </p:tavLst>
                                        </p:anim>
                                        <p:anim calcmode="lin" valueType="num">
                                          <p:cBhvr additive="base">
                                            <p:cTn id="48" dur="1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2" grpId="0" animBg="1"/>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latin typeface="+mn-lt"/>
                <a:cs typeface="+mn-ea"/>
                <a:sym typeface="+mn-lt"/>
              </a:rPr>
              <a:t>01</a:t>
            </a:r>
            <a:endParaRPr lang="zh-CN" altLang="en-US" dirty="0">
              <a:latin typeface="+mn-lt"/>
              <a:cs typeface="+mn-ea"/>
              <a:sym typeface="+mn-lt"/>
            </a:endParaRPr>
          </a:p>
        </p:txBody>
      </p:sp>
      <p:sp>
        <p:nvSpPr>
          <p:cNvPr id="3" name="文本占位符 2"/>
          <p:cNvSpPr>
            <a:spLocks noGrp="1"/>
          </p:cNvSpPr>
          <p:nvPr>
            <p:ph type="body" sz="quarter" idx="12"/>
          </p:nvPr>
        </p:nvSpPr>
        <p:spPr/>
        <p:txBody>
          <a:bodyPr/>
          <a:lstStyle/>
          <a:p>
            <a:r>
              <a:rPr lang="zh-CN" altLang="en-US" dirty="0">
                <a:latin typeface="+mn-lt"/>
                <a:cs typeface="+mn-ea"/>
                <a:sym typeface="+mn-lt"/>
              </a:rPr>
              <a:t>研究目的及意义</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2179">
        <p15:prstTrans prst="pageCurlDouble"/>
      </p:transition>
    </mc:Choice>
    <mc:Fallback xmlns="">
      <p:transition spd="slow" advTm="2179">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5876491" y="7716118"/>
            <a:ext cx="877163" cy="369332"/>
          </a:xfrm>
          <a:prstGeom prst="rect">
            <a:avLst/>
          </a:prstGeom>
          <a:noFill/>
        </p:spPr>
        <p:txBody>
          <a:bodyPr wrap="none" rtlCol="0">
            <a:spAutoFit/>
          </a:bodyPr>
          <a:lstStyle/>
          <a:p>
            <a:r>
              <a:rPr lang="zh-CN" altLang="en-US" dirty="0">
                <a:solidFill>
                  <a:srgbClr val="4A4A4A"/>
                </a:solidFill>
                <a:latin typeface="+mn-lt"/>
                <a:ea typeface="+mn-ea"/>
                <a:cs typeface="+mn-ea"/>
                <a:sym typeface="+mn-lt"/>
              </a:rPr>
              <a:t>延时符</a:t>
            </a:r>
            <a:endParaRPr lang="en-US" altLang="zh-CN" dirty="0">
              <a:solidFill>
                <a:srgbClr val="4A4A4A"/>
              </a:solidFill>
              <a:latin typeface="+mn-lt"/>
              <a:ea typeface="+mn-ea"/>
              <a:cs typeface="+mn-ea"/>
              <a:sym typeface="+mn-lt"/>
            </a:endParaRPr>
          </a:p>
        </p:txBody>
      </p:sp>
      <p:sp>
        <p:nvSpPr>
          <p:cNvPr id="7" name="文本占位符 6"/>
          <p:cNvSpPr>
            <a:spLocks noGrp="1"/>
          </p:cNvSpPr>
          <p:nvPr>
            <p:ph type="body" sz="quarter" idx="13"/>
          </p:nvPr>
        </p:nvSpPr>
        <p:spPr/>
        <p:txBody>
          <a:bodyPr/>
          <a:lstStyle/>
          <a:p>
            <a:r>
              <a:rPr lang="zh-CN" altLang="en-US" dirty="0">
                <a:cs typeface="+mn-ea"/>
                <a:sym typeface="+mn-lt"/>
              </a:rPr>
              <a:t>研究目的及意义</a:t>
            </a:r>
          </a:p>
        </p:txBody>
      </p:sp>
      <p:sp>
        <p:nvSpPr>
          <p:cNvPr id="2" name="灯片编号占位符 1"/>
          <p:cNvSpPr>
            <a:spLocks noGrp="1"/>
          </p:cNvSpPr>
          <p:nvPr>
            <p:ph type="sldNum" sz="quarter" idx="4294967295"/>
          </p:nvPr>
        </p:nvSpPr>
        <p:spPr>
          <a:xfrm>
            <a:off x="12230100" y="266700"/>
            <a:ext cx="628650" cy="385763"/>
          </a:xfrm>
        </p:spPr>
        <p:txBody>
          <a:bodyPr/>
          <a:lstStyle/>
          <a:p>
            <a:fld id="{EB730883-2733-4EB0-9793-894FF9D50112}" type="slidenum">
              <a:rPr lang="zh-CN" altLang="en-US" smtClean="0">
                <a:latin typeface="+mn-lt"/>
                <a:ea typeface="+mn-ea"/>
                <a:cs typeface="+mn-ea"/>
                <a:sym typeface="+mn-lt"/>
              </a:rPr>
              <a:pPr/>
              <a:t>4</a:t>
            </a:fld>
            <a:endParaRPr lang="zh-CN" altLang="en-US">
              <a:latin typeface="+mn-lt"/>
              <a:ea typeface="+mn-ea"/>
              <a:cs typeface="+mn-ea"/>
              <a:sym typeface="+mn-lt"/>
            </a:endParaRPr>
          </a:p>
        </p:txBody>
      </p:sp>
      <p:sp>
        <p:nvSpPr>
          <p:cNvPr id="19" name="文本框 18">
            <a:extLst>
              <a:ext uri="{FF2B5EF4-FFF2-40B4-BE49-F238E27FC236}">
                <a16:creationId xmlns:a16="http://schemas.microsoft.com/office/drawing/2014/main" id="{6864FC3B-AD9E-4930-B6BA-A5EFFCF2B528}"/>
              </a:ext>
            </a:extLst>
          </p:cNvPr>
          <p:cNvSpPr txBox="1"/>
          <p:nvPr/>
        </p:nvSpPr>
        <p:spPr>
          <a:xfrm>
            <a:off x="1064779" y="2176165"/>
            <a:ext cx="10729192" cy="4062651"/>
          </a:xfrm>
          <a:prstGeom prst="rect">
            <a:avLst/>
          </a:prstGeom>
          <a:noFill/>
        </p:spPr>
        <p:txBody>
          <a:bodyPr wrap="square" rtlCol="0">
            <a:spAutoFit/>
          </a:bodyPr>
          <a:lstStyle/>
          <a:p>
            <a:pPr>
              <a:lnSpc>
                <a:spcPct val="120000"/>
              </a:lnSpc>
              <a:buClr>
                <a:srgbClr val="FF000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实际</a:t>
            </a:r>
            <a:r>
              <a:rPr lang="zh-CN" altLang="zh-CN" sz="2000" dirty="0">
                <a:latin typeface="微软雅黑" panose="020B0503020204020204" pitchFamily="34" charset="-122"/>
                <a:ea typeface="微软雅黑" panose="020B0503020204020204" pitchFamily="34" charset="-122"/>
              </a:rPr>
              <a:t>地震数据</a:t>
            </a:r>
            <a:r>
              <a:rPr lang="zh-CN" altLang="en-US" sz="2000" dirty="0">
                <a:latin typeface="微软雅黑" panose="020B0503020204020204" pitchFamily="34" charset="-122"/>
                <a:ea typeface="微软雅黑" panose="020B0503020204020204" pitchFamily="34" charset="-122"/>
              </a:rPr>
              <a:t>常含</a:t>
            </a:r>
            <a:r>
              <a:rPr lang="zh-CN" altLang="zh-CN" sz="2000" dirty="0">
                <a:latin typeface="微软雅黑" panose="020B0503020204020204" pitchFamily="34" charset="-122"/>
                <a:ea typeface="微软雅黑" panose="020B0503020204020204" pitchFamily="34" charset="-122"/>
              </a:rPr>
              <a:t>有噪声，</a:t>
            </a:r>
            <a:r>
              <a:rPr lang="zh-CN" altLang="en-US" sz="2000" dirty="0">
                <a:latin typeface="微软雅黑" panose="020B0503020204020204" pitchFamily="34" charset="-122"/>
                <a:ea typeface="微软雅黑" panose="020B0503020204020204" pitchFamily="34" charset="-122"/>
              </a:rPr>
              <a:t>对地震数据的处理和成像带来了严重的干扰。传统的去噪方法要么对异常值噪声的压制效果不佳要么会在一定程度上伤害有效信号。</a:t>
            </a:r>
            <a:endParaRPr lang="en-US" altLang="zh-CN" sz="2000" dirty="0">
              <a:latin typeface="微软雅黑" panose="020B0503020204020204" pitchFamily="34" charset="-122"/>
              <a:ea typeface="微软雅黑" panose="020B0503020204020204" pitchFamily="34" charset="-122"/>
            </a:endParaRPr>
          </a:p>
          <a:p>
            <a:pPr eaLnBrk="1" hangingPunct="1">
              <a:lnSpc>
                <a:spcPct val="120000"/>
              </a:lnSpc>
              <a:buClr>
                <a:srgbClr val="FF0000"/>
              </a:buClr>
            </a:pPr>
            <a:endParaRPr lang="en-US" altLang="zh-CN" sz="2000" dirty="0">
              <a:latin typeface="微软雅黑" panose="020B0503020204020204" pitchFamily="34" charset="-122"/>
              <a:ea typeface="微软雅黑" panose="020B0503020204020204" pitchFamily="34" charset="-122"/>
            </a:endParaRPr>
          </a:p>
          <a:p>
            <a:pPr eaLnBrk="1" hangingPunct="1">
              <a:lnSpc>
                <a:spcPct val="120000"/>
              </a:lnSpc>
              <a:buClr>
                <a:srgbClr val="FF000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稳健主成分分析（</a:t>
            </a:r>
            <a:r>
              <a:rPr lang="en-US" altLang="zh-CN" sz="2000" dirty="0">
                <a:latin typeface="微软雅黑" panose="020B0503020204020204" pitchFamily="34" charset="-122"/>
                <a:ea typeface="微软雅黑" panose="020B0503020204020204" pitchFamily="34" charset="-122"/>
              </a:rPr>
              <a:t>RPCA</a:t>
            </a:r>
            <a:r>
              <a:rPr lang="zh-CN" altLang="en-US" sz="2000" dirty="0">
                <a:latin typeface="微软雅黑" panose="020B0503020204020204" pitchFamily="34" charset="-122"/>
                <a:ea typeface="微软雅黑" panose="020B0503020204020204" pitchFamily="34" charset="-122"/>
              </a:rPr>
              <a:t>）方法可以在保留有效信号的基础上有效压制实际地震数据中的异常值噪声，从而进一步达到提高信噪比的目的。</a:t>
            </a:r>
            <a:endParaRPr lang="en-US" altLang="zh-CN" sz="2000" dirty="0">
              <a:latin typeface="微软雅黑" panose="020B0503020204020204" pitchFamily="34" charset="-122"/>
              <a:ea typeface="微软雅黑" panose="020B0503020204020204" pitchFamily="34" charset="-122"/>
            </a:endParaRPr>
          </a:p>
          <a:p>
            <a:pPr eaLnBrk="1" hangingPunct="1">
              <a:lnSpc>
                <a:spcPct val="120000"/>
              </a:lnSpc>
              <a:buClr>
                <a:srgbClr val="FF0000"/>
              </a:buClr>
              <a:buFont typeface="Wingdings" panose="05000000000000000000" pitchFamily="2" charset="2"/>
              <a:buChar char="Ø"/>
            </a:pPr>
            <a:endParaRPr lang="en-US" altLang="zh-CN" sz="20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lnSpc>
                <a:spcPct val="120000"/>
              </a:lnSpc>
              <a:buClr>
                <a:srgbClr val="FF000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稳健主成分分析方法还可用于同步激发混叠炮数据分离去噪及缺失道数据重建，有效减少由于噪声带来的不利影响，得到更精确的地质信息。</a:t>
            </a:r>
            <a:endParaRPr lang="en-US" altLang="zh-CN" sz="2000" dirty="0">
              <a:latin typeface="微软雅黑" panose="020B0503020204020204" pitchFamily="34" charset="-122"/>
              <a:ea typeface="微软雅黑" panose="020B0503020204020204" pitchFamily="34" charset="-122"/>
            </a:endParaRPr>
          </a:p>
          <a:p>
            <a:pPr eaLnBrk="1" hangingPunct="1">
              <a:lnSpc>
                <a:spcPct val="120000"/>
              </a:lnSpc>
              <a:buClr>
                <a:srgbClr val="FF0000"/>
              </a:buClr>
              <a:buFont typeface="Wingdings" panose="05000000000000000000" pitchFamily="2" charset="2"/>
              <a:buChar char="Ø"/>
            </a:pPr>
            <a:endParaRPr lang="en-US" altLang="zh-CN" sz="20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lnSpc>
                <a:spcPct val="120000"/>
              </a:lnSpc>
              <a:buClr>
                <a:srgbClr val="FF000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sym typeface="Arial" panose="020B0604020202020204" pitchFamily="34" charset="0"/>
              </a:rPr>
              <a:t>从一定程度上提高解释精度，为生产和开发提供技术支持，从而降低储层勘探和开发的风险。</a:t>
            </a:r>
            <a:endParaRPr lang="en-US" altLang="zh-CN" sz="2000" dirty="0">
              <a:latin typeface="微软雅黑" panose="020B0503020204020204" pitchFamily="34" charset="-122"/>
              <a:ea typeface="微软雅黑" panose="020B0503020204020204" pitchFamily="34" charset="-122"/>
              <a:sym typeface="Arial" panose="020B0604020202020204" pitchFamily="34" charset="0"/>
            </a:endParaRPr>
          </a:p>
          <a:p>
            <a:endParaRPr lang="zh-CN" altLang="en-US" sz="18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698332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8812">
        <p15:prstTrans prst="pageCurlDouble"/>
      </p:transition>
    </mc:Choice>
    <mc:Fallback xmlns="">
      <p:transition spd="slow" advClick="0" advTm="881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latin typeface="+mn-lt"/>
                <a:cs typeface="+mn-ea"/>
                <a:sym typeface="+mn-lt"/>
              </a:rPr>
              <a:t>02</a:t>
            </a:r>
            <a:endParaRPr lang="zh-CN" altLang="en-US" dirty="0">
              <a:latin typeface="+mn-lt"/>
              <a:cs typeface="+mn-ea"/>
              <a:sym typeface="+mn-lt"/>
            </a:endParaRPr>
          </a:p>
        </p:txBody>
      </p:sp>
      <p:sp>
        <p:nvSpPr>
          <p:cNvPr id="4" name="文本占位符 3"/>
          <p:cNvSpPr>
            <a:spLocks noGrp="1"/>
          </p:cNvSpPr>
          <p:nvPr>
            <p:ph type="body" sz="quarter" idx="12"/>
          </p:nvPr>
        </p:nvSpPr>
        <p:spPr/>
        <p:txBody>
          <a:bodyPr/>
          <a:lstStyle/>
          <a:p>
            <a:r>
              <a:rPr lang="zh-CN" altLang="en-US" dirty="0">
                <a:latin typeface="+mn-lt"/>
                <a:cs typeface="+mn-ea"/>
                <a:sym typeface="+mn-lt"/>
              </a:rPr>
              <a:t>论文的方法原理</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147">
        <p15:prstTrans prst="pageCurlDouble"/>
      </p:transition>
    </mc:Choice>
    <mc:Fallback xmlns="">
      <p:transition spd="slow" advTm="3147">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cs typeface="+mn-ea"/>
                <a:sym typeface="+mn-lt"/>
              </a:rPr>
              <a:t>论文的方法原理</a:t>
            </a:r>
          </a:p>
        </p:txBody>
      </p:sp>
      <p:sp>
        <p:nvSpPr>
          <p:cNvPr id="11" name="TextBox 12">
            <a:extLst>
              <a:ext uri="{FF2B5EF4-FFF2-40B4-BE49-F238E27FC236}">
                <a16:creationId xmlns:a16="http://schemas.microsoft.com/office/drawing/2014/main" id="{899B68B9-F8A5-4E0A-A5E3-1BCE7EE7DD57}"/>
              </a:ext>
            </a:extLst>
          </p:cNvPr>
          <p:cNvSpPr txBox="1"/>
          <p:nvPr/>
        </p:nvSpPr>
        <p:spPr>
          <a:xfrm>
            <a:off x="1768475" y="1888133"/>
            <a:ext cx="9845475" cy="1987852"/>
          </a:xfrm>
          <a:prstGeom prst="rect">
            <a:avLst/>
          </a:prstGeom>
          <a:noFill/>
        </p:spPr>
        <p:txBody>
          <a:bodyPr wrap="square">
            <a:spAutoFit/>
          </a:bodyPr>
          <a:lstStyle/>
          <a:p>
            <a:pPr marR="0" defTabSz="683895" rtl="0" fontAlgn="auto">
              <a:lnSpc>
                <a:spcPct val="120000"/>
              </a:lnSpc>
              <a:spcBef>
                <a:spcPts val="0"/>
              </a:spcBef>
              <a:spcAft>
                <a:spcPts val="0"/>
              </a:spcAft>
              <a:buClrTx/>
              <a:buSzTx/>
              <a:buFontTx/>
              <a:defRPr/>
            </a:pPr>
            <a:r>
              <a:rPr kumimoji="0" lang="zh-CN" altLang="en-US" sz="1800" b="1" kern="1200" cap="none" spc="0" normalizeH="0" baseline="0" noProof="0" dirty="0">
                <a:latin typeface="微软雅黑" panose="020B0503020204020204" pitchFamily="34" charset="-122"/>
                <a:ea typeface="微软雅黑" panose="020B0503020204020204" pitchFamily="34" charset="-122"/>
                <a:cs typeface="+mn-cs"/>
                <a:sym typeface="Arial" panose="020B0604020202020204" pitchFamily="34" charset="0"/>
              </a:rPr>
              <a:t>稳健主成分分析法（</a:t>
            </a:r>
            <a:r>
              <a:rPr kumimoji="0" lang="en-US" altLang="zh-CN" sz="1800" b="1" kern="1200" cap="none" spc="0" normalizeH="0" baseline="0" noProof="0" dirty="0">
                <a:latin typeface="微软雅黑" panose="020B0503020204020204" pitchFamily="34" charset="-122"/>
                <a:ea typeface="微软雅黑" panose="020B0503020204020204" pitchFamily="34" charset="-122"/>
                <a:cs typeface="+mn-cs"/>
                <a:sym typeface="Arial" panose="020B0604020202020204" pitchFamily="34" charset="0"/>
              </a:rPr>
              <a:t>RPCA</a:t>
            </a:r>
            <a:r>
              <a:rPr kumimoji="0" lang="zh-CN" altLang="en-US" sz="1800" b="1" kern="1200" cap="none" spc="0" normalizeH="0" baseline="0" noProof="0" dirty="0">
                <a:latin typeface="微软雅黑" panose="020B0503020204020204" pitchFamily="34" charset="-122"/>
                <a:ea typeface="微软雅黑" panose="020B0503020204020204" pitchFamily="34" charset="-122"/>
                <a:cs typeface="+mn-cs"/>
                <a:sym typeface="Arial" panose="020B0604020202020204" pitchFamily="34" charset="0"/>
              </a:rPr>
              <a:t>）的原理</a:t>
            </a:r>
            <a:endParaRPr kumimoji="0" lang="en-US" altLang="zh-CN" sz="1800" b="1" kern="1200" cap="none" spc="0" normalizeH="0" baseline="0" noProof="0" dirty="0">
              <a:latin typeface="微软雅黑" panose="020B0503020204020204" pitchFamily="34" charset="-122"/>
              <a:ea typeface="微软雅黑" panose="020B0503020204020204" pitchFamily="34" charset="-122"/>
              <a:cs typeface="+mn-cs"/>
              <a:sym typeface="Arial" panose="020B0604020202020204" pitchFamily="34" charset="0"/>
            </a:endParaRPr>
          </a:p>
          <a:p>
            <a:pPr marR="0" defTabSz="683895" rtl="0" fontAlgn="auto">
              <a:lnSpc>
                <a:spcPct val="120000"/>
              </a:lnSpc>
              <a:spcBef>
                <a:spcPts val="0"/>
              </a:spcBef>
              <a:spcAft>
                <a:spcPts val="0"/>
              </a:spcAft>
              <a:buClrTx/>
              <a:buSzTx/>
              <a:buFontTx/>
              <a:defRPr/>
            </a:pPr>
            <a:endParaRPr kumimoji="0" lang="en-US" altLang="zh-CN" sz="1800" b="1" kern="1200" cap="none" spc="0" normalizeH="0" baseline="0" noProof="0" dirty="0">
              <a:latin typeface="微软雅黑" panose="020B0503020204020204" pitchFamily="34" charset="-122"/>
              <a:ea typeface="微软雅黑" panose="020B0503020204020204" pitchFamily="34" charset="-122"/>
              <a:cs typeface="+mn-cs"/>
              <a:sym typeface="Arial" panose="020B0604020202020204" pitchFamily="34" charset="0"/>
            </a:endParaRPr>
          </a:p>
          <a:p>
            <a:pPr marR="0" defTabSz="683895" rtl="0" fontAlgn="auto">
              <a:lnSpc>
                <a:spcPct val="120000"/>
              </a:lnSpc>
              <a:spcBef>
                <a:spcPts val="0"/>
              </a:spcBef>
              <a:spcAft>
                <a:spcPts val="0"/>
              </a:spcAft>
              <a:buClrTx/>
              <a:buSzTx/>
              <a:buFontTx/>
              <a:defRPr/>
            </a:pPr>
            <a:r>
              <a:rPr lang="zh-CN" altLang="en-US" sz="2000" dirty="0">
                <a:latin typeface="微软雅黑" panose="020B0503020204020204" pitchFamily="34" charset="-122"/>
                <a:ea typeface="微软雅黑" panose="020B0503020204020204" pitchFamily="34" charset="-122"/>
                <a:sym typeface="Arial" panose="020B0604020202020204" pitchFamily="34" charset="0"/>
              </a:rPr>
              <a:t>假定理想地震信号可以被低秩矩阵</a:t>
            </a:r>
            <a:r>
              <a:rPr lang="en-US" altLang="zh-CN" sz="2000" b="1" dirty="0">
                <a:latin typeface="微软雅黑" panose="020B0503020204020204" pitchFamily="34" charset="-122"/>
                <a:ea typeface="微软雅黑" panose="020B0503020204020204" pitchFamily="34" charset="-122"/>
                <a:sym typeface="Arial" panose="020B0604020202020204" pitchFamily="34" charset="0"/>
              </a:rPr>
              <a:t>L</a:t>
            </a:r>
            <a:r>
              <a:rPr lang="zh-CN" altLang="en-US" sz="2000" dirty="0">
                <a:latin typeface="微软雅黑" panose="020B0503020204020204" pitchFamily="34" charset="-122"/>
                <a:ea typeface="微软雅黑" panose="020B0503020204020204" pitchFamily="34" charset="-122"/>
                <a:sym typeface="Arial" panose="020B0604020202020204" pitchFamily="34" charset="0"/>
              </a:rPr>
              <a:t>表示，稀疏异常值噪声可以用一个矩阵</a:t>
            </a:r>
            <a:r>
              <a:rPr lang="en-US" altLang="zh-CN" sz="2000" b="1" dirty="0">
                <a:latin typeface="微软雅黑" panose="020B0503020204020204" pitchFamily="34" charset="-122"/>
                <a:ea typeface="微软雅黑" panose="020B0503020204020204" pitchFamily="34" charset="-122"/>
                <a:sym typeface="Arial" panose="020B0604020202020204" pitchFamily="34" charset="0"/>
              </a:rPr>
              <a:t>S</a:t>
            </a:r>
            <a:r>
              <a:rPr lang="zh-CN" altLang="en-US" sz="2000" dirty="0">
                <a:latin typeface="微软雅黑" panose="020B0503020204020204" pitchFamily="34" charset="-122"/>
                <a:ea typeface="微软雅黑" panose="020B0503020204020204" pitchFamily="34" charset="-122"/>
                <a:sym typeface="Arial" panose="020B0604020202020204" pitchFamily="34" charset="0"/>
              </a:rPr>
              <a:t>表示，则压制异常值的数学模型可以表示为，</a:t>
            </a:r>
            <a:endParaRPr lang="en-US" altLang="zh-CN" sz="2000" dirty="0">
              <a:latin typeface="微软雅黑" panose="020B0503020204020204" pitchFamily="34" charset="-122"/>
              <a:ea typeface="微软雅黑" panose="020B0503020204020204" pitchFamily="34" charset="-122"/>
              <a:sym typeface="Arial" panose="020B0604020202020204" pitchFamily="34" charset="0"/>
            </a:endParaRPr>
          </a:p>
          <a:p>
            <a:pPr marR="0" defTabSz="683895" rtl="0" fontAlgn="auto">
              <a:lnSpc>
                <a:spcPct val="120000"/>
              </a:lnSpc>
              <a:spcBef>
                <a:spcPts val="0"/>
              </a:spcBef>
              <a:spcAft>
                <a:spcPts val="0"/>
              </a:spcAft>
              <a:buClrTx/>
              <a:buSzTx/>
              <a:buFontTx/>
              <a:defRPr/>
            </a:pPr>
            <a:endParaRPr kumimoji="0" lang="en-US" altLang="zh-CN" sz="1200" kern="1200" cap="none" spc="0" normalizeH="0" baseline="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a:p>
            <a:pPr marR="0" algn="ctr" defTabSz="683895" rtl="0" fontAlgn="auto">
              <a:lnSpc>
                <a:spcPct val="120000"/>
              </a:lnSpc>
              <a:spcBef>
                <a:spcPts val="0"/>
              </a:spcBef>
              <a:spcAft>
                <a:spcPts val="0"/>
              </a:spcAft>
              <a:buClrTx/>
              <a:buSzTx/>
              <a:buFontTx/>
              <a:defRPr/>
            </a:pPr>
            <a:r>
              <a:rPr kumimoji="0" lang="zh-CN" altLang="en-US" sz="1600" b="1" kern="1200" cap="none" spc="0" normalizeH="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a:t>
            </a:r>
            <a:r>
              <a:rPr kumimoji="0" lang="en-US" altLang="zh-CN" sz="1600" b="1" kern="1200" cap="none" spc="0" normalizeH="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rPr>
              <a:t>NP-hard</a:t>
            </a:r>
            <a:endParaRPr kumimoji="0" lang="zh-CN" altLang="en-US" sz="1600" b="1" kern="1200" cap="none" spc="0" normalizeH="0" noProof="0" dirty="0">
              <a:solidFill>
                <a:schemeClr val="bg1"/>
              </a:solidFill>
              <a:latin typeface="微软雅黑" panose="020B0503020204020204" pitchFamily="34" charset="-122"/>
              <a:ea typeface="微软雅黑" panose="020B0503020204020204" pitchFamily="34" charset="-122"/>
              <a:cs typeface="+mn-cs"/>
              <a:sym typeface="Arial" panose="020B0604020202020204" pitchFamily="34" charset="0"/>
            </a:endParaRPr>
          </a:p>
        </p:txBody>
      </p:sp>
      <p:pic>
        <p:nvPicPr>
          <p:cNvPr id="6" name="图片 5">
            <a:extLst>
              <a:ext uri="{FF2B5EF4-FFF2-40B4-BE49-F238E27FC236}">
                <a16:creationId xmlns:a16="http://schemas.microsoft.com/office/drawing/2014/main" id="{EEBB36A3-28B9-4C03-95C5-DD3BEBC2F8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7477" y="3523127"/>
            <a:ext cx="3543795" cy="943107"/>
          </a:xfrm>
          <a:prstGeom prst="rect">
            <a:avLst/>
          </a:prstGeom>
        </p:spPr>
      </p:pic>
      <p:sp>
        <p:nvSpPr>
          <p:cNvPr id="7" name="文本框 6">
            <a:extLst>
              <a:ext uri="{FF2B5EF4-FFF2-40B4-BE49-F238E27FC236}">
                <a16:creationId xmlns:a16="http://schemas.microsoft.com/office/drawing/2014/main" id="{C2DA83A1-C4CA-43C5-A515-EA92702E5972}"/>
              </a:ext>
            </a:extLst>
          </p:cNvPr>
          <p:cNvSpPr txBox="1"/>
          <p:nvPr/>
        </p:nvSpPr>
        <p:spPr>
          <a:xfrm>
            <a:off x="3765079" y="5056485"/>
            <a:ext cx="6336704" cy="1169038"/>
          </a:xfrm>
          <a:prstGeom prst="rect">
            <a:avLst/>
          </a:prstGeom>
          <a:noFill/>
        </p:spPr>
        <p:txBody>
          <a:bodyPr wrap="square" rtlCol="0">
            <a:spAutoFit/>
          </a:bodyPr>
          <a:lstStyle/>
          <a:p>
            <a:pPr defTabSz="683895" fontAlgn="auto">
              <a:lnSpc>
                <a:spcPct val="120000"/>
              </a:lnSpc>
              <a:spcBef>
                <a:spcPts val="0"/>
              </a:spcBef>
              <a:spcAft>
                <a:spcPts val="0"/>
              </a:spcAft>
              <a:defRPr/>
            </a:pPr>
            <a:r>
              <a:rPr lang="en-US" altLang="zh-CN" sz="2000" b="1" dirty="0">
                <a:latin typeface="微软雅黑" panose="020B0503020204020204" pitchFamily="34" charset="-122"/>
                <a:ea typeface="微软雅黑" panose="020B0503020204020204" pitchFamily="34" charset="-122"/>
              </a:rPr>
              <a:t>D</a:t>
            </a:r>
            <a:r>
              <a:rPr lang="zh-CN" altLang="en-US" sz="2000" dirty="0">
                <a:latin typeface="微软雅黑" panose="020B0503020204020204" pitchFamily="34" charset="-122"/>
                <a:ea typeface="微软雅黑" panose="020B0503020204020204" pitchFamily="34" charset="-122"/>
              </a:rPr>
              <a:t>为观测数据，</a:t>
            </a:r>
            <a:r>
              <a:rPr lang="en-US" altLang="zh-CN" sz="2000" b="1" dirty="0">
                <a:latin typeface="微软雅黑" panose="020B0503020204020204" pitchFamily="34" charset="-122"/>
                <a:ea typeface="微软雅黑" panose="020B0503020204020204" pitchFamily="34" charset="-122"/>
              </a:rPr>
              <a:t>L</a:t>
            </a:r>
            <a:r>
              <a:rPr lang="zh-CN" altLang="en-US" sz="2000" dirty="0">
                <a:latin typeface="微软雅黑" panose="020B0503020204020204" pitchFamily="34" charset="-122"/>
                <a:ea typeface="微软雅黑" panose="020B0503020204020204" pitchFamily="34" charset="-122"/>
              </a:rPr>
              <a:t>为理想三维地震数据，</a:t>
            </a:r>
            <a:r>
              <a:rPr lang="en-US" altLang="zh-CN" sz="2000" b="1" dirty="0">
                <a:latin typeface="微软雅黑" panose="020B0503020204020204" pitchFamily="34" charset="-122"/>
                <a:ea typeface="微软雅黑" panose="020B0503020204020204" pitchFamily="34" charset="-122"/>
              </a:rPr>
              <a:t>S</a:t>
            </a:r>
            <a:r>
              <a:rPr lang="zh-CN" altLang="en-US" sz="2000" dirty="0">
                <a:latin typeface="微软雅黑" panose="020B0503020204020204" pitchFamily="34" charset="-122"/>
                <a:ea typeface="微软雅黑" panose="020B0503020204020204" pitchFamily="34" charset="-122"/>
              </a:rPr>
              <a:t>为异常值数据；</a:t>
            </a:r>
            <a:endParaRPr lang="en-US" altLang="zh-CN" sz="2000" dirty="0">
              <a:latin typeface="微软雅黑" panose="020B0503020204020204" pitchFamily="34" charset="-122"/>
              <a:ea typeface="微软雅黑" panose="020B0503020204020204" pitchFamily="34" charset="-122"/>
            </a:endParaRPr>
          </a:p>
          <a:p>
            <a:pPr defTabSz="683895" fontAlgn="auto">
              <a:lnSpc>
                <a:spcPct val="120000"/>
              </a:lnSpc>
              <a:spcBef>
                <a:spcPts val="0"/>
              </a:spcBef>
              <a:spcAft>
                <a:spcPts val="0"/>
              </a:spcAft>
              <a:defRPr/>
            </a:pPr>
            <a:endParaRPr lang="en-US" altLang="zh-CN" sz="2000" dirty="0">
              <a:latin typeface="微软雅黑" panose="020B0503020204020204" pitchFamily="34" charset="-122"/>
              <a:ea typeface="微软雅黑" panose="020B0503020204020204" pitchFamily="34" charset="-122"/>
            </a:endParaRPr>
          </a:p>
          <a:p>
            <a:pPr defTabSz="683895" fontAlgn="auto">
              <a:lnSpc>
                <a:spcPct val="120000"/>
              </a:lnSpc>
              <a:spcBef>
                <a:spcPts val="0"/>
              </a:spcBef>
              <a:spcAft>
                <a:spcPts val="0"/>
              </a:spcAft>
              <a:defRPr/>
            </a:pPr>
            <a:r>
              <a:rPr lang="zh-CN" altLang="en-US" sz="2000" dirty="0">
                <a:latin typeface="微软雅黑" panose="020B0503020204020204" pitchFamily="34" charset="-122"/>
                <a:ea typeface="微软雅黑" panose="020B0503020204020204" pitchFamily="34" charset="-122"/>
              </a:rPr>
              <a:t>设</a:t>
            </a:r>
            <a:r>
              <a:rPr lang="en-US" altLang="zh-CN" sz="2000" b="1" dirty="0">
                <a:latin typeface="微软雅黑" panose="020B0503020204020204" pitchFamily="34" charset="-122"/>
                <a:ea typeface="微软雅黑" panose="020B0503020204020204" pitchFamily="34" charset="-122"/>
              </a:rPr>
              <a:t>L</a:t>
            </a:r>
            <a:r>
              <a:rPr lang="zh-CN" altLang="en-US" sz="2000" dirty="0">
                <a:latin typeface="微软雅黑" panose="020B0503020204020204" pitchFamily="34" charset="-122"/>
                <a:ea typeface="微软雅黑" panose="020B0503020204020204" pitchFamily="34" charset="-122"/>
              </a:rPr>
              <a:t>为一低秩矩阵，求</a:t>
            </a:r>
            <a:r>
              <a:rPr lang="en-US" altLang="zh-CN" sz="2000" b="1" dirty="0">
                <a:latin typeface="微软雅黑" panose="020B0503020204020204" pitchFamily="34" charset="-122"/>
                <a:ea typeface="微软雅黑" panose="020B0503020204020204" pitchFamily="34" charset="-122"/>
              </a:rPr>
              <a:t>S</a:t>
            </a:r>
            <a:r>
              <a:rPr lang="zh-CN" altLang="en-US" sz="2000" dirty="0">
                <a:latin typeface="微软雅黑" panose="020B0503020204020204" pitchFamily="34" charset="-122"/>
                <a:ea typeface="微软雅黑" panose="020B0503020204020204" pitchFamily="34" charset="-122"/>
              </a:rPr>
              <a:t>的最小零范数（非零元素个数）</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82023">
        <p15:prstTrans prst="pageCurlDouble"/>
      </p:transition>
    </mc:Choice>
    <mc:Fallback xmlns="">
      <p:transition spd="slow" advClick="0" advTm="82023">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cs typeface="+mn-ea"/>
                <a:sym typeface="+mn-lt"/>
              </a:rPr>
              <a:t>论文的方法原理</a:t>
            </a:r>
          </a:p>
        </p:txBody>
      </p:sp>
      <p:sp>
        <p:nvSpPr>
          <p:cNvPr id="6" name="文本框 5">
            <a:extLst>
              <a:ext uri="{FF2B5EF4-FFF2-40B4-BE49-F238E27FC236}">
                <a16:creationId xmlns:a16="http://schemas.microsoft.com/office/drawing/2014/main" id="{C8D9D1EB-9BE8-4DB4-85E0-C36D45B5CF89}"/>
              </a:ext>
            </a:extLst>
          </p:cNvPr>
          <p:cNvSpPr txBox="1"/>
          <p:nvPr/>
        </p:nvSpPr>
        <p:spPr>
          <a:xfrm>
            <a:off x="1419526" y="2176165"/>
            <a:ext cx="1944216" cy="584775"/>
          </a:xfrm>
          <a:prstGeom prst="rect">
            <a:avLst/>
          </a:prstGeom>
          <a:noFill/>
        </p:spPr>
        <p:txBody>
          <a:bodyPr wrap="square" rtlCol="0">
            <a:spAutoFit/>
          </a:bodyPr>
          <a:lstStyle/>
          <a:p>
            <a:r>
              <a:rPr lang="en-US" altLang="zh-CN" sz="3200" b="1" dirty="0"/>
              <a:t>RPCA</a:t>
            </a:r>
            <a:r>
              <a:rPr lang="zh-CN" altLang="en-US" sz="3200" b="1" dirty="0"/>
              <a:t>去噪</a:t>
            </a:r>
          </a:p>
        </p:txBody>
      </p:sp>
      <p:pic>
        <p:nvPicPr>
          <p:cNvPr id="8" name="图片 7">
            <a:extLst>
              <a:ext uri="{FF2B5EF4-FFF2-40B4-BE49-F238E27FC236}">
                <a16:creationId xmlns:a16="http://schemas.microsoft.com/office/drawing/2014/main" id="{B33F1454-AFF9-470C-A810-C9536B245D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4914" y="1672109"/>
            <a:ext cx="3168922" cy="4902443"/>
          </a:xfrm>
          <a:prstGeom prst="rect">
            <a:avLst/>
          </a:prstGeom>
        </p:spPr>
      </p:pic>
    </p:spTree>
    <p:extLst>
      <p:ext uri="{BB962C8B-B14F-4D97-AF65-F5344CB8AC3E}">
        <p14:creationId xmlns:p14="http://schemas.microsoft.com/office/powerpoint/2010/main" val="10590506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60938">
        <p15:prstTrans prst="pageCurlDouble"/>
      </p:transition>
    </mc:Choice>
    <mc:Fallback xmlns="">
      <p:transition spd="slow" advClick="0" advTm="60938">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cs typeface="+mn-ea"/>
                <a:sym typeface="+mn-lt"/>
              </a:rPr>
              <a:t>论文的方法原理</a:t>
            </a:r>
          </a:p>
        </p:txBody>
      </p:sp>
      <p:sp>
        <p:nvSpPr>
          <p:cNvPr id="7" name="文本框 6">
            <a:extLst>
              <a:ext uri="{FF2B5EF4-FFF2-40B4-BE49-F238E27FC236}">
                <a16:creationId xmlns:a16="http://schemas.microsoft.com/office/drawing/2014/main" id="{2561B5C9-0085-4AE4-BE5B-3D0040C872EC}"/>
              </a:ext>
            </a:extLst>
          </p:cNvPr>
          <p:cNvSpPr txBox="1"/>
          <p:nvPr/>
        </p:nvSpPr>
        <p:spPr>
          <a:xfrm>
            <a:off x="2164805" y="2248173"/>
            <a:ext cx="2376264" cy="584775"/>
          </a:xfrm>
          <a:prstGeom prst="rect">
            <a:avLst/>
          </a:prstGeom>
          <a:noFill/>
        </p:spPr>
        <p:txBody>
          <a:bodyPr wrap="square" rtlCol="0">
            <a:spAutoFit/>
          </a:bodyPr>
          <a:lstStyle/>
          <a:p>
            <a:r>
              <a:rPr lang="en-US" altLang="zh-CN" sz="3200" b="1" dirty="0"/>
              <a:t>PRCA</a:t>
            </a:r>
            <a:endParaRPr lang="zh-CN" altLang="en-US" sz="3200" b="1" dirty="0"/>
          </a:p>
        </p:txBody>
      </p:sp>
      <p:pic>
        <p:nvPicPr>
          <p:cNvPr id="10" name="图片 9">
            <a:extLst>
              <a:ext uri="{FF2B5EF4-FFF2-40B4-BE49-F238E27FC236}">
                <a16:creationId xmlns:a16="http://schemas.microsoft.com/office/drawing/2014/main" id="{0DCCC24F-D4CA-42B9-8B6E-710B754178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6109" y="1083671"/>
            <a:ext cx="3168922" cy="6015083"/>
          </a:xfrm>
          <a:prstGeom prst="rect">
            <a:avLst/>
          </a:prstGeom>
        </p:spPr>
      </p:pic>
    </p:spTree>
    <p:extLst>
      <p:ext uri="{BB962C8B-B14F-4D97-AF65-F5344CB8AC3E}">
        <p14:creationId xmlns:p14="http://schemas.microsoft.com/office/powerpoint/2010/main" val="34180482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40715">
        <p15:prstTrans prst="pageCurlDouble"/>
      </p:transition>
    </mc:Choice>
    <mc:Fallback xmlns="">
      <p:transition spd="slow" advClick="0" advTm="40715">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cs typeface="+mn-ea"/>
                <a:sym typeface="+mn-lt"/>
              </a:rPr>
              <a:t>论文的方法原理</a:t>
            </a:r>
          </a:p>
        </p:txBody>
      </p:sp>
      <p:sp>
        <p:nvSpPr>
          <p:cNvPr id="9" name="文本框 8">
            <a:extLst>
              <a:ext uri="{FF2B5EF4-FFF2-40B4-BE49-F238E27FC236}">
                <a16:creationId xmlns:a16="http://schemas.microsoft.com/office/drawing/2014/main" id="{4CEDC87C-D9A8-4AD7-B41E-CB7286E521E5}"/>
              </a:ext>
            </a:extLst>
          </p:cNvPr>
          <p:cNvSpPr txBox="1"/>
          <p:nvPr/>
        </p:nvSpPr>
        <p:spPr>
          <a:xfrm>
            <a:off x="380703" y="3688333"/>
            <a:ext cx="1800200" cy="369332"/>
          </a:xfrm>
          <a:prstGeom prst="rect">
            <a:avLst/>
          </a:prstGeom>
          <a:noFill/>
        </p:spPr>
        <p:txBody>
          <a:bodyPr wrap="square" rtlCol="0">
            <a:spAutoFit/>
          </a:bodyPr>
          <a:lstStyle/>
          <a:p>
            <a:r>
              <a:rPr lang="en-US" altLang="zh-CN" b="1" dirty="0"/>
              <a:t>RPCA</a:t>
            </a:r>
            <a:r>
              <a:rPr lang="zh-CN" altLang="en-US" b="1" dirty="0"/>
              <a:t>去噪程序</a:t>
            </a:r>
          </a:p>
        </p:txBody>
      </p:sp>
      <p:pic>
        <p:nvPicPr>
          <p:cNvPr id="8" name="图片 7">
            <a:extLst>
              <a:ext uri="{FF2B5EF4-FFF2-40B4-BE49-F238E27FC236}">
                <a16:creationId xmlns:a16="http://schemas.microsoft.com/office/drawing/2014/main" id="{D1B6C4F2-CD98-4F54-BBF0-08BF00A0C6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2659" y="1097694"/>
            <a:ext cx="7573432" cy="6134956"/>
          </a:xfrm>
          <a:prstGeom prst="rect">
            <a:avLst/>
          </a:prstGeom>
        </p:spPr>
      </p:pic>
      <p:sp>
        <p:nvSpPr>
          <p:cNvPr id="7" name="矩形 6">
            <a:extLst>
              <a:ext uri="{FF2B5EF4-FFF2-40B4-BE49-F238E27FC236}">
                <a16:creationId xmlns:a16="http://schemas.microsoft.com/office/drawing/2014/main" id="{DB5BD086-E432-476D-9BBD-924EDBA093A4}"/>
              </a:ext>
            </a:extLst>
          </p:cNvPr>
          <p:cNvSpPr/>
          <p:nvPr/>
        </p:nvSpPr>
        <p:spPr>
          <a:xfrm>
            <a:off x="3693071" y="5560541"/>
            <a:ext cx="288032" cy="144016"/>
          </a:xfrm>
          <a:prstGeom prst="rect">
            <a:avLst/>
          </a:prstGeom>
          <a:noFill/>
          <a:ln w="254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Tree>
    <p:extLst>
      <p:ext uri="{BB962C8B-B14F-4D97-AF65-F5344CB8AC3E}">
        <p14:creationId xmlns:p14="http://schemas.microsoft.com/office/powerpoint/2010/main" val="18473424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35551">
        <p15:prstTrans prst="pageCurlDouble"/>
      </p:transition>
    </mc:Choice>
    <mc:Fallback xmlns="">
      <p:transition spd="slow" advClick="0" advTm="35551">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cs typeface="+mn-ea"/>
                <a:sym typeface="+mn-lt"/>
              </a:rPr>
              <a:t>论文的方法原理</a:t>
            </a:r>
          </a:p>
        </p:txBody>
      </p:sp>
      <p:sp>
        <p:nvSpPr>
          <p:cNvPr id="6" name="文本框 5">
            <a:extLst>
              <a:ext uri="{FF2B5EF4-FFF2-40B4-BE49-F238E27FC236}">
                <a16:creationId xmlns:a16="http://schemas.microsoft.com/office/drawing/2014/main" id="{45475716-1318-4B07-B739-CC77ABC8CABA}"/>
              </a:ext>
            </a:extLst>
          </p:cNvPr>
          <p:cNvSpPr txBox="1"/>
          <p:nvPr/>
        </p:nvSpPr>
        <p:spPr>
          <a:xfrm>
            <a:off x="452711" y="3649031"/>
            <a:ext cx="1440160" cy="369332"/>
          </a:xfrm>
          <a:prstGeom prst="rect">
            <a:avLst/>
          </a:prstGeom>
          <a:noFill/>
        </p:spPr>
        <p:txBody>
          <a:bodyPr wrap="square" rtlCol="0">
            <a:spAutoFit/>
          </a:bodyPr>
          <a:lstStyle/>
          <a:p>
            <a:r>
              <a:rPr lang="en-US" altLang="zh-CN" b="1" dirty="0"/>
              <a:t>RPCA</a:t>
            </a:r>
            <a:r>
              <a:rPr lang="zh-CN" altLang="en-US" b="1" dirty="0"/>
              <a:t>程序</a:t>
            </a:r>
          </a:p>
        </p:txBody>
      </p:sp>
      <p:pic>
        <p:nvPicPr>
          <p:cNvPr id="15" name="图片 14">
            <a:extLst>
              <a:ext uri="{FF2B5EF4-FFF2-40B4-BE49-F238E27FC236}">
                <a16:creationId xmlns:a16="http://schemas.microsoft.com/office/drawing/2014/main" id="{23D2A7D6-AE82-479A-8794-C3F8FA896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28922" y="1088625"/>
            <a:ext cx="5600906" cy="6144025"/>
          </a:xfrm>
          <a:prstGeom prst="rect">
            <a:avLst/>
          </a:prstGeom>
        </p:spPr>
      </p:pic>
    </p:spTree>
    <p:extLst>
      <p:ext uri="{BB962C8B-B14F-4D97-AF65-F5344CB8AC3E}">
        <p14:creationId xmlns:p14="http://schemas.microsoft.com/office/powerpoint/2010/main" val="7978648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35551">
        <p15:prstTrans prst="pageCurlDouble"/>
      </p:transition>
    </mc:Choice>
    <mc:Fallback xmlns="">
      <p:transition spd="slow" advClick="0" advTm="35551">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latin typeface="+mn-lt"/>
                <a:cs typeface="+mn-ea"/>
                <a:sym typeface="+mn-lt"/>
              </a:rPr>
              <a:t>03</a:t>
            </a:r>
            <a:endParaRPr lang="zh-CN" altLang="en-US" dirty="0">
              <a:latin typeface="+mn-lt"/>
              <a:cs typeface="+mn-ea"/>
              <a:sym typeface="+mn-lt"/>
            </a:endParaRPr>
          </a:p>
        </p:txBody>
      </p:sp>
      <p:sp>
        <p:nvSpPr>
          <p:cNvPr id="4" name="文本占位符 3"/>
          <p:cNvSpPr>
            <a:spLocks noGrp="1"/>
          </p:cNvSpPr>
          <p:nvPr>
            <p:ph type="body" sz="quarter" idx="12"/>
          </p:nvPr>
        </p:nvSpPr>
        <p:spPr/>
        <p:txBody>
          <a:bodyPr/>
          <a:lstStyle/>
          <a:p>
            <a:r>
              <a:rPr lang="zh-CN" altLang="en-US" dirty="0">
                <a:latin typeface="+mn-lt"/>
                <a:cs typeface="+mn-ea"/>
                <a:sym typeface="+mn-lt"/>
              </a:rPr>
              <a:t>模型数据处理</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1659">
        <p15:prstTrans prst="pageCurlDouble"/>
      </p:transition>
    </mc:Choice>
    <mc:Fallback xmlns="">
      <p:transition spd="slow" advTm="1659">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cs typeface="+mn-ea"/>
                <a:sym typeface="+mn-lt"/>
              </a:rPr>
              <a:t>模型数据处理</a:t>
            </a:r>
          </a:p>
        </p:txBody>
      </p:sp>
      <p:sp>
        <p:nvSpPr>
          <p:cNvPr id="3" name="文本框 2">
            <a:extLst>
              <a:ext uri="{FF2B5EF4-FFF2-40B4-BE49-F238E27FC236}">
                <a16:creationId xmlns:a16="http://schemas.microsoft.com/office/drawing/2014/main" id="{E6EDB12C-B87A-4CCF-B478-4DD4203FE311}"/>
              </a:ext>
            </a:extLst>
          </p:cNvPr>
          <p:cNvSpPr txBox="1"/>
          <p:nvPr/>
        </p:nvSpPr>
        <p:spPr>
          <a:xfrm>
            <a:off x="3693071" y="6408646"/>
            <a:ext cx="5472608" cy="369332"/>
          </a:xfrm>
          <a:prstGeom prst="rect">
            <a:avLst/>
          </a:prstGeom>
          <a:noFill/>
        </p:spPr>
        <p:txBody>
          <a:bodyPr wrap="square" rtlCol="0">
            <a:spAutoFit/>
          </a:bodyPr>
          <a:lstStyle/>
          <a:p>
            <a:pPr algn="ctr"/>
            <a:r>
              <a:rPr lang="zh-CN" altLang="en-US" dirty="0"/>
              <a:t>仅含异常值噪声的线性同相轴模型实验</a:t>
            </a:r>
            <a:endParaRPr lang="en-US" altLang="zh-CN" dirty="0"/>
          </a:p>
        </p:txBody>
      </p:sp>
      <p:pic>
        <p:nvPicPr>
          <p:cNvPr id="7" name="图片 6">
            <a:extLst>
              <a:ext uri="{FF2B5EF4-FFF2-40B4-BE49-F238E27FC236}">
                <a16:creationId xmlns:a16="http://schemas.microsoft.com/office/drawing/2014/main" id="{5303EEAD-2E47-4C0B-A98E-6318978334A3}"/>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8735" y="2104157"/>
            <a:ext cx="2577465" cy="1934210"/>
          </a:xfrm>
          <a:prstGeom prst="rect">
            <a:avLst/>
          </a:prstGeom>
          <a:noFill/>
          <a:ln>
            <a:noFill/>
          </a:ln>
        </p:spPr>
      </p:pic>
      <p:pic>
        <p:nvPicPr>
          <p:cNvPr id="8" name="图片 7">
            <a:extLst>
              <a:ext uri="{FF2B5EF4-FFF2-40B4-BE49-F238E27FC236}">
                <a16:creationId xmlns:a16="http://schemas.microsoft.com/office/drawing/2014/main" id="{4D69AF2C-5D76-45FC-BF60-9D8240DBB5BA}"/>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49055" y="2104157"/>
            <a:ext cx="2574925" cy="1932940"/>
          </a:xfrm>
          <a:prstGeom prst="rect">
            <a:avLst/>
          </a:prstGeom>
          <a:noFill/>
          <a:ln>
            <a:noFill/>
          </a:ln>
        </p:spPr>
      </p:pic>
      <p:pic>
        <p:nvPicPr>
          <p:cNvPr id="9" name="图片 8">
            <a:extLst>
              <a:ext uri="{FF2B5EF4-FFF2-40B4-BE49-F238E27FC236}">
                <a16:creationId xmlns:a16="http://schemas.microsoft.com/office/drawing/2014/main" id="{640A142B-A689-441C-98BC-881A251E5670}"/>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8735" y="4275673"/>
            <a:ext cx="2574925" cy="1932940"/>
          </a:xfrm>
          <a:prstGeom prst="rect">
            <a:avLst/>
          </a:prstGeom>
          <a:noFill/>
          <a:ln>
            <a:noFill/>
          </a:ln>
        </p:spPr>
      </p:pic>
      <p:pic>
        <p:nvPicPr>
          <p:cNvPr id="10" name="图片 9">
            <a:extLst>
              <a:ext uri="{FF2B5EF4-FFF2-40B4-BE49-F238E27FC236}">
                <a16:creationId xmlns:a16="http://schemas.microsoft.com/office/drawing/2014/main" id="{4CFFBD28-EC94-47E6-8078-A8AE6786D7C4}"/>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49055" y="4275673"/>
            <a:ext cx="2574925" cy="1932940"/>
          </a:xfrm>
          <a:prstGeom prst="rect">
            <a:avLst/>
          </a:prstGeom>
          <a:noFill/>
          <a:ln>
            <a:noFill/>
          </a:ln>
        </p:spPr>
      </p:pic>
      <p:pic>
        <p:nvPicPr>
          <p:cNvPr id="11" name="图片 10">
            <a:extLst>
              <a:ext uri="{FF2B5EF4-FFF2-40B4-BE49-F238E27FC236}">
                <a16:creationId xmlns:a16="http://schemas.microsoft.com/office/drawing/2014/main" id="{354BB04E-355B-4867-8C90-1D69DBCA619E}"/>
              </a:ext>
            </a:extLst>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149455" y="3142925"/>
            <a:ext cx="2637790" cy="1979930"/>
          </a:xfrm>
          <a:prstGeom prst="rect">
            <a:avLst/>
          </a:prstGeom>
          <a:noFill/>
          <a:ln>
            <a:noFill/>
          </a:ln>
        </p:spPr>
      </p:pic>
      <p:pic>
        <p:nvPicPr>
          <p:cNvPr id="12" name="图片 11">
            <a:extLst>
              <a:ext uri="{FF2B5EF4-FFF2-40B4-BE49-F238E27FC236}">
                <a16:creationId xmlns:a16="http://schemas.microsoft.com/office/drawing/2014/main" id="{97E93EBA-BBE4-4BC0-8ABB-742B1917463E}"/>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027235" y="3166420"/>
            <a:ext cx="2574925" cy="1932940"/>
          </a:xfrm>
          <a:prstGeom prst="rect">
            <a:avLst/>
          </a:prstGeom>
          <a:noFill/>
          <a:ln>
            <a:noFill/>
          </a:ln>
        </p:spPr>
      </p:pic>
      <p:sp>
        <p:nvSpPr>
          <p:cNvPr id="5" name="箭头: 右 4">
            <a:extLst>
              <a:ext uri="{FF2B5EF4-FFF2-40B4-BE49-F238E27FC236}">
                <a16:creationId xmlns:a16="http://schemas.microsoft.com/office/drawing/2014/main" id="{DCB92103-B7B9-428E-8D7B-726E2BFA4714}"/>
              </a:ext>
            </a:extLst>
          </p:cNvPr>
          <p:cNvSpPr/>
          <p:nvPr/>
        </p:nvSpPr>
        <p:spPr>
          <a:xfrm>
            <a:off x="6165364" y="3948224"/>
            <a:ext cx="864096"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655074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13222">
        <p15:prstTrans prst="pageCurlDouble"/>
      </p:transition>
    </mc:Choice>
    <mc:Fallback xmlns="">
      <p:transition spd="slow" advClick="0" advTm="13222">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cs typeface="+mn-ea"/>
                <a:sym typeface="+mn-lt"/>
              </a:rPr>
              <a:t>模型数据处理</a:t>
            </a:r>
          </a:p>
        </p:txBody>
      </p:sp>
      <p:sp>
        <p:nvSpPr>
          <p:cNvPr id="7" name="文本框 6">
            <a:extLst>
              <a:ext uri="{FF2B5EF4-FFF2-40B4-BE49-F238E27FC236}">
                <a16:creationId xmlns:a16="http://schemas.microsoft.com/office/drawing/2014/main" id="{D60854AA-0706-4E71-933C-180398350284}"/>
              </a:ext>
            </a:extLst>
          </p:cNvPr>
          <p:cNvSpPr txBox="1"/>
          <p:nvPr/>
        </p:nvSpPr>
        <p:spPr>
          <a:xfrm>
            <a:off x="4794359" y="6863318"/>
            <a:ext cx="2988332" cy="369332"/>
          </a:xfrm>
          <a:prstGeom prst="rect">
            <a:avLst/>
          </a:prstGeom>
          <a:noFill/>
        </p:spPr>
        <p:txBody>
          <a:bodyPr wrap="square" rtlCol="0">
            <a:spAutoFit/>
          </a:bodyPr>
          <a:lstStyle/>
          <a:p>
            <a:pPr algn="ctr"/>
            <a:r>
              <a:rPr lang="en-US" altLang="zh-CN" dirty="0"/>
              <a:t>F-XY</a:t>
            </a:r>
            <a:r>
              <a:rPr lang="zh-CN" altLang="en-US" dirty="0"/>
              <a:t>预测滤波  </a:t>
            </a:r>
            <a:r>
              <a:rPr lang="en-US" altLang="zh-CN" dirty="0"/>
              <a:t>VS  RPCA</a:t>
            </a:r>
            <a:r>
              <a:rPr lang="zh-CN" altLang="en-US" dirty="0"/>
              <a:t>去噪</a:t>
            </a:r>
          </a:p>
        </p:txBody>
      </p:sp>
      <p:pic>
        <p:nvPicPr>
          <p:cNvPr id="8" name="图片 7">
            <a:extLst>
              <a:ext uri="{FF2B5EF4-FFF2-40B4-BE49-F238E27FC236}">
                <a16:creationId xmlns:a16="http://schemas.microsoft.com/office/drawing/2014/main" id="{97633467-48B6-4ECD-9637-A1633BC0D0D9}"/>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8012" y="1409592"/>
            <a:ext cx="2574925" cy="1932940"/>
          </a:xfrm>
          <a:prstGeom prst="rect">
            <a:avLst/>
          </a:prstGeom>
          <a:noFill/>
          <a:ln>
            <a:noFill/>
          </a:ln>
        </p:spPr>
      </p:pic>
      <p:pic>
        <p:nvPicPr>
          <p:cNvPr id="9" name="图片 8">
            <a:extLst>
              <a:ext uri="{FF2B5EF4-FFF2-40B4-BE49-F238E27FC236}">
                <a16:creationId xmlns:a16="http://schemas.microsoft.com/office/drawing/2014/main" id="{E2B52B6A-52D0-485B-A92E-FCC64752ED6F}"/>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45447" y="1409592"/>
            <a:ext cx="2574925" cy="1932940"/>
          </a:xfrm>
          <a:prstGeom prst="rect">
            <a:avLst/>
          </a:prstGeom>
          <a:noFill/>
          <a:ln>
            <a:noFill/>
          </a:ln>
        </p:spPr>
      </p:pic>
      <p:pic>
        <p:nvPicPr>
          <p:cNvPr id="10" name="图片 9">
            <a:extLst>
              <a:ext uri="{FF2B5EF4-FFF2-40B4-BE49-F238E27FC236}">
                <a16:creationId xmlns:a16="http://schemas.microsoft.com/office/drawing/2014/main" id="{C8FA0971-CB40-404F-B0AF-49EFA6BDCA6E}"/>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51341" y="3184277"/>
            <a:ext cx="2574925" cy="1932940"/>
          </a:xfrm>
          <a:prstGeom prst="rect">
            <a:avLst/>
          </a:prstGeom>
          <a:noFill/>
          <a:ln>
            <a:noFill/>
          </a:ln>
        </p:spPr>
      </p:pic>
      <p:pic>
        <p:nvPicPr>
          <p:cNvPr id="11" name="图片 10">
            <a:extLst>
              <a:ext uri="{FF2B5EF4-FFF2-40B4-BE49-F238E27FC236}">
                <a16:creationId xmlns:a16="http://schemas.microsoft.com/office/drawing/2014/main" id="{E9DD45DA-D80F-4510-8B36-8CE7FED30090}"/>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445448" y="3184277"/>
            <a:ext cx="2574925" cy="1932940"/>
          </a:xfrm>
          <a:prstGeom prst="rect">
            <a:avLst/>
          </a:prstGeom>
          <a:noFill/>
          <a:ln>
            <a:noFill/>
          </a:ln>
        </p:spPr>
      </p:pic>
      <p:pic>
        <p:nvPicPr>
          <p:cNvPr id="12" name="图片 11">
            <a:extLst>
              <a:ext uri="{FF2B5EF4-FFF2-40B4-BE49-F238E27FC236}">
                <a16:creationId xmlns:a16="http://schemas.microsoft.com/office/drawing/2014/main" id="{905EB8AF-C0BD-4FD1-A0D5-88B36E4AC87C}"/>
              </a:ext>
            </a:extLst>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64676" y="4958962"/>
            <a:ext cx="2574925" cy="1932940"/>
          </a:xfrm>
          <a:prstGeom prst="rect">
            <a:avLst/>
          </a:prstGeom>
          <a:noFill/>
          <a:ln>
            <a:noFill/>
          </a:ln>
        </p:spPr>
      </p:pic>
      <p:pic>
        <p:nvPicPr>
          <p:cNvPr id="13" name="图片 12">
            <a:extLst>
              <a:ext uri="{FF2B5EF4-FFF2-40B4-BE49-F238E27FC236}">
                <a16:creationId xmlns:a16="http://schemas.microsoft.com/office/drawing/2014/main" id="{A5A42D8A-2CA2-4C43-9803-AB1328569378}"/>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446076" y="4948267"/>
            <a:ext cx="2574925" cy="1932940"/>
          </a:xfrm>
          <a:prstGeom prst="rect">
            <a:avLst/>
          </a:prstGeom>
          <a:noFill/>
          <a:ln>
            <a:noFill/>
          </a:ln>
        </p:spPr>
      </p:pic>
      <p:pic>
        <p:nvPicPr>
          <p:cNvPr id="14" name="图片 13">
            <a:extLst>
              <a:ext uri="{FF2B5EF4-FFF2-40B4-BE49-F238E27FC236}">
                <a16:creationId xmlns:a16="http://schemas.microsoft.com/office/drawing/2014/main" id="{D5382353-5F4A-45A8-A4EC-FE7D1B289B6E}"/>
              </a:ext>
            </a:extLst>
          </p:cNvPr>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116487" y="1431417"/>
            <a:ext cx="2574925" cy="1932940"/>
          </a:xfrm>
          <a:prstGeom prst="rect">
            <a:avLst/>
          </a:prstGeom>
          <a:noFill/>
          <a:ln>
            <a:noFill/>
          </a:ln>
        </p:spPr>
      </p:pic>
      <p:pic>
        <p:nvPicPr>
          <p:cNvPr id="15" name="图片 14">
            <a:extLst>
              <a:ext uri="{FF2B5EF4-FFF2-40B4-BE49-F238E27FC236}">
                <a16:creationId xmlns:a16="http://schemas.microsoft.com/office/drawing/2014/main" id="{5D90E9D1-1BBA-4876-AF22-748518D422E4}"/>
              </a:ext>
            </a:extLst>
          </p:cNvPr>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9695363" y="1431417"/>
            <a:ext cx="2574925" cy="1932940"/>
          </a:xfrm>
          <a:prstGeom prst="rect">
            <a:avLst/>
          </a:prstGeom>
          <a:noFill/>
          <a:ln>
            <a:noFill/>
          </a:ln>
        </p:spPr>
      </p:pic>
      <p:pic>
        <p:nvPicPr>
          <p:cNvPr id="16" name="图片 15">
            <a:extLst>
              <a:ext uri="{FF2B5EF4-FFF2-40B4-BE49-F238E27FC236}">
                <a16:creationId xmlns:a16="http://schemas.microsoft.com/office/drawing/2014/main" id="{CDDFEB80-8CCB-45D5-8E56-7579C2EDD2A4}"/>
              </a:ext>
            </a:extLst>
          </p:cNvPr>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116487" y="3178513"/>
            <a:ext cx="2574925" cy="1932940"/>
          </a:xfrm>
          <a:prstGeom prst="rect">
            <a:avLst/>
          </a:prstGeom>
          <a:noFill/>
          <a:ln>
            <a:noFill/>
          </a:ln>
        </p:spPr>
      </p:pic>
      <p:pic>
        <p:nvPicPr>
          <p:cNvPr id="17" name="图片 16">
            <a:extLst>
              <a:ext uri="{FF2B5EF4-FFF2-40B4-BE49-F238E27FC236}">
                <a16:creationId xmlns:a16="http://schemas.microsoft.com/office/drawing/2014/main" id="{25808F19-91FE-4A22-931B-87352DC2B13C}"/>
              </a:ext>
            </a:extLst>
          </p:cNvPr>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9695363" y="3184344"/>
            <a:ext cx="2574925" cy="1932940"/>
          </a:xfrm>
          <a:prstGeom prst="rect">
            <a:avLst/>
          </a:prstGeom>
          <a:noFill/>
          <a:ln>
            <a:noFill/>
          </a:ln>
        </p:spPr>
      </p:pic>
      <p:pic>
        <p:nvPicPr>
          <p:cNvPr id="18" name="图片 17">
            <a:extLst>
              <a:ext uri="{FF2B5EF4-FFF2-40B4-BE49-F238E27FC236}">
                <a16:creationId xmlns:a16="http://schemas.microsoft.com/office/drawing/2014/main" id="{14916981-1A02-4252-8847-BBCCEF7D639E}"/>
              </a:ext>
            </a:extLst>
          </p:cNvPr>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113685" y="4958962"/>
            <a:ext cx="2574925" cy="1932940"/>
          </a:xfrm>
          <a:prstGeom prst="rect">
            <a:avLst/>
          </a:prstGeom>
          <a:noFill/>
          <a:ln>
            <a:noFill/>
          </a:ln>
        </p:spPr>
      </p:pic>
      <p:pic>
        <p:nvPicPr>
          <p:cNvPr id="19" name="图片 18">
            <a:extLst>
              <a:ext uri="{FF2B5EF4-FFF2-40B4-BE49-F238E27FC236}">
                <a16:creationId xmlns:a16="http://schemas.microsoft.com/office/drawing/2014/main" id="{E9C2A7EB-1F74-4289-9C96-04FA77A1B04F}"/>
              </a:ext>
            </a:extLst>
          </p:cNvPr>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9695363" y="4958962"/>
            <a:ext cx="2574925" cy="1932940"/>
          </a:xfrm>
          <a:prstGeom prst="rect">
            <a:avLst/>
          </a:prstGeom>
          <a:noFill/>
          <a:ln>
            <a:noFill/>
          </a:ln>
        </p:spPr>
      </p:pic>
      <p:sp>
        <p:nvSpPr>
          <p:cNvPr id="3" name="箭头: 左右 2">
            <a:extLst>
              <a:ext uri="{FF2B5EF4-FFF2-40B4-BE49-F238E27FC236}">
                <a16:creationId xmlns:a16="http://schemas.microsoft.com/office/drawing/2014/main" id="{9FD550B5-4EC3-4DD8-911E-F9E64E414962}"/>
              </a:ext>
            </a:extLst>
          </p:cNvPr>
          <p:cNvSpPr/>
          <p:nvPr/>
        </p:nvSpPr>
        <p:spPr>
          <a:xfrm>
            <a:off x="6050081" y="3904357"/>
            <a:ext cx="985067" cy="36933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991174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14722">
        <p15:prstTrans prst="pageCurlDouble"/>
      </p:transition>
    </mc:Choice>
    <mc:Fallback xmlns="">
      <p:transition spd="slow" advClick="0" advTm="14722">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cs typeface="+mn-ea"/>
                <a:sym typeface="+mn-lt"/>
              </a:rPr>
              <a:t>模型数据处理</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85851058-3432-4467-B9C8-BDC5017AE779}"/>
                  </a:ext>
                </a:extLst>
              </p:cNvPr>
              <p:cNvSpPr txBox="1"/>
              <p:nvPr/>
            </p:nvSpPr>
            <p:spPr>
              <a:xfrm>
                <a:off x="3909096" y="6280621"/>
                <a:ext cx="5544616" cy="369332"/>
              </a:xfrm>
              <a:prstGeom prst="rect">
                <a:avLst/>
              </a:prstGeom>
              <a:noFill/>
            </p:spPr>
            <p:txBody>
              <a:bodyPr wrap="square" rtlCol="0">
                <a:spAutoFit/>
              </a:bodyPr>
              <a:lstStyle/>
              <a:p>
                <a:r>
                  <a:rPr lang="en-US" altLang="zh-CN" dirty="0"/>
                  <a:t>Q</a:t>
                </a:r>
                <a:r>
                  <a:rPr lang="zh-CN" altLang="zh-CN" dirty="0"/>
                  <a:t>值随最大迭代次数</a:t>
                </a:r>
                <a:r>
                  <a:rPr lang="en-US" altLang="zh-CN" dirty="0"/>
                  <a:t>Niter</a:t>
                </a:r>
                <a:r>
                  <a:rPr lang="zh-CN" altLang="zh-CN" dirty="0"/>
                  <a:t>和截断误差</a:t>
                </a:r>
                <a14:m>
                  <m:oMath xmlns:m="http://schemas.openxmlformats.org/officeDocument/2006/math">
                    <m:r>
                      <a:rPr lang="en-US" altLang="zh-CN" i="1">
                        <a:latin typeface="Cambria Math" panose="02040503050406030204" pitchFamily="18" charset="0"/>
                      </a:rPr>
                      <m:t>𝜀</m:t>
                    </m:r>
                  </m:oMath>
                </a14:m>
                <a:r>
                  <a:rPr lang="zh-CN" altLang="zh-CN" dirty="0"/>
                  <a:t>变化的关系曲线</a:t>
                </a:r>
                <a:endParaRPr lang="zh-CN" altLang="en-US" dirty="0"/>
              </a:p>
            </p:txBody>
          </p:sp>
        </mc:Choice>
        <mc:Fallback xmlns="">
          <p:sp>
            <p:nvSpPr>
              <p:cNvPr id="7" name="文本框 6">
                <a:extLst>
                  <a:ext uri="{FF2B5EF4-FFF2-40B4-BE49-F238E27FC236}">
                    <a16:creationId xmlns:a16="http://schemas.microsoft.com/office/drawing/2014/main" id="{85851058-3432-4467-B9C8-BDC5017AE779}"/>
                  </a:ext>
                </a:extLst>
              </p:cNvPr>
              <p:cNvSpPr txBox="1">
                <a:spLocks noRot="1" noChangeAspect="1" noMove="1" noResize="1" noEditPoints="1" noAdjustHandles="1" noChangeArrowheads="1" noChangeShapeType="1" noTextEdit="1"/>
              </p:cNvSpPr>
              <p:nvPr/>
            </p:nvSpPr>
            <p:spPr>
              <a:xfrm>
                <a:off x="3909096" y="6280621"/>
                <a:ext cx="5544616" cy="369332"/>
              </a:xfrm>
              <a:prstGeom prst="rect">
                <a:avLst/>
              </a:prstGeom>
              <a:blipFill>
                <a:blip r:embed="rId3"/>
                <a:stretch>
                  <a:fillRect l="-879" t="-13115" r="-220" b="-26230"/>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C8F7986E-F750-4219-BCCB-902DC57EC6AC}"/>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3391" y="1816859"/>
            <a:ext cx="5760000" cy="3888432"/>
          </a:xfrm>
          <a:prstGeom prst="rect">
            <a:avLst/>
          </a:prstGeom>
          <a:noFill/>
          <a:ln>
            <a:noFill/>
          </a:ln>
        </p:spPr>
      </p:pic>
      <p:pic>
        <p:nvPicPr>
          <p:cNvPr id="4" name="图片 3">
            <a:extLst>
              <a:ext uri="{FF2B5EF4-FFF2-40B4-BE49-F238E27FC236}">
                <a16:creationId xmlns:a16="http://schemas.microsoft.com/office/drawing/2014/main" id="{B8B9ECDC-211A-4D73-8B47-B9AA43B550C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81404" y="1816859"/>
            <a:ext cx="5760000" cy="3887999"/>
          </a:xfrm>
          <a:prstGeom prst="rect">
            <a:avLst/>
          </a:prstGeom>
        </p:spPr>
      </p:pic>
    </p:spTree>
    <p:extLst>
      <p:ext uri="{BB962C8B-B14F-4D97-AF65-F5344CB8AC3E}">
        <p14:creationId xmlns:p14="http://schemas.microsoft.com/office/powerpoint/2010/main" val="42509084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19988">
        <p15:prstTrans prst="pageCurlDouble"/>
      </p:transition>
    </mc:Choice>
    <mc:Fallback xmlns="">
      <p:transition spd="slow" advClick="0" advTm="19988">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cs typeface="+mn-ea"/>
                <a:sym typeface="+mn-lt"/>
              </a:rPr>
              <a:t>模型数据处理</a:t>
            </a:r>
          </a:p>
        </p:txBody>
      </p:sp>
      <p:sp>
        <p:nvSpPr>
          <p:cNvPr id="3" name="文本框 2">
            <a:extLst>
              <a:ext uri="{FF2B5EF4-FFF2-40B4-BE49-F238E27FC236}">
                <a16:creationId xmlns:a16="http://schemas.microsoft.com/office/drawing/2014/main" id="{977DDE65-704F-45C8-8BDA-4E9E0E9D0686}"/>
              </a:ext>
            </a:extLst>
          </p:cNvPr>
          <p:cNvSpPr txBox="1"/>
          <p:nvPr/>
        </p:nvSpPr>
        <p:spPr>
          <a:xfrm>
            <a:off x="4125119" y="6408646"/>
            <a:ext cx="4320480" cy="369332"/>
          </a:xfrm>
          <a:prstGeom prst="rect">
            <a:avLst/>
          </a:prstGeom>
          <a:noFill/>
        </p:spPr>
        <p:txBody>
          <a:bodyPr wrap="square" rtlCol="0">
            <a:spAutoFit/>
          </a:bodyPr>
          <a:lstStyle/>
          <a:p>
            <a:pPr algn="ctr"/>
            <a:r>
              <a:rPr lang="zh-CN" altLang="en-US" dirty="0"/>
              <a:t>含高频异常值噪声的线性同相轴模型数据</a:t>
            </a:r>
            <a:endParaRPr lang="en-US" altLang="zh-CN" dirty="0"/>
          </a:p>
        </p:txBody>
      </p:sp>
      <p:pic>
        <p:nvPicPr>
          <p:cNvPr id="11" name="图片 10">
            <a:extLst>
              <a:ext uri="{FF2B5EF4-FFF2-40B4-BE49-F238E27FC236}">
                <a16:creationId xmlns:a16="http://schemas.microsoft.com/office/drawing/2014/main" id="{CF28284C-7AEE-4395-8D60-522D6C17660D}"/>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8969" y="4128430"/>
            <a:ext cx="2574925" cy="1932940"/>
          </a:xfrm>
          <a:prstGeom prst="rect">
            <a:avLst/>
          </a:prstGeom>
          <a:noFill/>
          <a:ln>
            <a:noFill/>
          </a:ln>
        </p:spPr>
      </p:pic>
      <p:pic>
        <p:nvPicPr>
          <p:cNvPr id="12" name="图片 11">
            <a:extLst>
              <a:ext uri="{FF2B5EF4-FFF2-40B4-BE49-F238E27FC236}">
                <a16:creationId xmlns:a16="http://schemas.microsoft.com/office/drawing/2014/main" id="{A94B45EF-27C5-49DA-90DB-1340BC99C1B5}"/>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44999" y="4128430"/>
            <a:ext cx="2574925" cy="1932940"/>
          </a:xfrm>
          <a:prstGeom prst="rect">
            <a:avLst/>
          </a:prstGeom>
          <a:noFill/>
          <a:ln>
            <a:noFill/>
          </a:ln>
        </p:spPr>
      </p:pic>
      <p:pic>
        <p:nvPicPr>
          <p:cNvPr id="13" name="图片 12">
            <a:extLst>
              <a:ext uri="{FF2B5EF4-FFF2-40B4-BE49-F238E27FC236}">
                <a16:creationId xmlns:a16="http://schemas.microsoft.com/office/drawing/2014/main" id="{3EF525CB-F591-4C62-8CFF-B241182C6FBB}"/>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308294" y="3127989"/>
            <a:ext cx="2574925" cy="1932940"/>
          </a:xfrm>
          <a:prstGeom prst="rect">
            <a:avLst/>
          </a:prstGeom>
          <a:noFill/>
          <a:ln>
            <a:noFill/>
          </a:ln>
        </p:spPr>
      </p:pic>
      <p:pic>
        <p:nvPicPr>
          <p:cNvPr id="14" name="图片 13">
            <a:extLst>
              <a:ext uri="{FF2B5EF4-FFF2-40B4-BE49-F238E27FC236}">
                <a16:creationId xmlns:a16="http://schemas.microsoft.com/office/drawing/2014/main" id="{B86C46B2-4E66-4D07-A276-B7546BFA04B4}"/>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885759" y="3127989"/>
            <a:ext cx="2574925" cy="1932940"/>
          </a:xfrm>
          <a:prstGeom prst="rect">
            <a:avLst/>
          </a:prstGeom>
          <a:noFill/>
          <a:ln>
            <a:noFill/>
          </a:ln>
        </p:spPr>
      </p:pic>
      <p:pic>
        <p:nvPicPr>
          <p:cNvPr id="15" name="图片 14">
            <a:extLst>
              <a:ext uri="{FF2B5EF4-FFF2-40B4-BE49-F238E27FC236}">
                <a16:creationId xmlns:a16="http://schemas.microsoft.com/office/drawing/2014/main" id="{91CA8AA7-8D72-4228-8740-B9225D93C98E}"/>
              </a:ext>
            </a:extLst>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88969" y="2050280"/>
            <a:ext cx="2577465" cy="1934210"/>
          </a:xfrm>
          <a:prstGeom prst="rect">
            <a:avLst/>
          </a:prstGeom>
          <a:noFill/>
          <a:ln>
            <a:noFill/>
          </a:ln>
        </p:spPr>
      </p:pic>
      <p:pic>
        <p:nvPicPr>
          <p:cNvPr id="16" name="图片 15">
            <a:extLst>
              <a:ext uri="{FF2B5EF4-FFF2-40B4-BE49-F238E27FC236}">
                <a16:creationId xmlns:a16="http://schemas.microsoft.com/office/drawing/2014/main" id="{D64249C2-B5FF-4E1A-8A00-3D9CF60C7344}"/>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044999" y="2052312"/>
            <a:ext cx="2574925" cy="1932940"/>
          </a:xfrm>
          <a:prstGeom prst="rect">
            <a:avLst/>
          </a:prstGeom>
          <a:noFill/>
          <a:ln>
            <a:noFill/>
          </a:ln>
        </p:spPr>
      </p:pic>
      <p:sp>
        <p:nvSpPr>
          <p:cNvPr id="4" name="箭头: 右 3">
            <a:extLst>
              <a:ext uri="{FF2B5EF4-FFF2-40B4-BE49-F238E27FC236}">
                <a16:creationId xmlns:a16="http://schemas.microsoft.com/office/drawing/2014/main" id="{F49B7FB1-3FF5-4E12-AC95-D61DF3CDFC11}"/>
              </a:ext>
            </a:extLst>
          </p:cNvPr>
          <p:cNvSpPr/>
          <p:nvPr/>
        </p:nvSpPr>
        <p:spPr>
          <a:xfrm>
            <a:off x="5798666" y="3832349"/>
            <a:ext cx="1368152" cy="5760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655750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42997">
        <p15:prstTrans prst="pageCurlDouble"/>
      </p:transition>
    </mc:Choice>
    <mc:Fallback xmlns="">
      <p:transition spd="slow" advClick="0" advTm="42997">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cs typeface="+mn-ea"/>
                <a:sym typeface="+mn-lt"/>
              </a:rPr>
              <a:t>模型数据处理</a:t>
            </a:r>
          </a:p>
        </p:txBody>
      </p:sp>
      <p:sp>
        <p:nvSpPr>
          <p:cNvPr id="3" name="文本框 2">
            <a:extLst>
              <a:ext uri="{FF2B5EF4-FFF2-40B4-BE49-F238E27FC236}">
                <a16:creationId xmlns:a16="http://schemas.microsoft.com/office/drawing/2014/main" id="{E215DA86-6B66-454F-BC6D-D0EF0A68C2AD}"/>
              </a:ext>
            </a:extLst>
          </p:cNvPr>
          <p:cNvSpPr txBox="1"/>
          <p:nvPr/>
        </p:nvSpPr>
        <p:spPr>
          <a:xfrm>
            <a:off x="5133231" y="6863318"/>
            <a:ext cx="3148161" cy="369332"/>
          </a:xfrm>
          <a:prstGeom prst="rect">
            <a:avLst/>
          </a:prstGeom>
          <a:noFill/>
        </p:spPr>
        <p:txBody>
          <a:bodyPr wrap="square" rtlCol="0">
            <a:spAutoFit/>
          </a:bodyPr>
          <a:lstStyle/>
          <a:p>
            <a:r>
              <a:rPr lang="en-US" altLang="zh-CN" dirty="0"/>
              <a:t>RPCA</a:t>
            </a:r>
            <a:r>
              <a:rPr lang="zh-CN" altLang="en-US" dirty="0"/>
              <a:t>处理高频异常值噪声</a:t>
            </a:r>
          </a:p>
        </p:txBody>
      </p:sp>
      <p:pic>
        <p:nvPicPr>
          <p:cNvPr id="4" name="图片 3">
            <a:extLst>
              <a:ext uri="{FF2B5EF4-FFF2-40B4-BE49-F238E27FC236}">
                <a16:creationId xmlns:a16="http://schemas.microsoft.com/office/drawing/2014/main" id="{24763CE4-605E-4615-BE27-C93A64165C96}"/>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16319" y="1347821"/>
            <a:ext cx="2574925" cy="1932940"/>
          </a:xfrm>
          <a:prstGeom prst="rect">
            <a:avLst/>
          </a:prstGeom>
          <a:noFill/>
          <a:ln>
            <a:noFill/>
          </a:ln>
        </p:spPr>
      </p:pic>
      <p:pic>
        <p:nvPicPr>
          <p:cNvPr id="5" name="图片 4">
            <a:extLst>
              <a:ext uri="{FF2B5EF4-FFF2-40B4-BE49-F238E27FC236}">
                <a16:creationId xmlns:a16="http://schemas.microsoft.com/office/drawing/2014/main" id="{99040BE3-93C4-49E8-B9BF-6240C4B63B9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64649" y="1347821"/>
            <a:ext cx="2574925" cy="1932940"/>
          </a:xfrm>
          <a:prstGeom prst="rect">
            <a:avLst/>
          </a:prstGeom>
          <a:noFill/>
          <a:ln>
            <a:noFill/>
          </a:ln>
        </p:spPr>
      </p:pic>
      <p:pic>
        <p:nvPicPr>
          <p:cNvPr id="6" name="图片 5">
            <a:extLst>
              <a:ext uri="{FF2B5EF4-FFF2-40B4-BE49-F238E27FC236}">
                <a16:creationId xmlns:a16="http://schemas.microsoft.com/office/drawing/2014/main" id="{263EB1E2-F58E-4A63-A132-A4479BBEE38E}"/>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07577" y="3121112"/>
            <a:ext cx="2580640" cy="1932940"/>
          </a:xfrm>
          <a:prstGeom prst="rect">
            <a:avLst/>
          </a:prstGeom>
          <a:noFill/>
          <a:ln>
            <a:noFill/>
          </a:ln>
        </p:spPr>
      </p:pic>
      <p:pic>
        <p:nvPicPr>
          <p:cNvPr id="7" name="图片 6">
            <a:extLst>
              <a:ext uri="{FF2B5EF4-FFF2-40B4-BE49-F238E27FC236}">
                <a16:creationId xmlns:a16="http://schemas.microsoft.com/office/drawing/2014/main" id="{35103FCD-CE7B-4DB1-8D18-704522DFCF6F}"/>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567676" y="3121112"/>
            <a:ext cx="2580640" cy="1932940"/>
          </a:xfrm>
          <a:prstGeom prst="rect">
            <a:avLst/>
          </a:prstGeom>
          <a:noFill/>
          <a:ln>
            <a:noFill/>
          </a:ln>
        </p:spPr>
      </p:pic>
      <p:pic>
        <p:nvPicPr>
          <p:cNvPr id="8" name="图片 7">
            <a:extLst>
              <a:ext uri="{FF2B5EF4-FFF2-40B4-BE49-F238E27FC236}">
                <a16:creationId xmlns:a16="http://schemas.microsoft.com/office/drawing/2014/main" id="{4FE99C5D-8E4B-4E9F-B69A-9E59D2D63FF6}"/>
              </a:ext>
            </a:extLst>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707577" y="4918359"/>
            <a:ext cx="2580640" cy="1932940"/>
          </a:xfrm>
          <a:prstGeom prst="rect">
            <a:avLst/>
          </a:prstGeom>
          <a:noFill/>
          <a:ln>
            <a:noFill/>
          </a:ln>
        </p:spPr>
      </p:pic>
      <p:pic>
        <p:nvPicPr>
          <p:cNvPr id="9" name="图片 8">
            <a:extLst>
              <a:ext uri="{FF2B5EF4-FFF2-40B4-BE49-F238E27FC236}">
                <a16:creationId xmlns:a16="http://schemas.microsoft.com/office/drawing/2014/main" id="{005F28BC-97D5-473F-9EFB-2BE49A057DC1}"/>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567676" y="4918359"/>
            <a:ext cx="2580640" cy="1932940"/>
          </a:xfrm>
          <a:prstGeom prst="rect">
            <a:avLst/>
          </a:prstGeom>
          <a:noFill/>
          <a:ln>
            <a:noFill/>
          </a:ln>
        </p:spPr>
      </p:pic>
    </p:spTree>
    <p:extLst>
      <p:ext uri="{BB962C8B-B14F-4D97-AF65-F5344CB8AC3E}">
        <p14:creationId xmlns:p14="http://schemas.microsoft.com/office/powerpoint/2010/main" val="22256125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35551">
        <p15:prstTrans prst="pageCurlDouble"/>
      </p:transition>
    </mc:Choice>
    <mc:Fallback xmlns="">
      <p:transition spd="slow" advClick="0" advTm="35551">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cs typeface="+mn-ea"/>
                <a:sym typeface="+mn-lt"/>
              </a:rPr>
              <a:t>模型数据处理</a:t>
            </a:r>
          </a:p>
        </p:txBody>
      </p:sp>
      <p:sp>
        <p:nvSpPr>
          <p:cNvPr id="3" name="文本框 2">
            <a:extLst>
              <a:ext uri="{FF2B5EF4-FFF2-40B4-BE49-F238E27FC236}">
                <a16:creationId xmlns:a16="http://schemas.microsoft.com/office/drawing/2014/main" id="{E215DA86-6B66-454F-BC6D-D0EF0A68C2AD}"/>
              </a:ext>
            </a:extLst>
          </p:cNvPr>
          <p:cNvSpPr txBox="1"/>
          <p:nvPr/>
        </p:nvSpPr>
        <p:spPr>
          <a:xfrm>
            <a:off x="3355863" y="6343701"/>
            <a:ext cx="5449775" cy="369332"/>
          </a:xfrm>
          <a:prstGeom prst="rect">
            <a:avLst/>
          </a:prstGeom>
          <a:noFill/>
        </p:spPr>
        <p:txBody>
          <a:bodyPr wrap="square" rtlCol="0">
            <a:spAutoFit/>
          </a:bodyPr>
          <a:lstStyle/>
          <a:p>
            <a:pPr algn="ctr"/>
            <a:r>
              <a:rPr lang="zh-CN" altLang="en-US" dirty="0"/>
              <a:t>既含异常值噪声又含随机噪声的线性同相轴模型数据</a:t>
            </a:r>
            <a:endParaRPr lang="en-US" altLang="zh-CN" dirty="0"/>
          </a:p>
        </p:txBody>
      </p:sp>
      <p:pic>
        <p:nvPicPr>
          <p:cNvPr id="8" name="图片 7">
            <a:extLst>
              <a:ext uri="{FF2B5EF4-FFF2-40B4-BE49-F238E27FC236}">
                <a16:creationId xmlns:a16="http://schemas.microsoft.com/office/drawing/2014/main" id="{054A95D2-0369-4AC0-A23C-18AA2A4813F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4679" y="2032149"/>
            <a:ext cx="2574925" cy="1932940"/>
          </a:xfrm>
          <a:prstGeom prst="rect">
            <a:avLst/>
          </a:prstGeom>
          <a:noFill/>
          <a:ln>
            <a:noFill/>
          </a:ln>
        </p:spPr>
      </p:pic>
      <p:pic>
        <p:nvPicPr>
          <p:cNvPr id="10" name="图片 9">
            <a:extLst>
              <a:ext uri="{FF2B5EF4-FFF2-40B4-BE49-F238E27FC236}">
                <a16:creationId xmlns:a16="http://schemas.microsoft.com/office/drawing/2014/main" id="{0B1E24CE-F7A9-41CA-875E-314CA42D87AB}"/>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33638" y="2042171"/>
            <a:ext cx="2574925" cy="1932940"/>
          </a:xfrm>
          <a:prstGeom prst="rect">
            <a:avLst/>
          </a:prstGeom>
          <a:noFill/>
          <a:ln>
            <a:noFill/>
          </a:ln>
        </p:spPr>
      </p:pic>
      <p:pic>
        <p:nvPicPr>
          <p:cNvPr id="11" name="图片 10">
            <a:extLst>
              <a:ext uri="{FF2B5EF4-FFF2-40B4-BE49-F238E27FC236}">
                <a16:creationId xmlns:a16="http://schemas.microsoft.com/office/drawing/2014/main" id="{18F07D4B-C2DD-4B74-9228-28B2E0342C21}"/>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60317" y="2998619"/>
            <a:ext cx="2574925" cy="1932940"/>
          </a:xfrm>
          <a:prstGeom prst="rect">
            <a:avLst/>
          </a:prstGeom>
          <a:noFill/>
          <a:ln>
            <a:noFill/>
          </a:ln>
        </p:spPr>
      </p:pic>
      <p:pic>
        <p:nvPicPr>
          <p:cNvPr id="12" name="图片 11">
            <a:extLst>
              <a:ext uri="{FF2B5EF4-FFF2-40B4-BE49-F238E27FC236}">
                <a16:creationId xmlns:a16="http://schemas.microsoft.com/office/drawing/2014/main" id="{762AFB66-290F-404E-9F40-A896D1D94001}"/>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605632" y="2998619"/>
            <a:ext cx="2574925" cy="1932940"/>
          </a:xfrm>
          <a:prstGeom prst="rect">
            <a:avLst/>
          </a:prstGeom>
          <a:noFill/>
          <a:ln>
            <a:noFill/>
          </a:ln>
        </p:spPr>
      </p:pic>
      <p:pic>
        <p:nvPicPr>
          <p:cNvPr id="13" name="图片 12">
            <a:extLst>
              <a:ext uri="{FF2B5EF4-FFF2-40B4-BE49-F238E27FC236}">
                <a16:creationId xmlns:a16="http://schemas.microsoft.com/office/drawing/2014/main" id="{448DEF90-4916-40D2-A0B6-4ECEA703DBEB}"/>
              </a:ext>
            </a:extLst>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4678" y="3975111"/>
            <a:ext cx="2574925" cy="1932940"/>
          </a:xfrm>
          <a:prstGeom prst="rect">
            <a:avLst/>
          </a:prstGeom>
          <a:noFill/>
          <a:ln>
            <a:noFill/>
          </a:ln>
        </p:spPr>
      </p:pic>
      <p:pic>
        <p:nvPicPr>
          <p:cNvPr id="14" name="图片 13">
            <a:extLst>
              <a:ext uri="{FF2B5EF4-FFF2-40B4-BE49-F238E27FC236}">
                <a16:creationId xmlns:a16="http://schemas.microsoft.com/office/drawing/2014/main" id="{AE7277C9-F6A0-4BBC-A1B6-7B424F26DAF1}"/>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733638" y="3975111"/>
            <a:ext cx="2574925" cy="1932940"/>
          </a:xfrm>
          <a:prstGeom prst="rect">
            <a:avLst/>
          </a:prstGeom>
          <a:noFill/>
          <a:ln>
            <a:noFill/>
          </a:ln>
        </p:spPr>
      </p:pic>
      <p:sp>
        <p:nvSpPr>
          <p:cNvPr id="6" name="箭头: 右 5">
            <a:extLst>
              <a:ext uri="{FF2B5EF4-FFF2-40B4-BE49-F238E27FC236}">
                <a16:creationId xmlns:a16="http://schemas.microsoft.com/office/drawing/2014/main" id="{16D64415-0131-4E48-B986-C97DD17AE522}"/>
              </a:ext>
            </a:extLst>
          </p:cNvPr>
          <p:cNvSpPr/>
          <p:nvPr/>
        </p:nvSpPr>
        <p:spPr>
          <a:xfrm>
            <a:off x="5284918" y="3843210"/>
            <a:ext cx="1624868" cy="2993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933107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35551">
        <p15:prstTrans prst="pageCurlDouble"/>
      </p:transition>
    </mc:Choice>
    <mc:Fallback xmlns="">
      <p:transition spd="slow" advClick="0" advTm="35551">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cs typeface="+mn-ea"/>
                <a:sym typeface="+mn-lt"/>
              </a:rPr>
              <a:t>模型数据处理</a:t>
            </a:r>
          </a:p>
        </p:txBody>
      </p:sp>
      <p:pic>
        <p:nvPicPr>
          <p:cNvPr id="8" name="图片 7">
            <a:extLst>
              <a:ext uri="{FF2B5EF4-FFF2-40B4-BE49-F238E27FC236}">
                <a16:creationId xmlns:a16="http://schemas.microsoft.com/office/drawing/2014/main" id="{39D88868-E2A5-46FB-8BEB-E09749AE466F}"/>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5742" y="1350299"/>
            <a:ext cx="2574925" cy="1932940"/>
          </a:xfrm>
          <a:prstGeom prst="rect">
            <a:avLst/>
          </a:prstGeom>
          <a:noFill/>
          <a:ln>
            <a:noFill/>
          </a:ln>
        </p:spPr>
      </p:pic>
      <p:pic>
        <p:nvPicPr>
          <p:cNvPr id="10" name="图片 9">
            <a:extLst>
              <a:ext uri="{FF2B5EF4-FFF2-40B4-BE49-F238E27FC236}">
                <a16:creationId xmlns:a16="http://schemas.microsoft.com/office/drawing/2014/main" id="{2D4CCD5C-A4FB-4D0D-9AAB-0652C25F6AA4}"/>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54505" y="1328737"/>
            <a:ext cx="2574925" cy="1932940"/>
          </a:xfrm>
          <a:prstGeom prst="rect">
            <a:avLst/>
          </a:prstGeom>
          <a:noFill/>
          <a:ln>
            <a:noFill/>
          </a:ln>
        </p:spPr>
      </p:pic>
      <p:pic>
        <p:nvPicPr>
          <p:cNvPr id="11" name="图片 10">
            <a:extLst>
              <a:ext uri="{FF2B5EF4-FFF2-40B4-BE49-F238E27FC236}">
                <a16:creationId xmlns:a16="http://schemas.microsoft.com/office/drawing/2014/main" id="{02FF43F2-6CC3-4E97-A193-31334279026D}"/>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8084" y="3123545"/>
            <a:ext cx="2574925" cy="1932940"/>
          </a:xfrm>
          <a:prstGeom prst="rect">
            <a:avLst/>
          </a:prstGeom>
          <a:noFill/>
          <a:ln>
            <a:noFill/>
          </a:ln>
        </p:spPr>
      </p:pic>
      <p:pic>
        <p:nvPicPr>
          <p:cNvPr id="12" name="图片 11">
            <a:extLst>
              <a:ext uri="{FF2B5EF4-FFF2-40B4-BE49-F238E27FC236}">
                <a16:creationId xmlns:a16="http://schemas.microsoft.com/office/drawing/2014/main" id="{D3738782-C9EE-442D-849E-FD32DB5F7415}"/>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253009" y="3120470"/>
            <a:ext cx="2574925" cy="1932940"/>
          </a:xfrm>
          <a:prstGeom prst="rect">
            <a:avLst/>
          </a:prstGeom>
          <a:noFill/>
          <a:ln>
            <a:noFill/>
          </a:ln>
        </p:spPr>
      </p:pic>
      <p:pic>
        <p:nvPicPr>
          <p:cNvPr id="13" name="图片 12">
            <a:extLst>
              <a:ext uri="{FF2B5EF4-FFF2-40B4-BE49-F238E27FC236}">
                <a16:creationId xmlns:a16="http://schemas.microsoft.com/office/drawing/2014/main" id="{C20BE8CE-E923-4834-A6CA-CFC23C7382C3}"/>
              </a:ext>
            </a:extLst>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90426" y="4893716"/>
            <a:ext cx="2574925" cy="1932940"/>
          </a:xfrm>
          <a:prstGeom prst="rect">
            <a:avLst/>
          </a:prstGeom>
          <a:noFill/>
          <a:ln>
            <a:noFill/>
          </a:ln>
        </p:spPr>
      </p:pic>
      <p:pic>
        <p:nvPicPr>
          <p:cNvPr id="14" name="图片 13">
            <a:extLst>
              <a:ext uri="{FF2B5EF4-FFF2-40B4-BE49-F238E27FC236}">
                <a16:creationId xmlns:a16="http://schemas.microsoft.com/office/drawing/2014/main" id="{69FEFA7D-1500-479B-B8C2-530B6BD7A5F1}"/>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240667" y="4893716"/>
            <a:ext cx="2574925" cy="1932940"/>
          </a:xfrm>
          <a:prstGeom prst="rect">
            <a:avLst/>
          </a:prstGeom>
          <a:noFill/>
          <a:ln>
            <a:noFill/>
          </a:ln>
        </p:spPr>
      </p:pic>
      <p:pic>
        <p:nvPicPr>
          <p:cNvPr id="15" name="图片 14">
            <a:extLst>
              <a:ext uri="{FF2B5EF4-FFF2-40B4-BE49-F238E27FC236}">
                <a16:creationId xmlns:a16="http://schemas.microsoft.com/office/drawing/2014/main" id="{F1ACD468-4338-4487-A882-4A41514239E0}"/>
              </a:ext>
            </a:extLst>
          </p:cNvPr>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041662" y="1328737"/>
            <a:ext cx="2574925" cy="1932940"/>
          </a:xfrm>
          <a:prstGeom prst="rect">
            <a:avLst/>
          </a:prstGeom>
          <a:noFill/>
          <a:ln>
            <a:noFill/>
          </a:ln>
        </p:spPr>
      </p:pic>
      <p:pic>
        <p:nvPicPr>
          <p:cNvPr id="16" name="图片 15">
            <a:extLst>
              <a:ext uri="{FF2B5EF4-FFF2-40B4-BE49-F238E27FC236}">
                <a16:creationId xmlns:a16="http://schemas.microsoft.com/office/drawing/2014/main" id="{AD32BA77-26A7-4C34-A476-6854A711A047}"/>
              </a:ext>
            </a:extLst>
          </p:cNvPr>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9618083" y="1328737"/>
            <a:ext cx="2574925" cy="1932940"/>
          </a:xfrm>
          <a:prstGeom prst="rect">
            <a:avLst/>
          </a:prstGeom>
          <a:noFill/>
          <a:ln>
            <a:noFill/>
          </a:ln>
        </p:spPr>
      </p:pic>
      <p:pic>
        <p:nvPicPr>
          <p:cNvPr id="17" name="图片 16">
            <a:extLst>
              <a:ext uri="{FF2B5EF4-FFF2-40B4-BE49-F238E27FC236}">
                <a16:creationId xmlns:a16="http://schemas.microsoft.com/office/drawing/2014/main" id="{17085547-42DA-4FAA-AE4F-3AA763044F13}"/>
              </a:ext>
            </a:extLst>
          </p:cNvPr>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060856" y="3125559"/>
            <a:ext cx="2574925" cy="1932940"/>
          </a:xfrm>
          <a:prstGeom prst="rect">
            <a:avLst/>
          </a:prstGeom>
          <a:noFill/>
          <a:ln>
            <a:noFill/>
          </a:ln>
        </p:spPr>
      </p:pic>
      <p:pic>
        <p:nvPicPr>
          <p:cNvPr id="18" name="图片 17">
            <a:extLst>
              <a:ext uri="{FF2B5EF4-FFF2-40B4-BE49-F238E27FC236}">
                <a16:creationId xmlns:a16="http://schemas.microsoft.com/office/drawing/2014/main" id="{6CFB4311-5887-47C0-996B-2225E623DCF2}"/>
              </a:ext>
            </a:extLst>
          </p:cNvPr>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9644110" y="3120470"/>
            <a:ext cx="2574925" cy="1932940"/>
          </a:xfrm>
          <a:prstGeom prst="rect">
            <a:avLst/>
          </a:prstGeom>
          <a:noFill/>
          <a:ln>
            <a:noFill/>
          </a:ln>
        </p:spPr>
      </p:pic>
      <p:pic>
        <p:nvPicPr>
          <p:cNvPr id="19" name="图片 18">
            <a:extLst>
              <a:ext uri="{FF2B5EF4-FFF2-40B4-BE49-F238E27FC236}">
                <a16:creationId xmlns:a16="http://schemas.microsoft.com/office/drawing/2014/main" id="{361496C4-BE43-408D-B6C9-FFE820B3EC53}"/>
              </a:ext>
            </a:extLst>
          </p:cNvPr>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062302" y="4894923"/>
            <a:ext cx="2574925" cy="1932940"/>
          </a:xfrm>
          <a:prstGeom prst="rect">
            <a:avLst/>
          </a:prstGeom>
          <a:noFill/>
          <a:ln>
            <a:noFill/>
          </a:ln>
        </p:spPr>
      </p:pic>
      <p:pic>
        <p:nvPicPr>
          <p:cNvPr id="20" name="图片 19">
            <a:extLst>
              <a:ext uri="{FF2B5EF4-FFF2-40B4-BE49-F238E27FC236}">
                <a16:creationId xmlns:a16="http://schemas.microsoft.com/office/drawing/2014/main" id="{AA5EA9C1-74A1-49AD-B05E-1247A9FFAA91}"/>
              </a:ext>
            </a:extLst>
          </p:cNvPr>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9616587" y="4893716"/>
            <a:ext cx="2574925" cy="1932940"/>
          </a:xfrm>
          <a:prstGeom prst="rect">
            <a:avLst/>
          </a:prstGeom>
          <a:noFill/>
          <a:ln>
            <a:noFill/>
          </a:ln>
        </p:spPr>
      </p:pic>
      <p:sp>
        <p:nvSpPr>
          <p:cNvPr id="6" name="箭头: 左右 5">
            <a:extLst>
              <a:ext uri="{FF2B5EF4-FFF2-40B4-BE49-F238E27FC236}">
                <a16:creationId xmlns:a16="http://schemas.microsoft.com/office/drawing/2014/main" id="{B3C9011D-DAEE-4E31-888B-096DA0406B69}"/>
              </a:ext>
            </a:extLst>
          </p:cNvPr>
          <p:cNvSpPr/>
          <p:nvPr/>
        </p:nvSpPr>
        <p:spPr>
          <a:xfrm>
            <a:off x="5827934" y="4048373"/>
            <a:ext cx="1202884" cy="36933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00925615-FB15-4175-91D9-BDF374A729E9}"/>
              </a:ext>
            </a:extLst>
          </p:cNvPr>
          <p:cNvSpPr txBox="1"/>
          <p:nvPr/>
        </p:nvSpPr>
        <p:spPr>
          <a:xfrm>
            <a:off x="4794359" y="6863318"/>
            <a:ext cx="2988332" cy="369332"/>
          </a:xfrm>
          <a:prstGeom prst="rect">
            <a:avLst/>
          </a:prstGeom>
          <a:noFill/>
        </p:spPr>
        <p:txBody>
          <a:bodyPr wrap="square" rtlCol="0">
            <a:spAutoFit/>
          </a:bodyPr>
          <a:lstStyle/>
          <a:p>
            <a:pPr algn="ctr"/>
            <a:r>
              <a:rPr lang="en-US" altLang="zh-CN" dirty="0"/>
              <a:t>F-XY</a:t>
            </a:r>
            <a:r>
              <a:rPr lang="zh-CN" altLang="en-US" dirty="0"/>
              <a:t>预测滤波  </a:t>
            </a:r>
            <a:r>
              <a:rPr lang="en-US" altLang="zh-CN" dirty="0"/>
              <a:t>VS  RPCA</a:t>
            </a:r>
            <a:r>
              <a:rPr lang="zh-CN" altLang="en-US" dirty="0"/>
              <a:t>去噪</a:t>
            </a:r>
          </a:p>
        </p:txBody>
      </p:sp>
    </p:spTree>
    <p:extLst>
      <p:ext uri="{BB962C8B-B14F-4D97-AF65-F5344CB8AC3E}">
        <p14:creationId xmlns:p14="http://schemas.microsoft.com/office/powerpoint/2010/main" val="10487303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35551">
        <p15:prstTrans prst="pageCurlDouble"/>
      </p:transition>
    </mc:Choice>
    <mc:Fallback xmlns="">
      <p:transition spd="slow" advClick="0" advTm="35551">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cs typeface="+mn-ea"/>
                <a:sym typeface="+mn-lt"/>
              </a:rPr>
              <a:t>模型数据处理</a:t>
            </a:r>
          </a:p>
        </p:txBody>
      </p:sp>
      <p:pic>
        <p:nvPicPr>
          <p:cNvPr id="8" name="图片 7">
            <a:extLst>
              <a:ext uri="{FF2B5EF4-FFF2-40B4-BE49-F238E27FC236}">
                <a16:creationId xmlns:a16="http://schemas.microsoft.com/office/drawing/2014/main" id="{7188A9F8-9559-4B4F-AB76-E42D5D53837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9374" y="1960141"/>
            <a:ext cx="5760000" cy="3888000"/>
          </a:xfrm>
          <a:prstGeom prst="rect">
            <a:avLst/>
          </a:prstGeom>
          <a:noFill/>
          <a:ln>
            <a:noFill/>
          </a:ln>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8FF6C12-8F2A-4CB1-9CA9-BA972622C372}"/>
                  </a:ext>
                </a:extLst>
              </p:cNvPr>
              <p:cNvSpPr txBox="1"/>
              <p:nvPr/>
            </p:nvSpPr>
            <p:spPr>
              <a:xfrm>
                <a:off x="3909096" y="6280621"/>
                <a:ext cx="5544616" cy="369332"/>
              </a:xfrm>
              <a:prstGeom prst="rect">
                <a:avLst/>
              </a:prstGeom>
              <a:noFill/>
            </p:spPr>
            <p:txBody>
              <a:bodyPr wrap="square" rtlCol="0">
                <a:spAutoFit/>
              </a:bodyPr>
              <a:lstStyle/>
              <a:p>
                <a:r>
                  <a:rPr lang="en-US" altLang="zh-CN" dirty="0"/>
                  <a:t>Q</a:t>
                </a:r>
                <a:r>
                  <a:rPr lang="zh-CN" altLang="zh-CN" dirty="0"/>
                  <a:t>值随最大迭代次数</a:t>
                </a:r>
                <a:r>
                  <a:rPr lang="en-US" altLang="zh-CN" dirty="0"/>
                  <a:t>Niter</a:t>
                </a:r>
                <a:r>
                  <a:rPr lang="zh-CN" altLang="zh-CN" dirty="0"/>
                  <a:t>和截断误差</a:t>
                </a:r>
                <a14:m>
                  <m:oMath xmlns:m="http://schemas.openxmlformats.org/officeDocument/2006/math">
                    <m:r>
                      <a:rPr lang="en-US" altLang="zh-CN" i="1">
                        <a:latin typeface="Cambria Math" panose="02040503050406030204" pitchFamily="18" charset="0"/>
                      </a:rPr>
                      <m:t>𝜀</m:t>
                    </m:r>
                  </m:oMath>
                </a14:m>
                <a:r>
                  <a:rPr lang="zh-CN" altLang="zh-CN" dirty="0"/>
                  <a:t>变化的关系曲线</a:t>
                </a:r>
                <a:endParaRPr lang="zh-CN" altLang="en-US" dirty="0"/>
              </a:p>
            </p:txBody>
          </p:sp>
        </mc:Choice>
        <mc:Fallback xmlns="">
          <p:sp>
            <p:nvSpPr>
              <p:cNvPr id="6" name="文本框 5">
                <a:extLst>
                  <a:ext uri="{FF2B5EF4-FFF2-40B4-BE49-F238E27FC236}">
                    <a16:creationId xmlns:a16="http://schemas.microsoft.com/office/drawing/2014/main" id="{48FF6C12-8F2A-4CB1-9CA9-BA972622C372}"/>
                  </a:ext>
                </a:extLst>
              </p:cNvPr>
              <p:cNvSpPr txBox="1">
                <a:spLocks noRot="1" noChangeAspect="1" noMove="1" noResize="1" noEditPoints="1" noAdjustHandles="1" noChangeArrowheads="1" noChangeShapeType="1" noTextEdit="1"/>
              </p:cNvSpPr>
              <p:nvPr/>
            </p:nvSpPr>
            <p:spPr>
              <a:xfrm>
                <a:off x="3909096" y="6280621"/>
                <a:ext cx="5544616" cy="369332"/>
              </a:xfrm>
              <a:prstGeom prst="rect">
                <a:avLst/>
              </a:prstGeom>
              <a:blipFill>
                <a:blip r:embed="rId5"/>
                <a:stretch>
                  <a:fillRect l="-879" t="-13115" r="-220" b="-26230"/>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4F2B0148-3476-4860-A111-A89F4EDB4D0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29376" y="1960141"/>
            <a:ext cx="5760000" cy="3887999"/>
          </a:xfrm>
          <a:prstGeom prst="rect">
            <a:avLst/>
          </a:prstGeom>
        </p:spPr>
      </p:pic>
    </p:spTree>
    <p:extLst>
      <p:ext uri="{BB962C8B-B14F-4D97-AF65-F5344CB8AC3E}">
        <p14:creationId xmlns:p14="http://schemas.microsoft.com/office/powerpoint/2010/main" val="5445381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35551">
        <p15:prstTrans prst="pageCurlDouble"/>
      </p:transition>
    </mc:Choice>
    <mc:Fallback xmlns="">
      <p:transition spd="slow" advClick="0" advTm="35551">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cs typeface="+mn-ea"/>
                <a:sym typeface="+mn-lt"/>
              </a:rPr>
              <a:t>模型数据处理</a:t>
            </a:r>
          </a:p>
        </p:txBody>
      </p:sp>
      <p:pic>
        <p:nvPicPr>
          <p:cNvPr id="8" name="图片 7">
            <a:extLst>
              <a:ext uri="{FF2B5EF4-FFF2-40B4-BE49-F238E27FC236}">
                <a16:creationId xmlns:a16="http://schemas.microsoft.com/office/drawing/2014/main" id="{FA5EBF5D-7FEB-46AA-A593-FC8BF386362F}"/>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8012" y="2248173"/>
            <a:ext cx="2574925" cy="1932940"/>
          </a:xfrm>
          <a:prstGeom prst="rect">
            <a:avLst/>
          </a:prstGeom>
          <a:noFill/>
          <a:ln>
            <a:noFill/>
          </a:ln>
        </p:spPr>
      </p:pic>
      <p:pic>
        <p:nvPicPr>
          <p:cNvPr id="10" name="图片 9">
            <a:extLst>
              <a:ext uri="{FF2B5EF4-FFF2-40B4-BE49-F238E27FC236}">
                <a16:creationId xmlns:a16="http://schemas.microsoft.com/office/drawing/2014/main" id="{82C4FFC3-0031-4A96-82A1-4C3D795B61AA}"/>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70661" y="2248173"/>
            <a:ext cx="2574925" cy="1932940"/>
          </a:xfrm>
          <a:prstGeom prst="rect">
            <a:avLst/>
          </a:prstGeom>
          <a:noFill/>
          <a:ln>
            <a:noFill/>
          </a:ln>
        </p:spPr>
      </p:pic>
      <p:pic>
        <p:nvPicPr>
          <p:cNvPr id="11" name="图片 10">
            <a:extLst>
              <a:ext uri="{FF2B5EF4-FFF2-40B4-BE49-F238E27FC236}">
                <a16:creationId xmlns:a16="http://schemas.microsoft.com/office/drawing/2014/main" id="{D47ECE0B-D618-44FD-93E2-5444247F6E48}"/>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95736" y="4190146"/>
            <a:ext cx="2574925" cy="1932940"/>
          </a:xfrm>
          <a:prstGeom prst="rect">
            <a:avLst/>
          </a:prstGeom>
          <a:noFill/>
          <a:ln>
            <a:noFill/>
          </a:ln>
        </p:spPr>
      </p:pic>
      <p:pic>
        <p:nvPicPr>
          <p:cNvPr id="12" name="图片 11">
            <a:extLst>
              <a:ext uri="{FF2B5EF4-FFF2-40B4-BE49-F238E27FC236}">
                <a16:creationId xmlns:a16="http://schemas.microsoft.com/office/drawing/2014/main" id="{83A1A7A5-E958-4604-AA6A-26247A531494}"/>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52937" y="4190146"/>
            <a:ext cx="2574925" cy="1932940"/>
          </a:xfrm>
          <a:prstGeom prst="rect">
            <a:avLst/>
          </a:prstGeom>
          <a:noFill/>
          <a:ln>
            <a:noFill/>
          </a:ln>
        </p:spPr>
      </p:pic>
      <p:pic>
        <p:nvPicPr>
          <p:cNvPr id="13" name="图片 12">
            <a:extLst>
              <a:ext uri="{FF2B5EF4-FFF2-40B4-BE49-F238E27FC236}">
                <a16:creationId xmlns:a16="http://schemas.microsoft.com/office/drawing/2014/main" id="{B85DB4A6-2FED-41AF-BE35-1B7B0A4738AC}"/>
              </a:ext>
            </a:extLst>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37487" y="3214643"/>
            <a:ext cx="2574925" cy="1932940"/>
          </a:xfrm>
          <a:prstGeom prst="rect">
            <a:avLst/>
          </a:prstGeom>
          <a:noFill/>
          <a:ln>
            <a:noFill/>
          </a:ln>
        </p:spPr>
      </p:pic>
      <p:pic>
        <p:nvPicPr>
          <p:cNvPr id="14" name="图片 13">
            <a:extLst>
              <a:ext uri="{FF2B5EF4-FFF2-40B4-BE49-F238E27FC236}">
                <a16:creationId xmlns:a16="http://schemas.microsoft.com/office/drawing/2014/main" id="{E013013E-2015-4920-A025-FE281E5A4F81}"/>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026206" y="3214643"/>
            <a:ext cx="2574925" cy="1932940"/>
          </a:xfrm>
          <a:prstGeom prst="rect">
            <a:avLst/>
          </a:prstGeom>
          <a:noFill/>
          <a:ln>
            <a:noFill/>
          </a:ln>
        </p:spPr>
      </p:pic>
      <p:sp>
        <p:nvSpPr>
          <p:cNvPr id="6" name="箭头: 右 5">
            <a:extLst>
              <a:ext uri="{FF2B5EF4-FFF2-40B4-BE49-F238E27FC236}">
                <a16:creationId xmlns:a16="http://schemas.microsoft.com/office/drawing/2014/main" id="{34131100-A2BB-49F0-B461-C41C7B6CE056}"/>
              </a:ext>
            </a:extLst>
          </p:cNvPr>
          <p:cNvSpPr/>
          <p:nvPr/>
        </p:nvSpPr>
        <p:spPr>
          <a:xfrm>
            <a:off x="6069335" y="3976365"/>
            <a:ext cx="1152128"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3820305B-30EA-400B-B34A-442EE778FA2C}"/>
              </a:ext>
            </a:extLst>
          </p:cNvPr>
          <p:cNvSpPr/>
          <p:nvPr/>
        </p:nvSpPr>
        <p:spPr>
          <a:xfrm>
            <a:off x="4197127" y="6408646"/>
            <a:ext cx="4108817" cy="369332"/>
          </a:xfrm>
          <a:prstGeom prst="rect">
            <a:avLst/>
          </a:prstGeom>
        </p:spPr>
        <p:txBody>
          <a:bodyPr wrap="none">
            <a:spAutoFit/>
          </a:bodyPr>
          <a:lstStyle/>
          <a:p>
            <a:pPr algn="ctr"/>
            <a:r>
              <a:rPr lang="zh-CN" altLang="en-US" dirty="0"/>
              <a:t>仅含异常值噪声的弯曲同相轴模型数据</a:t>
            </a:r>
            <a:endParaRPr lang="en-US" altLang="zh-CN" dirty="0"/>
          </a:p>
        </p:txBody>
      </p:sp>
    </p:spTree>
    <p:extLst>
      <p:ext uri="{BB962C8B-B14F-4D97-AF65-F5344CB8AC3E}">
        <p14:creationId xmlns:p14="http://schemas.microsoft.com/office/powerpoint/2010/main" val="28285127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35551">
        <p15:prstTrans prst="pageCurlDouble"/>
      </p:transition>
    </mc:Choice>
    <mc:Fallback xmlns="">
      <p:transition spd="slow" advClick="0" advTm="35551">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cs typeface="+mn-ea"/>
                <a:sym typeface="+mn-lt"/>
              </a:rPr>
              <a:t>模型数据处理</a:t>
            </a:r>
          </a:p>
        </p:txBody>
      </p:sp>
      <p:pic>
        <p:nvPicPr>
          <p:cNvPr id="8" name="图片 7">
            <a:extLst>
              <a:ext uri="{FF2B5EF4-FFF2-40B4-BE49-F238E27FC236}">
                <a16:creationId xmlns:a16="http://schemas.microsoft.com/office/drawing/2014/main" id="{A1FEF6AB-D0FC-487B-A531-4D8E60A51D84}"/>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743" y="1400997"/>
            <a:ext cx="2574925" cy="1932940"/>
          </a:xfrm>
          <a:prstGeom prst="rect">
            <a:avLst/>
          </a:prstGeom>
          <a:noFill/>
          <a:ln>
            <a:noFill/>
          </a:ln>
        </p:spPr>
      </p:pic>
      <p:pic>
        <p:nvPicPr>
          <p:cNvPr id="10" name="图片 9">
            <a:extLst>
              <a:ext uri="{FF2B5EF4-FFF2-40B4-BE49-F238E27FC236}">
                <a16:creationId xmlns:a16="http://schemas.microsoft.com/office/drawing/2014/main" id="{EC082BD9-5CBA-4ABF-A59C-B7305B7123AC}"/>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41062" y="1400997"/>
            <a:ext cx="2574925" cy="1932940"/>
          </a:xfrm>
          <a:prstGeom prst="rect">
            <a:avLst/>
          </a:prstGeom>
          <a:noFill/>
          <a:ln>
            <a:noFill/>
          </a:ln>
        </p:spPr>
      </p:pic>
      <p:pic>
        <p:nvPicPr>
          <p:cNvPr id="11" name="图片 10">
            <a:extLst>
              <a:ext uri="{FF2B5EF4-FFF2-40B4-BE49-F238E27FC236}">
                <a16:creationId xmlns:a16="http://schemas.microsoft.com/office/drawing/2014/main" id="{2B16390B-1025-4168-86C6-F9A278634914}"/>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78012" y="3184277"/>
            <a:ext cx="2574925" cy="1932940"/>
          </a:xfrm>
          <a:prstGeom prst="rect">
            <a:avLst/>
          </a:prstGeom>
          <a:noFill/>
          <a:ln>
            <a:noFill/>
          </a:ln>
        </p:spPr>
      </p:pic>
      <p:pic>
        <p:nvPicPr>
          <p:cNvPr id="12" name="图片 11">
            <a:extLst>
              <a:ext uri="{FF2B5EF4-FFF2-40B4-BE49-F238E27FC236}">
                <a16:creationId xmlns:a16="http://schemas.microsoft.com/office/drawing/2014/main" id="{C3FA7754-633D-423F-AAA9-041DA6D59915}"/>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44761" y="3214602"/>
            <a:ext cx="2574925" cy="1932940"/>
          </a:xfrm>
          <a:prstGeom prst="rect">
            <a:avLst/>
          </a:prstGeom>
          <a:noFill/>
          <a:ln>
            <a:noFill/>
          </a:ln>
        </p:spPr>
      </p:pic>
      <p:pic>
        <p:nvPicPr>
          <p:cNvPr id="13" name="图片 12">
            <a:extLst>
              <a:ext uri="{FF2B5EF4-FFF2-40B4-BE49-F238E27FC236}">
                <a16:creationId xmlns:a16="http://schemas.microsoft.com/office/drawing/2014/main" id="{2AC09187-69AC-4D23-8D12-9CF108889765}"/>
              </a:ext>
            </a:extLst>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15281" y="4967557"/>
            <a:ext cx="2574925" cy="1932940"/>
          </a:xfrm>
          <a:prstGeom prst="rect">
            <a:avLst/>
          </a:prstGeom>
          <a:noFill/>
          <a:ln>
            <a:noFill/>
          </a:ln>
        </p:spPr>
      </p:pic>
      <p:pic>
        <p:nvPicPr>
          <p:cNvPr id="14" name="图片 13">
            <a:extLst>
              <a:ext uri="{FF2B5EF4-FFF2-40B4-BE49-F238E27FC236}">
                <a16:creationId xmlns:a16="http://schemas.microsoft.com/office/drawing/2014/main" id="{CDDC283A-4144-44AC-9E6D-64A200A24924}"/>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357306" y="4971405"/>
            <a:ext cx="2574925" cy="1932940"/>
          </a:xfrm>
          <a:prstGeom prst="rect">
            <a:avLst/>
          </a:prstGeom>
          <a:noFill/>
          <a:ln>
            <a:noFill/>
          </a:ln>
        </p:spPr>
      </p:pic>
      <p:pic>
        <p:nvPicPr>
          <p:cNvPr id="15" name="图片 14">
            <a:extLst>
              <a:ext uri="{FF2B5EF4-FFF2-40B4-BE49-F238E27FC236}">
                <a16:creationId xmlns:a16="http://schemas.microsoft.com/office/drawing/2014/main" id="{9D1849F5-94DE-48BB-BB5B-5091D9B87934}"/>
              </a:ext>
            </a:extLst>
          </p:cNvPr>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293471" y="1372542"/>
            <a:ext cx="2574925" cy="1932940"/>
          </a:xfrm>
          <a:prstGeom prst="rect">
            <a:avLst/>
          </a:prstGeom>
          <a:noFill/>
          <a:ln>
            <a:noFill/>
          </a:ln>
        </p:spPr>
      </p:pic>
      <p:pic>
        <p:nvPicPr>
          <p:cNvPr id="16" name="图片 15">
            <a:extLst>
              <a:ext uri="{FF2B5EF4-FFF2-40B4-BE49-F238E27FC236}">
                <a16:creationId xmlns:a16="http://schemas.microsoft.com/office/drawing/2014/main" id="{B2C14925-2DCA-4EC9-97A6-B2B8656C0653}"/>
              </a:ext>
            </a:extLst>
          </p:cNvPr>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9893790" y="1398188"/>
            <a:ext cx="2574925" cy="1932940"/>
          </a:xfrm>
          <a:prstGeom prst="rect">
            <a:avLst/>
          </a:prstGeom>
          <a:noFill/>
          <a:ln>
            <a:noFill/>
          </a:ln>
        </p:spPr>
      </p:pic>
      <p:pic>
        <p:nvPicPr>
          <p:cNvPr id="17" name="图片 16">
            <a:extLst>
              <a:ext uri="{FF2B5EF4-FFF2-40B4-BE49-F238E27FC236}">
                <a16:creationId xmlns:a16="http://schemas.microsoft.com/office/drawing/2014/main" id="{0E6A5212-AE3F-4DD1-9D8D-B5B3877A6C83}"/>
              </a:ext>
            </a:extLst>
          </p:cNvPr>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308237" y="3189109"/>
            <a:ext cx="2574925" cy="1932940"/>
          </a:xfrm>
          <a:prstGeom prst="rect">
            <a:avLst/>
          </a:prstGeom>
          <a:noFill/>
          <a:ln>
            <a:noFill/>
          </a:ln>
        </p:spPr>
      </p:pic>
      <p:pic>
        <p:nvPicPr>
          <p:cNvPr id="18" name="图片 17">
            <a:extLst>
              <a:ext uri="{FF2B5EF4-FFF2-40B4-BE49-F238E27FC236}">
                <a16:creationId xmlns:a16="http://schemas.microsoft.com/office/drawing/2014/main" id="{87AA7A16-AF46-4085-9F6D-912D2889372D}"/>
              </a:ext>
            </a:extLst>
          </p:cNvPr>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9893789" y="3209967"/>
            <a:ext cx="2574925" cy="1932940"/>
          </a:xfrm>
          <a:prstGeom prst="rect">
            <a:avLst/>
          </a:prstGeom>
          <a:noFill/>
          <a:ln>
            <a:noFill/>
          </a:ln>
        </p:spPr>
      </p:pic>
      <p:pic>
        <p:nvPicPr>
          <p:cNvPr id="19" name="图片 18">
            <a:extLst>
              <a:ext uri="{FF2B5EF4-FFF2-40B4-BE49-F238E27FC236}">
                <a16:creationId xmlns:a16="http://schemas.microsoft.com/office/drawing/2014/main" id="{8D9D152D-BD8D-4AA3-9840-7910C47C752B}"/>
              </a:ext>
            </a:extLst>
          </p:cNvPr>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293471" y="4967557"/>
            <a:ext cx="2574925" cy="1932940"/>
          </a:xfrm>
          <a:prstGeom prst="rect">
            <a:avLst/>
          </a:prstGeom>
          <a:noFill/>
          <a:ln>
            <a:noFill/>
          </a:ln>
        </p:spPr>
      </p:pic>
      <p:pic>
        <p:nvPicPr>
          <p:cNvPr id="20" name="图片 19">
            <a:extLst>
              <a:ext uri="{FF2B5EF4-FFF2-40B4-BE49-F238E27FC236}">
                <a16:creationId xmlns:a16="http://schemas.microsoft.com/office/drawing/2014/main" id="{DAD1D768-5148-400B-B93B-E3EE999D1B97}"/>
              </a:ext>
            </a:extLst>
          </p:cNvPr>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9899189" y="4967557"/>
            <a:ext cx="2574925" cy="1932940"/>
          </a:xfrm>
          <a:prstGeom prst="rect">
            <a:avLst/>
          </a:prstGeom>
          <a:noFill/>
          <a:ln>
            <a:noFill/>
          </a:ln>
        </p:spPr>
      </p:pic>
      <p:sp>
        <p:nvSpPr>
          <p:cNvPr id="21" name="箭头: 左右 20">
            <a:extLst>
              <a:ext uri="{FF2B5EF4-FFF2-40B4-BE49-F238E27FC236}">
                <a16:creationId xmlns:a16="http://schemas.microsoft.com/office/drawing/2014/main" id="{8D57C2C2-D97D-4372-8483-562A08DA9A9C}"/>
              </a:ext>
            </a:extLst>
          </p:cNvPr>
          <p:cNvSpPr/>
          <p:nvPr/>
        </p:nvSpPr>
        <p:spPr>
          <a:xfrm>
            <a:off x="6012519" y="3991771"/>
            <a:ext cx="1202884" cy="36933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1809D566-5682-4372-9592-142309F544A5}"/>
              </a:ext>
            </a:extLst>
          </p:cNvPr>
          <p:cNvSpPr txBox="1"/>
          <p:nvPr/>
        </p:nvSpPr>
        <p:spPr>
          <a:xfrm>
            <a:off x="4794359" y="6863318"/>
            <a:ext cx="2988332" cy="369332"/>
          </a:xfrm>
          <a:prstGeom prst="rect">
            <a:avLst/>
          </a:prstGeom>
          <a:noFill/>
        </p:spPr>
        <p:txBody>
          <a:bodyPr wrap="square" rtlCol="0">
            <a:spAutoFit/>
          </a:bodyPr>
          <a:lstStyle/>
          <a:p>
            <a:pPr algn="ctr"/>
            <a:r>
              <a:rPr lang="en-US" altLang="zh-CN" dirty="0"/>
              <a:t>F-XY</a:t>
            </a:r>
            <a:r>
              <a:rPr lang="zh-CN" altLang="en-US" dirty="0"/>
              <a:t>预测滤波  </a:t>
            </a:r>
            <a:r>
              <a:rPr lang="en-US" altLang="zh-CN" dirty="0"/>
              <a:t>VS  RPCA</a:t>
            </a:r>
            <a:r>
              <a:rPr lang="zh-CN" altLang="en-US" dirty="0"/>
              <a:t>去噪</a:t>
            </a:r>
          </a:p>
        </p:txBody>
      </p:sp>
    </p:spTree>
    <p:extLst>
      <p:ext uri="{BB962C8B-B14F-4D97-AF65-F5344CB8AC3E}">
        <p14:creationId xmlns:p14="http://schemas.microsoft.com/office/powerpoint/2010/main" val="41479336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35551">
        <p15:prstTrans prst="pageCurlDouble"/>
      </p:transition>
    </mc:Choice>
    <mc:Fallback xmlns="">
      <p:transition spd="slow" advClick="0" advTm="35551">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cs typeface="+mn-ea"/>
                <a:sym typeface="+mn-lt"/>
              </a:rPr>
              <a:t>模型数据处理</a:t>
            </a:r>
          </a:p>
        </p:txBody>
      </p:sp>
      <p:pic>
        <p:nvPicPr>
          <p:cNvPr id="8" name="图片 7">
            <a:extLst>
              <a:ext uri="{FF2B5EF4-FFF2-40B4-BE49-F238E27FC236}">
                <a16:creationId xmlns:a16="http://schemas.microsoft.com/office/drawing/2014/main" id="{8D882C9B-BB57-41AA-BDBA-034EDC6E110C}"/>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9375" y="2104157"/>
            <a:ext cx="5760000" cy="3888000"/>
          </a:xfrm>
          <a:prstGeom prst="rect">
            <a:avLst/>
          </a:prstGeom>
          <a:noFill/>
          <a:ln>
            <a:noFill/>
          </a:ln>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966BDCB4-10FC-4145-9FF5-7F2F55006A04}"/>
                  </a:ext>
                </a:extLst>
              </p:cNvPr>
              <p:cNvSpPr txBox="1"/>
              <p:nvPr/>
            </p:nvSpPr>
            <p:spPr>
              <a:xfrm>
                <a:off x="3909096" y="6280621"/>
                <a:ext cx="5544616" cy="369332"/>
              </a:xfrm>
              <a:prstGeom prst="rect">
                <a:avLst/>
              </a:prstGeom>
              <a:noFill/>
            </p:spPr>
            <p:txBody>
              <a:bodyPr wrap="square" rtlCol="0">
                <a:spAutoFit/>
              </a:bodyPr>
              <a:lstStyle/>
              <a:p>
                <a:r>
                  <a:rPr lang="en-US" altLang="zh-CN" dirty="0"/>
                  <a:t>Q</a:t>
                </a:r>
                <a:r>
                  <a:rPr lang="zh-CN" altLang="zh-CN" dirty="0"/>
                  <a:t>值随最大迭代次数</a:t>
                </a:r>
                <a:r>
                  <a:rPr lang="en-US" altLang="zh-CN" dirty="0"/>
                  <a:t>Niter</a:t>
                </a:r>
                <a:r>
                  <a:rPr lang="zh-CN" altLang="zh-CN" dirty="0"/>
                  <a:t>和截断误差</a:t>
                </a:r>
                <a14:m>
                  <m:oMath xmlns:m="http://schemas.openxmlformats.org/officeDocument/2006/math">
                    <m:r>
                      <a:rPr lang="en-US" altLang="zh-CN" i="1">
                        <a:latin typeface="Cambria Math" panose="02040503050406030204" pitchFamily="18" charset="0"/>
                      </a:rPr>
                      <m:t>𝜀</m:t>
                    </m:r>
                  </m:oMath>
                </a14:m>
                <a:r>
                  <a:rPr lang="zh-CN" altLang="zh-CN" dirty="0"/>
                  <a:t>变化的关系曲线</a:t>
                </a:r>
                <a:endParaRPr lang="zh-CN" altLang="en-US" dirty="0"/>
              </a:p>
            </p:txBody>
          </p:sp>
        </mc:Choice>
        <mc:Fallback xmlns="">
          <p:sp>
            <p:nvSpPr>
              <p:cNvPr id="6" name="文本框 5">
                <a:extLst>
                  <a:ext uri="{FF2B5EF4-FFF2-40B4-BE49-F238E27FC236}">
                    <a16:creationId xmlns:a16="http://schemas.microsoft.com/office/drawing/2014/main" id="{966BDCB4-10FC-4145-9FF5-7F2F55006A04}"/>
                  </a:ext>
                </a:extLst>
              </p:cNvPr>
              <p:cNvSpPr txBox="1">
                <a:spLocks noRot="1" noChangeAspect="1" noMove="1" noResize="1" noEditPoints="1" noAdjustHandles="1" noChangeArrowheads="1" noChangeShapeType="1" noTextEdit="1"/>
              </p:cNvSpPr>
              <p:nvPr/>
            </p:nvSpPr>
            <p:spPr>
              <a:xfrm>
                <a:off x="3909096" y="6280621"/>
                <a:ext cx="5544616" cy="369332"/>
              </a:xfrm>
              <a:prstGeom prst="rect">
                <a:avLst/>
              </a:prstGeom>
              <a:blipFill>
                <a:blip r:embed="rId5"/>
                <a:stretch>
                  <a:fillRect l="-879" t="-13115" r="-220" b="-26230"/>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102B9ED2-BAC7-489F-A5FD-66AC88E25BE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29375" y="2104157"/>
            <a:ext cx="5759999" cy="3888000"/>
          </a:xfrm>
          <a:prstGeom prst="rect">
            <a:avLst/>
          </a:prstGeom>
        </p:spPr>
      </p:pic>
    </p:spTree>
    <p:extLst>
      <p:ext uri="{BB962C8B-B14F-4D97-AF65-F5344CB8AC3E}">
        <p14:creationId xmlns:p14="http://schemas.microsoft.com/office/powerpoint/2010/main" val="4359871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35551">
        <p15:prstTrans prst="pageCurlDouble"/>
      </p:transition>
    </mc:Choice>
    <mc:Fallback xmlns="">
      <p:transition spd="slow" advClick="0" advTm="35551">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04</a:t>
            </a:r>
            <a:endParaRPr lang="zh-CN" altLang="en-US" dirty="0"/>
          </a:p>
        </p:txBody>
      </p:sp>
      <p:sp>
        <p:nvSpPr>
          <p:cNvPr id="4" name="文本占位符 3"/>
          <p:cNvSpPr>
            <a:spLocks noGrp="1"/>
          </p:cNvSpPr>
          <p:nvPr>
            <p:ph type="body" sz="quarter" idx="12"/>
          </p:nvPr>
        </p:nvSpPr>
        <p:spPr/>
        <p:txBody>
          <a:bodyPr/>
          <a:lstStyle/>
          <a:p>
            <a:r>
              <a:rPr lang="zh-CN" altLang="en-US" dirty="0"/>
              <a:t>实际数据处理</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4284">
        <p15:prstTrans prst="pageCurlDouble"/>
      </p:transition>
    </mc:Choice>
    <mc:Fallback xmlns="">
      <p:transition spd="slow" advTm="4284">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cs typeface="+mn-ea"/>
                <a:sym typeface="+mn-lt"/>
              </a:rPr>
              <a:t>实际数据处理</a:t>
            </a:r>
          </a:p>
        </p:txBody>
      </p:sp>
      <p:pic>
        <p:nvPicPr>
          <p:cNvPr id="5" name="图片 4">
            <a:extLst>
              <a:ext uri="{FF2B5EF4-FFF2-40B4-BE49-F238E27FC236}">
                <a16:creationId xmlns:a16="http://schemas.microsoft.com/office/drawing/2014/main" id="{21DC916F-5242-4338-8219-768BD2A6A1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0703" y="1456085"/>
            <a:ext cx="2577306" cy="1933200"/>
          </a:xfrm>
          <a:prstGeom prst="rect">
            <a:avLst/>
          </a:prstGeom>
        </p:spPr>
      </p:pic>
      <p:pic>
        <p:nvPicPr>
          <p:cNvPr id="7" name="图片 6">
            <a:extLst>
              <a:ext uri="{FF2B5EF4-FFF2-40B4-BE49-F238E27FC236}">
                <a16:creationId xmlns:a16="http://schemas.microsoft.com/office/drawing/2014/main" id="{0B4C5493-F570-4D90-ACC1-3AE75E6F2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58009" y="1453440"/>
            <a:ext cx="2577306" cy="1933200"/>
          </a:xfrm>
          <a:prstGeom prst="rect">
            <a:avLst/>
          </a:prstGeom>
        </p:spPr>
      </p:pic>
      <p:pic>
        <p:nvPicPr>
          <p:cNvPr id="9" name="图片 8">
            <a:extLst>
              <a:ext uri="{FF2B5EF4-FFF2-40B4-BE49-F238E27FC236}">
                <a16:creationId xmlns:a16="http://schemas.microsoft.com/office/drawing/2014/main" id="{4425A475-0B5A-44A5-90E2-3F426A9A38D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1341" y="3284144"/>
            <a:ext cx="2577306" cy="1933200"/>
          </a:xfrm>
          <a:prstGeom prst="rect">
            <a:avLst/>
          </a:prstGeom>
        </p:spPr>
      </p:pic>
      <p:pic>
        <p:nvPicPr>
          <p:cNvPr id="11" name="图片 10">
            <a:extLst>
              <a:ext uri="{FF2B5EF4-FFF2-40B4-BE49-F238E27FC236}">
                <a16:creationId xmlns:a16="http://schemas.microsoft.com/office/drawing/2014/main" id="{6EEC1135-C529-4125-965D-45B0C3CE907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955725" y="3284144"/>
            <a:ext cx="2577306" cy="1933200"/>
          </a:xfrm>
          <a:prstGeom prst="rect">
            <a:avLst/>
          </a:prstGeom>
        </p:spPr>
      </p:pic>
      <p:pic>
        <p:nvPicPr>
          <p:cNvPr id="13" name="图片 12">
            <a:extLst>
              <a:ext uri="{FF2B5EF4-FFF2-40B4-BE49-F238E27FC236}">
                <a16:creationId xmlns:a16="http://schemas.microsoft.com/office/drawing/2014/main" id="{011E5E6C-D1C4-47EB-A4C5-28DC281003C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11368" y="5112203"/>
            <a:ext cx="2577306" cy="1933200"/>
          </a:xfrm>
          <a:prstGeom prst="rect">
            <a:avLst/>
          </a:prstGeom>
        </p:spPr>
      </p:pic>
      <p:pic>
        <p:nvPicPr>
          <p:cNvPr id="15" name="图片 14">
            <a:extLst>
              <a:ext uri="{FF2B5EF4-FFF2-40B4-BE49-F238E27FC236}">
                <a16:creationId xmlns:a16="http://schemas.microsoft.com/office/drawing/2014/main" id="{77D8E37E-930F-4F1D-8051-5F133DD466B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945683" y="5125653"/>
            <a:ext cx="2577306" cy="1933200"/>
          </a:xfrm>
          <a:prstGeom prst="rect">
            <a:avLst/>
          </a:prstGeom>
        </p:spPr>
      </p:pic>
      <p:sp>
        <p:nvSpPr>
          <p:cNvPr id="16" name="箭头: 右 15">
            <a:extLst>
              <a:ext uri="{FF2B5EF4-FFF2-40B4-BE49-F238E27FC236}">
                <a16:creationId xmlns:a16="http://schemas.microsoft.com/office/drawing/2014/main" id="{71A7D874-AA3F-4B0C-911F-87F229ECF247}"/>
              </a:ext>
            </a:extLst>
          </p:cNvPr>
          <p:cNvSpPr/>
          <p:nvPr/>
        </p:nvSpPr>
        <p:spPr>
          <a:xfrm>
            <a:off x="5452266" y="4112107"/>
            <a:ext cx="857094" cy="2962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a:extLst>
              <a:ext uri="{FF2B5EF4-FFF2-40B4-BE49-F238E27FC236}">
                <a16:creationId xmlns:a16="http://schemas.microsoft.com/office/drawing/2014/main" id="{088CA14A-749B-45FF-B0F0-F767B81F1CE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253681" y="2178907"/>
            <a:ext cx="2577306" cy="1933200"/>
          </a:xfrm>
          <a:prstGeom prst="rect">
            <a:avLst/>
          </a:prstGeom>
        </p:spPr>
      </p:pic>
      <p:pic>
        <p:nvPicPr>
          <p:cNvPr id="18" name="图片 17">
            <a:extLst>
              <a:ext uri="{FF2B5EF4-FFF2-40B4-BE49-F238E27FC236}">
                <a16:creationId xmlns:a16="http://schemas.microsoft.com/office/drawing/2014/main" id="{5C2916DF-0135-4F2C-AD66-46249CAB3748}"/>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357368" y="4134551"/>
            <a:ext cx="2577306" cy="1933200"/>
          </a:xfrm>
          <a:prstGeom prst="rect">
            <a:avLst/>
          </a:prstGeom>
        </p:spPr>
      </p:pic>
      <p:pic>
        <p:nvPicPr>
          <p:cNvPr id="19" name="图片 18">
            <a:extLst>
              <a:ext uri="{FF2B5EF4-FFF2-40B4-BE49-F238E27FC236}">
                <a16:creationId xmlns:a16="http://schemas.microsoft.com/office/drawing/2014/main" id="{0D14D388-C931-4D32-BD0A-C28DD308FB8E}"/>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689051" y="2178907"/>
            <a:ext cx="2577306" cy="1933200"/>
          </a:xfrm>
          <a:prstGeom prst="rect">
            <a:avLst/>
          </a:prstGeom>
        </p:spPr>
      </p:pic>
      <p:pic>
        <p:nvPicPr>
          <p:cNvPr id="20" name="图片 19">
            <a:extLst>
              <a:ext uri="{FF2B5EF4-FFF2-40B4-BE49-F238E27FC236}">
                <a16:creationId xmlns:a16="http://schemas.microsoft.com/office/drawing/2014/main" id="{9281C4FC-4716-4847-99E5-1D85EAD75CB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9853453" y="4145603"/>
            <a:ext cx="2577306" cy="1933200"/>
          </a:xfrm>
          <a:prstGeom prst="rect">
            <a:avLst/>
          </a:prstGeom>
        </p:spPr>
      </p:pic>
      <p:sp>
        <p:nvSpPr>
          <p:cNvPr id="21" name="箭头: 右 20">
            <a:extLst>
              <a:ext uri="{FF2B5EF4-FFF2-40B4-BE49-F238E27FC236}">
                <a16:creationId xmlns:a16="http://schemas.microsoft.com/office/drawing/2014/main" id="{28EB2461-204B-4D6E-B063-8FB9AAFCDC24}"/>
              </a:ext>
            </a:extLst>
          </p:cNvPr>
          <p:cNvSpPr/>
          <p:nvPr/>
        </p:nvSpPr>
        <p:spPr>
          <a:xfrm>
            <a:off x="8830987" y="3986409"/>
            <a:ext cx="857094" cy="2962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11A3DF82-F9D1-4D94-A66B-6398B193D7DE}"/>
              </a:ext>
            </a:extLst>
          </p:cNvPr>
          <p:cNvSpPr txBox="1"/>
          <p:nvPr/>
        </p:nvSpPr>
        <p:spPr>
          <a:xfrm>
            <a:off x="8193915" y="6874187"/>
            <a:ext cx="2988332" cy="369332"/>
          </a:xfrm>
          <a:prstGeom prst="rect">
            <a:avLst/>
          </a:prstGeom>
          <a:noFill/>
        </p:spPr>
        <p:txBody>
          <a:bodyPr wrap="square" rtlCol="0">
            <a:spAutoFit/>
          </a:bodyPr>
          <a:lstStyle/>
          <a:p>
            <a:pPr algn="ctr"/>
            <a:r>
              <a:rPr lang="en-US" altLang="zh-CN" dirty="0"/>
              <a:t>RPCA</a:t>
            </a:r>
            <a:r>
              <a:rPr lang="zh-CN" altLang="en-US" dirty="0"/>
              <a:t>处理叠后数据</a:t>
            </a:r>
          </a:p>
        </p:txBody>
      </p:sp>
      <p:sp>
        <p:nvSpPr>
          <p:cNvPr id="23" name="文本框 22">
            <a:extLst>
              <a:ext uri="{FF2B5EF4-FFF2-40B4-BE49-F238E27FC236}">
                <a16:creationId xmlns:a16="http://schemas.microsoft.com/office/drawing/2014/main" id="{BF701F63-3492-4883-BE4B-F96DBAF4AE95}"/>
              </a:ext>
            </a:extLst>
          </p:cNvPr>
          <p:cNvSpPr txBox="1"/>
          <p:nvPr/>
        </p:nvSpPr>
        <p:spPr>
          <a:xfrm>
            <a:off x="1246709" y="6874187"/>
            <a:ext cx="3463875" cy="369332"/>
          </a:xfrm>
          <a:prstGeom prst="rect">
            <a:avLst/>
          </a:prstGeom>
          <a:noFill/>
        </p:spPr>
        <p:txBody>
          <a:bodyPr wrap="square" rtlCol="0">
            <a:spAutoFit/>
          </a:bodyPr>
          <a:lstStyle/>
          <a:p>
            <a:pPr algn="ctr"/>
            <a:r>
              <a:rPr lang="zh-CN" altLang="en-US" dirty="0"/>
              <a:t>手动添加异常值噪声的叠后数据</a:t>
            </a:r>
          </a:p>
        </p:txBody>
      </p:sp>
    </p:spTree>
    <p:extLst>
      <p:ext uri="{BB962C8B-B14F-4D97-AF65-F5344CB8AC3E}">
        <p14:creationId xmlns:p14="http://schemas.microsoft.com/office/powerpoint/2010/main" val="8247987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30800">
        <p15:prstTrans prst="pageCurlDouble"/>
      </p:transition>
    </mc:Choice>
    <mc:Fallback xmlns="">
      <p:transition spd="slow" advClick="0" advTm="3080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cs typeface="+mn-ea"/>
                <a:sym typeface="+mn-lt"/>
              </a:rPr>
              <a:t>实际数据处理</a:t>
            </a:r>
          </a:p>
        </p:txBody>
      </p:sp>
      <p:pic>
        <p:nvPicPr>
          <p:cNvPr id="5" name="图片 4">
            <a:extLst>
              <a:ext uri="{FF2B5EF4-FFF2-40B4-BE49-F238E27FC236}">
                <a16:creationId xmlns:a16="http://schemas.microsoft.com/office/drawing/2014/main" id="{6624DD5D-8FD0-490C-B600-2ED687355199}"/>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411" y="2565631"/>
            <a:ext cx="5616624" cy="2845679"/>
          </a:xfrm>
          <a:prstGeom prst="rect">
            <a:avLst/>
          </a:prstGeom>
          <a:noFill/>
          <a:ln>
            <a:noFill/>
          </a:ln>
        </p:spPr>
      </p:pic>
      <p:pic>
        <p:nvPicPr>
          <p:cNvPr id="11" name="图片 10">
            <a:extLst>
              <a:ext uri="{FF2B5EF4-FFF2-40B4-BE49-F238E27FC236}">
                <a16:creationId xmlns:a16="http://schemas.microsoft.com/office/drawing/2014/main" id="{F31A86E8-B33E-415E-89D7-9005B6F4FDAD}"/>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29375" y="1141831"/>
            <a:ext cx="5616624" cy="2847600"/>
          </a:xfrm>
          <a:prstGeom prst="rect">
            <a:avLst/>
          </a:prstGeom>
          <a:noFill/>
          <a:ln>
            <a:noFill/>
          </a:ln>
        </p:spPr>
      </p:pic>
      <p:pic>
        <p:nvPicPr>
          <p:cNvPr id="12" name="图片 11">
            <a:extLst>
              <a:ext uri="{FF2B5EF4-FFF2-40B4-BE49-F238E27FC236}">
                <a16:creationId xmlns:a16="http://schemas.microsoft.com/office/drawing/2014/main" id="{4C2A15E4-AB89-4642-BBBA-1E3D85CDAAAF}"/>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29375" y="4022342"/>
            <a:ext cx="5616624" cy="2847600"/>
          </a:xfrm>
          <a:prstGeom prst="rect">
            <a:avLst/>
          </a:prstGeom>
          <a:noFill/>
          <a:ln>
            <a:noFill/>
          </a:ln>
        </p:spPr>
      </p:pic>
      <p:sp>
        <p:nvSpPr>
          <p:cNvPr id="13" name="矩形 12">
            <a:extLst>
              <a:ext uri="{FF2B5EF4-FFF2-40B4-BE49-F238E27FC236}">
                <a16:creationId xmlns:a16="http://schemas.microsoft.com/office/drawing/2014/main" id="{FCB67BBB-7EC4-4977-AD1C-D80739545373}"/>
              </a:ext>
            </a:extLst>
          </p:cNvPr>
          <p:cNvSpPr/>
          <p:nvPr/>
        </p:nvSpPr>
        <p:spPr>
          <a:xfrm>
            <a:off x="9021663" y="1672109"/>
            <a:ext cx="2872105" cy="572770"/>
          </a:xfrm>
          <a:prstGeom prst="rect">
            <a:avLst/>
          </a:prstGeom>
          <a:noFill/>
          <a:ln w="254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4" name="矩形 13">
            <a:extLst>
              <a:ext uri="{FF2B5EF4-FFF2-40B4-BE49-F238E27FC236}">
                <a16:creationId xmlns:a16="http://schemas.microsoft.com/office/drawing/2014/main" id="{F56B63AF-3125-4950-B740-0E47B5768415}"/>
              </a:ext>
            </a:extLst>
          </p:cNvPr>
          <p:cNvSpPr/>
          <p:nvPr/>
        </p:nvSpPr>
        <p:spPr>
          <a:xfrm>
            <a:off x="9021663" y="4568575"/>
            <a:ext cx="2872105" cy="572770"/>
          </a:xfrm>
          <a:prstGeom prst="rect">
            <a:avLst/>
          </a:prstGeom>
          <a:noFill/>
          <a:ln w="254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5" name="文本框 14">
            <a:extLst>
              <a:ext uri="{FF2B5EF4-FFF2-40B4-BE49-F238E27FC236}">
                <a16:creationId xmlns:a16="http://schemas.microsoft.com/office/drawing/2014/main" id="{81F8AB15-0634-4358-95BF-1EDEBB690F9F}"/>
              </a:ext>
            </a:extLst>
          </p:cNvPr>
          <p:cNvSpPr txBox="1"/>
          <p:nvPr/>
        </p:nvSpPr>
        <p:spPr>
          <a:xfrm>
            <a:off x="4682891" y="6868021"/>
            <a:ext cx="2592288" cy="369332"/>
          </a:xfrm>
          <a:prstGeom prst="rect">
            <a:avLst/>
          </a:prstGeom>
          <a:noFill/>
        </p:spPr>
        <p:txBody>
          <a:bodyPr wrap="square" rtlCol="0">
            <a:spAutoFit/>
          </a:bodyPr>
          <a:lstStyle/>
          <a:p>
            <a:r>
              <a:rPr lang="en-US" altLang="zh-CN" dirty="0"/>
              <a:t>RPCA</a:t>
            </a:r>
            <a:r>
              <a:rPr lang="zh-CN" altLang="en-US" dirty="0"/>
              <a:t>处理实际数据</a:t>
            </a:r>
            <a:endParaRPr lang="en-US" altLang="zh-CN" dirty="0"/>
          </a:p>
        </p:txBody>
      </p:sp>
      <p:sp>
        <p:nvSpPr>
          <p:cNvPr id="9" name="矩形 8">
            <a:extLst>
              <a:ext uri="{FF2B5EF4-FFF2-40B4-BE49-F238E27FC236}">
                <a16:creationId xmlns:a16="http://schemas.microsoft.com/office/drawing/2014/main" id="{22C31414-917C-4C47-A5D2-6D281E059B92}"/>
              </a:ext>
            </a:extLst>
          </p:cNvPr>
          <p:cNvSpPr/>
          <p:nvPr/>
        </p:nvSpPr>
        <p:spPr>
          <a:xfrm>
            <a:off x="2972991" y="3112269"/>
            <a:ext cx="2872105" cy="572770"/>
          </a:xfrm>
          <a:prstGeom prst="rect">
            <a:avLst/>
          </a:prstGeom>
          <a:noFill/>
          <a:ln w="254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Tree>
    <p:extLst>
      <p:ext uri="{BB962C8B-B14F-4D97-AF65-F5344CB8AC3E}">
        <p14:creationId xmlns:p14="http://schemas.microsoft.com/office/powerpoint/2010/main" val="12748360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30800">
        <p15:prstTrans prst="pageCurlDouble"/>
      </p:transition>
    </mc:Choice>
    <mc:Fallback xmlns="">
      <p:transition spd="slow" advClick="0" advTm="3080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cs typeface="+mn-ea"/>
                <a:sym typeface="+mn-lt"/>
              </a:rPr>
              <a:t>实际数据处理</a:t>
            </a:r>
          </a:p>
        </p:txBody>
      </p:sp>
      <p:pic>
        <p:nvPicPr>
          <p:cNvPr id="5" name="图片 4">
            <a:extLst>
              <a:ext uri="{FF2B5EF4-FFF2-40B4-BE49-F238E27FC236}">
                <a16:creationId xmlns:a16="http://schemas.microsoft.com/office/drawing/2014/main" id="{95589758-98C6-40A6-87E8-DFA790C8A42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52711" y="2357120"/>
            <a:ext cx="3792220" cy="2518410"/>
          </a:xfrm>
          <a:prstGeom prst="rect">
            <a:avLst/>
          </a:prstGeom>
          <a:noFill/>
          <a:ln>
            <a:noFill/>
          </a:ln>
        </p:spPr>
      </p:pic>
      <p:pic>
        <p:nvPicPr>
          <p:cNvPr id="6" name="图片 5">
            <a:extLst>
              <a:ext uri="{FF2B5EF4-FFF2-40B4-BE49-F238E27FC236}">
                <a16:creationId xmlns:a16="http://schemas.microsoft.com/office/drawing/2014/main" id="{8E695C15-6F6C-452D-BB59-DD32C6E29BA2}"/>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4546600" y="2356485"/>
            <a:ext cx="3765550" cy="2519680"/>
          </a:xfrm>
          <a:prstGeom prst="rect">
            <a:avLst/>
          </a:prstGeom>
          <a:noFill/>
          <a:ln>
            <a:noFill/>
          </a:ln>
        </p:spPr>
      </p:pic>
      <p:pic>
        <p:nvPicPr>
          <p:cNvPr id="7" name="图片 6">
            <a:extLst>
              <a:ext uri="{FF2B5EF4-FFF2-40B4-BE49-F238E27FC236}">
                <a16:creationId xmlns:a16="http://schemas.microsoft.com/office/drawing/2014/main" id="{8DDF4CDB-C2A0-47B9-A4CB-C08B2FAF198E}"/>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8613819" y="2355850"/>
            <a:ext cx="3765550" cy="2519680"/>
          </a:xfrm>
          <a:prstGeom prst="rect">
            <a:avLst/>
          </a:prstGeom>
          <a:noFill/>
          <a:ln>
            <a:noFill/>
          </a:ln>
        </p:spPr>
      </p:pic>
      <p:sp>
        <p:nvSpPr>
          <p:cNvPr id="8" name="文本框 7">
            <a:extLst>
              <a:ext uri="{FF2B5EF4-FFF2-40B4-BE49-F238E27FC236}">
                <a16:creationId xmlns:a16="http://schemas.microsoft.com/office/drawing/2014/main" id="{0AB8428E-68B7-4B2E-BC61-58AD78E6BF57}"/>
              </a:ext>
            </a:extLst>
          </p:cNvPr>
          <p:cNvSpPr txBox="1"/>
          <p:nvPr/>
        </p:nvSpPr>
        <p:spPr>
          <a:xfrm>
            <a:off x="4925529" y="5903275"/>
            <a:ext cx="2952327" cy="369332"/>
          </a:xfrm>
          <a:prstGeom prst="rect">
            <a:avLst/>
          </a:prstGeom>
          <a:noFill/>
        </p:spPr>
        <p:txBody>
          <a:bodyPr wrap="square" rtlCol="0">
            <a:spAutoFit/>
          </a:bodyPr>
          <a:lstStyle/>
          <a:p>
            <a:r>
              <a:rPr lang="en-US" altLang="zh-CN" dirty="0"/>
              <a:t>CDP1-CDP5</a:t>
            </a:r>
            <a:r>
              <a:rPr lang="zh-CN" altLang="zh-CN" dirty="0"/>
              <a:t>的道集放大显示</a:t>
            </a:r>
            <a:endParaRPr lang="zh-CN" altLang="en-US" dirty="0"/>
          </a:p>
        </p:txBody>
      </p:sp>
    </p:spTree>
    <p:extLst>
      <p:ext uri="{BB962C8B-B14F-4D97-AF65-F5344CB8AC3E}">
        <p14:creationId xmlns:p14="http://schemas.microsoft.com/office/powerpoint/2010/main" val="30135665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30800">
        <p15:prstTrans prst="pageCurlDouble"/>
      </p:transition>
    </mc:Choice>
    <mc:Fallback xmlns="">
      <p:transition spd="slow" advClick="0" advTm="30800">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05</a:t>
            </a:r>
            <a:endParaRPr lang="zh-CN" altLang="en-US" dirty="0"/>
          </a:p>
        </p:txBody>
      </p:sp>
      <p:sp>
        <p:nvSpPr>
          <p:cNvPr id="4" name="文本占位符 3"/>
          <p:cNvSpPr>
            <a:spLocks noGrp="1"/>
          </p:cNvSpPr>
          <p:nvPr>
            <p:ph type="body" sz="quarter" idx="12"/>
          </p:nvPr>
        </p:nvSpPr>
        <p:spPr/>
        <p:txBody>
          <a:bodyPr/>
          <a:lstStyle/>
          <a:p>
            <a:r>
              <a:rPr lang="zh-CN" altLang="en-US" dirty="0"/>
              <a:t>结论与展望</a:t>
            </a:r>
          </a:p>
        </p:txBody>
      </p:sp>
    </p:spTree>
    <p:extLst>
      <p:ext uri="{BB962C8B-B14F-4D97-AF65-F5344CB8AC3E}">
        <p14:creationId xmlns:p14="http://schemas.microsoft.com/office/powerpoint/2010/main" val="16053458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4284">
        <p15:prstTrans prst="pageCurlDouble"/>
      </p:transition>
    </mc:Choice>
    <mc:Fallback xmlns="">
      <p:transition spd="slow" advTm="4284">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cs typeface="+mn-ea"/>
                <a:sym typeface="+mn-lt"/>
              </a:rPr>
              <a:t>结论与展望</a:t>
            </a:r>
          </a:p>
        </p:txBody>
      </p:sp>
      <p:sp>
        <p:nvSpPr>
          <p:cNvPr id="4" name="文本框 2">
            <a:extLst>
              <a:ext uri="{FF2B5EF4-FFF2-40B4-BE49-F238E27FC236}">
                <a16:creationId xmlns:a16="http://schemas.microsoft.com/office/drawing/2014/main" id="{414B0F7E-F346-4533-87EB-C25683272C6C}"/>
              </a:ext>
            </a:extLst>
          </p:cNvPr>
          <p:cNvSpPr txBox="1">
            <a:spLocks noChangeArrowheads="1"/>
          </p:cNvSpPr>
          <p:nvPr/>
        </p:nvSpPr>
        <p:spPr bwMode="auto">
          <a:xfrm>
            <a:off x="1244799" y="2104157"/>
            <a:ext cx="10513168"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defTabSz="457200"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1pPr>
            <a:lvl2pPr marL="457200" algn="l" defTabSz="457200"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2pPr>
            <a:lvl3pPr marL="914400" algn="l" defTabSz="457200"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3pPr>
            <a:lvl4pPr marL="1371600" algn="l" defTabSz="457200"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4pPr>
            <a:lvl5pPr marL="1828800" algn="l" defTabSz="457200"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9pPr>
          </a:lstStyle>
          <a:p>
            <a:pPr eaLnBrk="1" hangingPunct="1">
              <a:buFont typeface="Arial" panose="020B0604020202020204" pitchFamily="34" charset="0"/>
              <a:buNone/>
            </a:pPr>
            <a:endParaRPr lang="zh-CN" altLang="en-US" dirty="0">
              <a:solidFill>
                <a:srgbClr val="1C1C1C"/>
              </a:solidFill>
              <a:latin typeface="黑体" panose="02010609060101010101" pitchFamily="49" charset="-122"/>
              <a:ea typeface="黑体" panose="02010609060101010101" pitchFamily="49" charset="-122"/>
            </a:endParaRPr>
          </a:p>
          <a:p>
            <a:pPr eaLnBrk="1" hangingPunct="1">
              <a:buFont typeface="Arial" panose="020B0604020202020204" pitchFamily="34" charset="0"/>
              <a:buNone/>
            </a:pPr>
            <a:r>
              <a:rPr lang="zh-CN" altLang="en-US" dirty="0">
                <a:solidFill>
                  <a:srgbClr val="1C1C1C"/>
                </a:solidFill>
                <a:latin typeface="黑体" panose="02010609060101010101" pitchFamily="49" charset="-122"/>
                <a:ea typeface="黑体" panose="02010609060101010101" pitchFamily="49" charset="-122"/>
              </a:rPr>
              <a:t>使用稳健主成分分析算法对模型数据和实际数据进行测试时，线性同相轴、弯曲同相轴和实际数据中的异常值噪声都得到了压制，取得了良好效果。此外，相比于传统的</a:t>
            </a:r>
            <a:r>
              <a:rPr lang="en-US" altLang="zh-CN" dirty="0">
                <a:solidFill>
                  <a:srgbClr val="1C1C1C"/>
                </a:solidFill>
                <a:latin typeface="黑体" panose="02010609060101010101" pitchFamily="49" charset="-122"/>
                <a:ea typeface="黑体" panose="02010609060101010101" pitchFamily="49" charset="-122"/>
              </a:rPr>
              <a:t>F-XY</a:t>
            </a:r>
            <a:r>
              <a:rPr lang="zh-CN" altLang="en-US" dirty="0">
                <a:solidFill>
                  <a:srgbClr val="1C1C1C"/>
                </a:solidFill>
                <a:latin typeface="黑体" panose="02010609060101010101" pitchFamily="49" charset="-122"/>
                <a:ea typeface="黑体" panose="02010609060101010101" pitchFamily="49" charset="-122"/>
              </a:rPr>
              <a:t>预测滤波法，稳健主成分分析算法可以在有效压制异常值噪声和随机噪声的同时还能很好的保留有效信号。</a:t>
            </a:r>
            <a:endParaRPr lang="zh-CN" altLang="en-US" dirty="0">
              <a:solidFill>
                <a:srgbClr val="1C1C1C"/>
              </a:solidFill>
            </a:endParaRPr>
          </a:p>
          <a:p>
            <a:pPr eaLnBrk="1" hangingPunct="1">
              <a:buFont typeface="Arial" panose="020B0604020202020204" pitchFamily="34" charset="0"/>
              <a:buNone/>
            </a:pPr>
            <a:endParaRPr lang="zh-CN" altLang="en-US" dirty="0">
              <a:solidFill>
                <a:srgbClr val="1C1C1C"/>
              </a:solidFill>
            </a:endParaRPr>
          </a:p>
          <a:p>
            <a:pPr eaLnBrk="1" hangingPunct="1">
              <a:buFont typeface="Arial" panose="020B0604020202020204" pitchFamily="34" charset="0"/>
              <a:buNone/>
            </a:pPr>
            <a:endParaRPr lang="zh-CN" altLang="en-US" dirty="0">
              <a:solidFill>
                <a:srgbClr val="1C1C1C"/>
              </a:solidFill>
            </a:endParaRPr>
          </a:p>
          <a:p>
            <a:pPr eaLnBrk="1" hangingPunct="1">
              <a:buFont typeface="Arial" panose="020B0604020202020204" pitchFamily="34" charset="0"/>
              <a:buNone/>
            </a:pPr>
            <a:endParaRPr lang="zh-CN" altLang="en-US" dirty="0">
              <a:solidFill>
                <a:srgbClr val="1C1C1C"/>
              </a:solidFill>
            </a:endParaRPr>
          </a:p>
          <a:p>
            <a:pPr eaLnBrk="1" hangingPunct="1">
              <a:buFont typeface="Arial" panose="020B0604020202020204" pitchFamily="34" charset="0"/>
              <a:buNone/>
            </a:pPr>
            <a:r>
              <a:rPr lang="zh-CN" altLang="en-US" dirty="0">
                <a:solidFill>
                  <a:srgbClr val="1C1C1C"/>
                </a:solidFill>
              </a:rPr>
              <a:t>   </a:t>
            </a:r>
          </a:p>
          <a:p>
            <a:pPr eaLnBrk="1" hangingPunct="1">
              <a:buFont typeface="Arial" panose="020B0604020202020204" pitchFamily="34" charset="0"/>
              <a:buNone/>
            </a:pPr>
            <a:endParaRPr lang="zh-CN" altLang="en-US" dirty="0"/>
          </a:p>
        </p:txBody>
      </p:sp>
    </p:spTree>
    <p:extLst>
      <p:ext uri="{BB962C8B-B14F-4D97-AF65-F5344CB8AC3E}">
        <p14:creationId xmlns:p14="http://schemas.microsoft.com/office/powerpoint/2010/main" val="13863873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30800">
        <p15:prstTrans prst="pageCurlDouble"/>
      </p:transition>
    </mc:Choice>
    <mc:Fallback xmlns="">
      <p:transition spd="slow" advClick="0" advTm="30800">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cs typeface="+mn-ea"/>
                <a:sym typeface="+mn-lt"/>
              </a:rPr>
              <a:t>结论与展望</a:t>
            </a:r>
          </a:p>
        </p:txBody>
      </p:sp>
      <p:sp>
        <p:nvSpPr>
          <p:cNvPr id="4" name="文本框 2">
            <a:extLst>
              <a:ext uri="{FF2B5EF4-FFF2-40B4-BE49-F238E27FC236}">
                <a16:creationId xmlns:a16="http://schemas.microsoft.com/office/drawing/2014/main" id="{414B0F7E-F346-4533-87EB-C25683272C6C}"/>
              </a:ext>
            </a:extLst>
          </p:cNvPr>
          <p:cNvSpPr txBox="1">
            <a:spLocks noChangeArrowheads="1"/>
          </p:cNvSpPr>
          <p:nvPr/>
        </p:nvSpPr>
        <p:spPr bwMode="auto">
          <a:xfrm>
            <a:off x="884759" y="1744117"/>
            <a:ext cx="1080120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defTabSz="457200"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1pPr>
            <a:lvl2pPr marL="457200" algn="l" defTabSz="457200"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2pPr>
            <a:lvl3pPr marL="914400" algn="l" defTabSz="457200"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3pPr>
            <a:lvl4pPr marL="1371600" algn="l" defTabSz="457200"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4pPr>
            <a:lvl5pPr marL="1828800" algn="l" defTabSz="457200"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9pPr>
          </a:lstStyle>
          <a:p>
            <a:pPr eaLnBrk="1" hangingPunct="1">
              <a:buFont typeface="Arial" panose="020B0604020202020204" pitchFamily="34" charset="0"/>
              <a:buNone/>
            </a:pPr>
            <a:r>
              <a:rPr lang="zh-CN" altLang="en-US" dirty="0">
                <a:solidFill>
                  <a:srgbClr val="1C1C1C"/>
                </a:solidFill>
                <a:latin typeface="黑体" panose="02010609060101010101" pitchFamily="49" charset="-122"/>
                <a:ea typeface="黑体" panose="02010609060101010101" pitchFamily="49" charset="-122"/>
              </a:rPr>
              <a:t>该算法仍存在如下有待研究和改进的地方：</a:t>
            </a:r>
            <a:endParaRPr lang="en-US" altLang="zh-CN" dirty="0">
              <a:solidFill>
                <a:srgbClr val="1C1C1C"/>
              </a:solidFill>
              <a:latin typeface="黑体" panose="02010609060101010101" pitchFamily="49" charset="-122"/>
              <a:ea typeface="黑体" panose="02010609060101010101" pitchFamily="49" charset="-122"/>
            </a:endParaRPr>
          </a:p>
          <a:p>
            <a:pPr eaLnBrk="1" hangingPunct="1">
              <a:buFont typeface="Arial" panose="020B0604020202020204" pitchFamily="34" charset="0"/>
              <a:buNone/>
            </a:pPr>
            <a:endParaRPr lang="zh-CN" altLang="en-US" dirty="0">
              <a:solidFill>
                <a:srgbClr val="1C1C1C"/>
              </a:solidFill>
              <a:latin typeface="黑体" panose="02010609060101010101" pitchFamily="49" charset="-122"/>
              <a:ea typeface="黑体" panose="02010609060101010101" pitchFamily="49" charset="-122"/>
            </a:endParaRPr>
          </a:p>
          <a:p>
            <a:pPr eaLnBrk="1" hangingPunct="1">
              <a:buFont typeface="Arial" panose="020B0604020202020204" pitchFamily="34" charset="0"/>
              <a:buNone/>
            </a:pPr>
            <a:r>
              <a:rPr lang="zh-CN" altLang="en-US" dirty="0">
                <a:solidFill>
                  <a:srgbClr val="1C1C1C"/>
                </a:solidFill>
                <a:latin typeface="黑体" panose="02010609060101010101" pitchFamily="49" charset="-122"/>
                <a:ea typeface="黑体" panose="02010609060101010101" pitchFamily="49" charset="-122"/>
              </a:rPr>
              <a:t>（</a:t>
            </a:r>
            <a:r>
              <a:rPr lang="en-US" altLang="zh-CN" dirty="0">
                <a:solidFill>
                  <a:srgbClr val="1C1C1C"/>
                </a:solidFill>
                <a:latin typeface="黑体" panose="02010609060101010101" pitchFamily="49" charset="-122"/>
                <a:ea typeface="黑体" panose="02010609060101010101" pitchFamily="49" charset="-122"/>
              </a:rPr>
              <a:t>1</a:t>
            </a:r>
            <a:r>
              <a:rPr lang="zh-CN" altLang="en-US" dirty="0">
                <a:solidFill>
                  <a:srgbClr val="1C1C1C"/>
                </a:solidFill>
                <a:latin typeface="黑体" panose="02010609060101010101" pitchFamily="49" charset="-122"/>
                <a:ea typeface="黑体" panose="02010609060101010101" pitchFamily="49" charset="-122"/>
              </a:rPr>
              <a:t>）该算法的计算时间相对较长。为了达到更理想的效果，需要不断测试增大最大迭代次数，而当最大迭代次数较大时，稳健主成分分析算法的计算时间比传统的</a:t>
            </a:r>
            <a:r>
              <a:rPr lang="en-US" altLang="zh-CN" dirty="0">
                <a:solidFill>
                  <a:srgbClr val="1C1C1C"/>
                </a:solidFill>
                <a:latin typeface="黑体" panose="02010609060101010101" pitchFamily="49" charset="-122"/>
                <a:ea typeface="黑体" panose="02010609060101010101" pitchFamily="49" charset="-122"/>
              </a:rPr>
              <a:t>F-XY</a:t>
            </a:r>
            <a:r>
              <a:rPr lang="zh-CN" altLang="en-US" dirty="0">
                <a:solidFill>
                  <a:srgbClr val="1C1C1C"/>
                </a:solidFill>
                <a:latin typeface="黑体" panose="02010609060101010101" pitchFamily="49" charset="-122"/>
                <a:ea typeface="黑体" panose="02010609060101010101" pitchFamily="49" charset="-122"/>
              </a:rPr>
              <a:t>预测滤波法的计算时间长。</a:t>
            </a:r>
          </a:p>
          <a:p>
            <a:pPr eaLnBrk="1" hangingPunct="1">
              <a:buFont typeface="Arial" panose="020B0604020202020204" pitchFamily="34" charset="0"/>
              <a:buNone/>
            </a:pPr>
            <a:endParaRPr lang="en-US" altLang="zh-CN" dirty="0">
              <a:solidFill>
                <a:srgbClr val="1C1C1C"/>
              </a:solidFill>
              <a:latin typeface="黑体" panose="02010609060101010101" pitchFamily="49" charset="-122"/>
              <a:ea typeface="黑体" panose="02010609060101010101" pitchFamily="49" charset="-122"/>
            </a:endParaRPr>
          </a:p>
          <a:p>
            <a:pPr eaLnBrk="1" hangingPunct="1">
              <a:buFont typeface="Arial" panose="020B0604020202020204" pitchFamily="34" charset="0"/>
              <a:buNone/>
            </a:pPr>
            <a:r>
              <a:rPr lang="zh-CN" altLang="en-US" dirty="0">
                <a:solidFill>
                  <a:srgbClr val="1C1C1C"/>
                </a:solidFill>
                <a:latin typeface="黑体" panose="02010609060101010101" pitchFamily="49" charset="-122"/>
                <a:ea typeface="黑体" panose="02010609060101010101" pitchFamily="49" charset="-122"/>
              </a:rPr>
              <a:t>（</a:t>
            </a:r>
            <a:r>
              <a:rPr lang="en-US" altLang="zh-CN" dirty="0">
                <a:solidFill>
                  <a:srgbClr val="1C1C1C"/>
                </a:solidFill>
                <a:latin typeface="黑体" panose="02010609060101010101" pitchFamily="49" charset="-122"/>
                <a:ea typeface="黑体" panose="02010609060101010101" pitchFamily="49" charset="-122"/>
              </a:rPr>
              <a:t>2</a:t>
            </a:r>
            <a:r>
              <a:rPr lang="zh-CN" altLang="en-US" dirty="0">
                <a:solidFill>
                  <a:srgbClr val="1C1C1C"/>
                </a:solidFill>
                <a:latin typeface="黑体" panose="02010609060101010101" pitchFamily="49" charset="-122"/>
                <a:ea typeface="黑体" panose="02010609060101010101" pitchFamily="49" charset="-122"/>
              </a:rPr>
              <a:t>）该算法对随机噪声的压制效果不是很理想，由于目标函数中假设噪声数据是稀疏的，所以稀疏的异常值噪声可以得到有效的压制，而随机噪声的压制效果不是很理想，需要继续改进方法的数学模型。</a:t>
            </a:r>
          </a:p>
          <a:p>
            <a:pPr eaLnBrk="1" hangingPunct="1">
              <a:buFont typeface="Arial" panose="020B0604020202020204" pitchFamily="34" charset="0"/>
              <a:buNone/>
            </a:pPr>
            <a:endParaRPr lang="en-US" altLang="zh-CN" dirty="0">
              <a:solidFill>
                <a:srgbClr val="1C1C1C"/>
              </a:solidFill>
              <a:latin typeface="黑体" panose="02010609060101010101" pitchFamily="49" charset="-122"/>
              <a:ea typeface="黑体" panose="02010609060101010101" pitchFamily="49" charset="-122"/>
            </a:endParaRPr>
          </a:p>
          <a:p>
            <a:pPr eaLnBrk="1" hangingPunct="1">
              <a:buFont typeface="Arial" panose="020B0604020202020204" pitchFamily="34" charset="0"/>
              <a:buNone/>
            </a:pPr>
            <a:r>
              <a:rPr lang="zh-CN" altLang="en-US" dirty="0">
                <a:solidFill>
                  <a:srgbClr val="1C1C1C"/>
                </a:solidFill>
                <a:latin typeface="黑体" panose="02010609060101010101" pitchFamily="49" charset="-122"/>
                <a:ea typeface="黑体" panose="02010609060101010101" pitchFamily="49" charset="-122"/>
              </a:rPr>
              <a:t>（</a:t>
            </a:r>
            <a:r>
              <a:rPr lang="en-US" altLang="zh-CN" dirty="0">
                <a:solidFill>
                  <a:srgbClr val="1C1C1C"/>
                </a:solidFill>
                <a:latin typeface="黑体" panose="02010609060101010101" pitchFamily="49" charset="-122"/>
                <a:ea typeface="黑体" panose="02010609060101010101" pitchFamily="49" charset="-122"/>
              </a:rPr>
              <a:t>3</a:t>
            </a:r>
            <a:r>
              <a:rPr lang="zh-CN" altLang="en-US" dirty="0">
                <a:solidFill>
                  <a:srgbClr val="1C1C1C"/>
                </a:solidFill>
                <a:latin typeface="黑体" panose="02010609060101010101" pitchFamily="49" charset="-122"/>
                <a:ea typeface="黑体" panose="02010609060101010101" pitchFamily="49" charset="-122"/>
              </a:rPr>
              <a:t>）</a:t>
            </a:r>
            <a:r>
              <a:rPr lang="en-US" altLang="zh-CN" dirty="0">
                <a:solidFill>
                  <a:srgbClr val="1C1C1C"/>
                </a:solidFill>
                <a:latin typeface="黑体" panose="02010609060101010101" pitchFamily="49" charset="-122"/>
                <a:ea typeface="黑体" panose="02010609060101010101" pitchFamily="49" charset="-122"/>
              </a:rPr>
              <a:t>RPCA</a:t>
            </a:r>
            <a:r>
              <a:rPr lang="zh-CN" altLang="en-US" dirty="0">
                <a:solidFill>
                  <a:srgbClr val="1C1C1C"/>
                </a:solidFill>
                <a:latin typeface="黑体" panose="02010609060101010101" pitchFamily="49" charset="-122"/>
                <a:ea typeface="黑体" panose="02010609060101010101" pitchFamily="49" charset="-122"/>
              </a:rPr>
              <a:t>算法中调优参数</a:t>
            </a:r>
            <a:r>
              <a:rPr lang="en-US" altLang="zh-CN" dirty="0">
                <a:solidFill>
                  <a:srgbClr val="1C1C1C"/>
                </a:solidFill>
                <a:latin typeface="黑体" panose="02010609060101010101" pitchFamily="49" charset="-122"/>
                <a:ea typeface="黑体" panose="02010609060101010101" pitchFamily="49" charset="-122"/>
              </a:rPr>
              <a:t>μ</a:t>
            </a:r>
            <a:r>
              <a:rPr lang="zh-CN" altLang="en-US" dirty="0">
                <a:solidFill>
                  <a:srgbClr val="1C1C1C"/>
                </a:solidFill>
                <a:latin typeface="黑体" panose="02010609060101010101" pitchFamily="49" charset="-122"/>
                <a:ea typeface="黑体" panose="02010609060101010101" pitchFamily="49" charset="-122"/>
              </a:rPr>
              <a:t>的计算公式有待改进，该公式不适用于所有数据体，本次模型数据</a:t>
            </a:r>
            <a:r>
              <a:rPr lang="en-US" altLang="zh-CN" dirty="0">
                <a:solidFill>
                  <a:srgbClr val="1C1C1C"/>
                </a:solidFill>
                <a:latin typeface="黑体" panose="02010609060101010101" pitchFamily="49" charset="-122"/>
                <a:ea typeface="黑体" panose="02010609060101010101" pitchFamily="49" charset="-122"/>
              </a:rPr>
              <a:t>μ</a:t>
            </a:r>
            <a:r>
              <a:rPr lang="zh-CN" altLang="en-US" dirty="0">
                <a:solidFill>
                  <a:srgbClr val="1C1C1C"/>
                </a:solidFill>
                <a:latin typeface="黑体" panose="02010609060101010101" pitchFamily="49" charset="-122"/>
                <a:ea typeface="黑体" panose="02010609060101010101" pitchFamily="49" charset="-122"/>
              </a:rPr>
              <a:t>的取值按照公式计算，实际数据</a:t>
            </a:r>
            <a:r>
              <a:rPr lang="en-US" altLang="zh-CN" dirty="0">
                <a:solidFill>
                  <a:srgbClr val="1C1C1C"/>
                </a:solidFill>
                <a:latin typeface="黑体" panose="02010609060101010101" pitchFamily="49" charset="-122"/>
                <a:ea typeface="黑体" panose="02010609060101010101" pitchFamily="49" charset="-122"/>
              </a:rPr>
              <a:t>μ</a:t>
            </a:r>
            <a:r>
              <a:rPr lang="zh-CN" altLang="en-US" dirty="0">
                <a:solidFill>
                  <a:srgbClr val="1C1C1C"/>
                </a:solidFill>
                <a:latin typeface="黑体" panose="02010609060101010101" pitchFamily="49" charset="-122"/>
                <a:ea typeface="黑体" panose="02010609060101010101" pitchFamily="49" charset="-122"/>
              </a:rPr>
              <a:t>的取值为人工</a:t>
            </a:r>
            <a:r>
              <a:rPr lang="zh-CN" altLang="en-US" dirty="0">
                <a:latin typeface="黑体" panose="02010609060101010101" pitchFamily="49" charset="-122"/>
                <a:ea typeface="黑体" panose="02010609060101010101" pitchFamily="49" charset="-122"/>
              </a:rPr>
              <a:t>经验</a:t>
            </a:r>
            <a:r>
              <a:rPr lang="zh-CN" altLang="en-US" dirty="0">
                <a:solidFill>
                  <a:srgbClr val="1C1C1C"/>
                </a:solidFill>
                <a:latin typeface="黑体" panose="02010609060101010101" pitchFamily="49" charset="-122"/>
                <a:ea typeface="黑体" panose="02010609060101010101" pitchFamily="49" charset="-122"/>
              </a:rPr>
              <a:t>调试。</a:t>
            </a:r>
            <a:endParaRPr lang="zh-CN" altLang="en-US" dirty="0">
              <a:solidFill>
                <a:srgbClr val="1C1C1C"/>
              </a:solidFill>
            </a:endParaRPr>
          </a:p>
        </p:txBody>
      </p:sp>
    </p:spTree>
    <p:extLst>
      <p:ext uri="{BB962C8B-B14F-4D97-AF65-F5344CB8AC3E}">
        <p14:creationId xmlns:p14="http://schemas.microsoft.com/office/powerpoint/2010/main" val="24289101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30800">
        <p15:prstTrans prst="pageCurlDouble"/>
      </p:transition>
    </mc:Choice>
    <mc:Fallback xmlns="">
      <p:transition spd="slow" advClick="0" advTm="30800">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cs typeface="+mn-ea"/>
                <a:sym typeface="+mn-lt"/>
              </a:rPr>
              <a:t>致谢</a:t>
            </a:r>
          </a:p>
        </p:txBody>
      </p:sp>
      <p:sp>
        <p:nvSpPr>
          <p:cNvPr id="33" name="Text Box 3">
            <a:extLst>
              <a:ext uri="{FF2B5EF4-FFF2-40B4-BE49-F238E27FC236}">
                <a16:creationId xmlns:a16="http://schemas.microsoft.com/office/drawing/2014/main" id="{8A14D6FA-E2D0-40BC-A922-D7B84988F3F3}"/>
              </a:ext>
            </a:extLst>
          </p:cNvPr>
          <p:cNvSpPr txBox="1">
            <a:spLocks noChangeArrowheads="1"/>
          </p:cNvSpPr>
          <p:nvPr/>
        </p:nvSpPr>
        <p:spPr bwMode="auto">
          <a:xfrm>
            <a:off x="3477047" y="2968253"/>
            <a:ext cx="5794375" cy="216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defTabSz="457200"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1pPr>
            <a:lvl2pPr marL="457200" algn="l" defTabSz="457200"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2pPr>
            <a:lvl3pPr marL="914400" algn="l" defTabSz="457200"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3pPr>
            <a:lvl4pPr marL="1371600" algn="l" defTabSz="457200"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4pPr>
            <a:lvl5pPr marL="1828800" algn="l" defTabSz="457200"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9pPr>
          </a:lstStyle>
          <a:p>
            <a:pPr algn="ctr" defTabSz="914400" eaLnBrk="1" hangingPunct="1">
              <a:spcBef>
                <a:spcPct val="50000"/>
              </a:spcBef>
              <a:buFont typeface="Arial" panose="020B0604020202020204" pitchFamily="34" charset="0"/>
              <a:buNone/>
            </a:pPr>
            <a:r>
              <a:rPr lang="zh-CN" altLang="en-US" sz="5400" dirty="0">
                <a:solidFill>
                  <a:srgbClr val="FF0000"/>
                </a:solidFill>
                <a:latin typeface="Verdana" panose="020B0604030504040204" pitchFamily="34" charset="0"/>
                <a:ea typeface="黑体" panose="02010609060101010101" pitchFamily="49" charset="-122"/>
              </a:rPr>
              <a:t> 报告完毕</a:t>
            </a:r>
          </a:p>
          <a:p>
            <a:pPr algn="ctr" defTabSz="914400" eaLnBrk="1" hangingPunct="1">
              <a:spcBef>
                <a:spcPct val="50000"/>
              </a:spcBef>
              <a:buFont typeface="Arial" panose="020B0604020202020204" pitchFamily="34" charset="0"/>
              <a:buNone/>
            </a:pPr>
            <a:r>
              <a:rPr lang="zh-CN" altLang="en-US" sz="5400" dirty="0">
                <a:solidFill>
                  <a:srgbClr val="FF0000"/>
                </a:solidFill>
                <a:latin typeface="Verdana" panose="020B0604030504040204" pitchFamily="34" charset="0"/>
                <a:ea typeface="黑体" panose="02010609060101010101" pitchFamily="49" charset="-122"/>
              </a:rPr>
              <a:t>请各位老师指正</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Click="0" advTm="7503">
        <p15:prstTrans prst="pageCurlDouble"/>
      </p:transition>
    </mc:Choice>
    <mc:Fallback xmlns="">
      <p:transition spd="slow" advClick="0" advTm="7503">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4"/>
</p:tagLst>
</file>

<file path=ppt/tags/tag2.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4"/>
</p:tagLst>
</file>

<file path=ppt/tags/tag3.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3"/>
</p:tagLst>
</file>

<file path=ppt/tags/tag4.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2"/>
</p:tagLst>
</file>

<file path=ppt/tags/tag5.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1"/>
</p:tagLst>
</file>

<file path=ppt/theme/theme1.xml><?xml version="1.0" encoding="utf-8"?>
<a:theme xmlns:a="http://schemas.openxmlformats.org/drawingml/2006/main" name="自定义设计方案">
  <a:themeElements>
    <a:clrScheme name="自定义 5">
      <a:dk1>
        <a:sysClr val="windowText" lastClr="000000"/>
      </a:dk1>
      <a:lt1>
        <a:sysClr val="window" lastClr="FFFFFF"/>
      </a:lt1>
      <a:dk2>
        <a:srgbClr val="44546A"/>
      </a:dk2>
      <a:lt2>
        <a:srgbClr val="E7E6E6"/>
      </a:lt2>
      <a:accent1>
        <a:srgbClr val="0070C0"/>
      </a:accent1>
      <a:accent2>
        <a:srgbClr val="00B0F0"/>
      </a:accent2>
      <a:accent3>
        <a:srgbClr val="0070C0"/>
      </a:accent3>
      <a:accent4>
        <a:srgbClr val="00B0F0"/>
      </a:accent4>
      <a:accent5>
        <a:srgbClr val="0070C0"/>
      </a:accent5>
      <a:accent6>
        <a:srgbClr val="00B0F0"/>
      </a:accent6>
      <a:hlink>
        <a:srgbClr val="0070C0"/>
      </a:hlink>
      <a:folHlink>
        <a:srgbClr val="00B0F0"/>
      </a:folHlink>
    </a:clrScheme>
    <a:fontScheme name="自定义 3">
      <a:majorFont>
        <a:latin typeface="微软雅黑"/>
        <a:ea typeface="微软雅黑"/>
        <a:cs typeface=""/>
      </a:majorFont>
      <a:minorFont>
        <a:latin typeface="Impact"/>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747</Words>
  <Application>Microsoft Office PowerPoint</Application>
  <PresentationFormat>自定义</PresentationFormat>
  <Paragraphs>129</Paragraphs>
  <Slides>30</Slides>
  <Notes>30</Notes>
  <HiddenSlides>0</HiddenSlides>
  <MMClips>1</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30</vt:i4>
      </vt:variant>
    </vt:vector>
  </HeadingPairs>
  <TitlesOfParts>
    <vt:vector size="39" baseType="lpstr">
      <vt:lpstr>黑体</vt:lpstr>
      <vt:lpstr>微软雅黑</vt:lpstr>
      <vt:lpstr>Arial</vt:lpstr>
      <vt:lpstr>Calibri</vt:lpstr>
      <vt:lpstr>Cambria Math</vt:lpstr>
      <vt:lpstr>Impact</vt:lpstr>
      <vt:lpstr>Verdana</vt:lpstr>
      <vt:lpstr>Wingdings</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bt097</dc:title>
  <dc:creator/>
  <cp:lastModifiedBy/>
  <cp:revision>3</cp:revision>
  <dcterms:created xsi:type="dcterms:W3CDTF">2016-11-12T16:40:00Z</dcterms:created>
  <dcterms:modified xsi:type="dcterms:W3CDTF">2020-05-30T02:09:21Z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2052-10.1.0.6490</vt:lpwstr>
  </property>
</Properties>
</file>